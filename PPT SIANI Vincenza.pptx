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83" r:id="rId11"/>
    <p:sldId id="284" r:id="rId12"/>
    <p:sldId id="264" r:id="rId13"/>
    <p:sldId id="265" r:id="rId14"/>
    <p:sldId id="266" r:id="rId15"/>
    <p:sldId id="267" r:id="rId16"/>
    <p:sldId id="268" r:id="rId17"/>
    <p:sldId id="270" r:id="rId18"/>
    <p:sldId id="271" r:id="rId19"/>
    <p:sldId id="272" r:id="rId20"/>
    <p:sldId id="273" r:id="rId21"/>
    <p:sldId id="274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18288000" cy="10287000"/>
  <p:notesSz cx="6858000" cy="9144000"/>
  <p:embeddedFontLst>
    <p:embeddedFont>
      <p:font typeface="Cambria Math" panose="02040503050406030204" pitchFamily="18" charset="0"/>
      <p:regular r:id="rId30"/>
    </p:embeddedFont>
    <p:embeddedFont>
      <p:font typeface="Open Sans" panose="020B0606030504020204" pitchFamily="34" charset="0"/>
      <p:regular r:id="rId31"/>
      <p:bold r:id="rId32"/>
      <p:italic r:id="rId33"/>
      <p:boldItalic r:id="rId34"/>
    </p:embeddedFont>
    <p:embeddedFont>
      <p:font typeface="Open Sans Bold" panose="020B0806030504020204" pitchFamily="34" charset="0"/>
      <p:regular r:id="rId35"/>
      <p:bold r:id="rId36"/>
    </p:embeddedFont>
    <p:embeddedFont>
      <p:font typeface="Playfair Display" panose="00000500000000000000" pitchFamily="2" charset="0"/>
      <p:regular r:id="rId37"/>
      <p:bold r:id="rId38"/>
      <p:italic r:id="rId39"/>
      <p:boldItalic r:id="rId40"/>
    </p:embeddedFont>
    <p:embeddedFont>
      <p:font typeface="Playfair Display Bold" panose="00000800000000000000" pitchFamily="2" charset="0"/>
      <p:regular r:id="rId41"/>
      <p:bold r:id="rId42"/>
    </p:embeddedFont>
    <p:embeddedFont>
      <p:font typeface="Playfair Display Italics" panose="020B0604020202020204" charset="0"/>
      <p:regular r:id="rId43"/>
    </p:embeddedFont>
    <p:embeddedFont>
      <p:font typeface="Playfair Display Semi-Bold" panose="020B0604020202020204" charset="0"/>
      <p:regular r:id="rId44"/>
    </p:embeddedFont>
    <p:embeddedFont>
      <p:font typeface="Poppins Bold" panose="00000800000000000000" pitchFamily="2" charset="0"/>
      <p:regular r:id="rId45"/>
      <p:bold r:id="rId46"/>
    </p:embeddedFont>
    <p:embeddedFont>
      <p:font typeface="Telegraf Ultra-Bold" panose="020B0604020202020204" charset="0"/>
      <p:regular r:id="rId4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E9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2ED9D5-11C0-E4A0-2D0E-04FB8794C687}" v="37" dt="2026-07-19T20:37:56.852"/>
    <p1510:client id="{D5175555-DAB1-8B04-34AA-E4F6A9A72B67}" v="3" dt="2026-07-19T21:05:57.728"/>
    <p1510:client id="{EB77C751-D3CE-C697-CD44-66ECF5F50859}" v="7" dt="2026-07-19T20:20:06.141"/>
    <p1510:client id="{F22D5554-6EBB-15C8-BA39-49EF6516FEF3}" v="65" dt="2026-07-19T20:26:46.294"/>
    <p1510:client id="{F28056C6-685B-C30C-A537-5243652D8B1E}" v="20" dt="2026-07-19T20:54:08.8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Stile chi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10.fntdata"/><Relationship Id="rId21" Type="http://schemas.openxmlformats.org/officeDocument/2006/relationships/slide" Target="slides/slide17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47" Type="http://schemas.openxmlformats.org/officeDocument/2006/relationships/font" Target="fonts/font18.fntdata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font" Target="fonts/font16.fntdata"/><Relationship Id="rId53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2.fntdata"/><Relationship Id="rId44" Type="http://schemas.openxmlformats.org/officeDocument/2006/relationships/font" Target="fonts/font15.fntdata"/><Relationship Id="rId52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font" Target="fonts/font17.fntdata"/><Relationship Id="rId20" Type="http://schemas.openxmlformats.org/officeDocument/2006/relationships/slide" Target="slides/slide16.xml"/><Relationship Id="rId41" Type="http://schemas.openxmlformats.org/officeDocument/2006/relationships/font" Target="fonts/font12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7.fntdata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CENZA SIANI" userId="S::vi.siani@studenti.unina.it::f8162f21-1769-456b-9efd-a44fd93d18f0" providerId="AD" clId="Web-{F22D5554-6EBB-15C8-BA39-49EF6516FEF3}"/>
    <pc:docChg chg="modSld">
      <pc:chgData name="VINCENZA SIANI" userId="S::vi.siani@studenti.unina.it::f8162f21-1769-456b-9efd-a44fd93d18f0" providerId="AD" clId="Web-{F22D5554-6EBB-15C8-BA39-49EF6516FEF3}" dt="2026-07-19T20:26:46.294" v="32" actId="20577"/>
      <pc:docMkLst>
        <pc:docMk/>
      </pc:docMkLst>
      <pc:sldChg chg="modSp">
        <pc:chgData name="VINCENZA SIANI" userId="S::vi.siani@studenti.unina.it::f8162f21-1769-456b-9efd-a44fd93d18f0" providerId="AD" clId="Web-{F22D5554-6EBB-15C8-BA39-49EF6516FEF3}" dt="2026-07-19T20:26:46.294" v="32" actId="20577"/>
        <pc:sldMkLst>
          <pc:docMk/>
          <pc:sldMk cId="2385713507" sldId="284"/>
        </pc:sldMkLst>
        <pc:spChg chg="mod">
          <ac:chgData name="VINCENZA SIANI" userId="S::vi.siani@studenti.unina.it::f8162f21-1769-456b-9efd-a44fd93d18f0" providerId="AD" clId="Web-{F22D5554-6EBB-15C8-BA39-49EF6516FEF3}" dt="2026-07-19T20:26:46.294" v="32" actId="20577"/>
          <ac:spMkLst>
            <pc:docMk/>
            <pc:sldMk cId="2385713507" sldId="284"/>
            <ac:spMk id="16" creationId="{8C7F78C2-AAD6-815C-80B3-108F17EFD76B}"/>
          </ac:spMkLst>
        </pc:spChg>
      </pc:sldChg>
    </pc:docChg>
  </pc:docChgLst>
  <pc:docChgLst>
    <pc:chgData name="VINCENZA SIANI" userId="S::vi.siani@studenti.unina.it::f8162f21-1769-456b-9efd-a44fd93d18f0" providerId="AD" clId="Web-{EB77C751-D3CE-C697-CD44-66ECF5F50859}"/>
    <pc:docChg chg="modSld">
      <pc:chgData name="VINCENZA SIANI" userId="S::vi.siani@studenti.unina.it::f8162f21-1769-456b-9efd-a44fd93d18f0" providerId="AD" clId="Web-{EB77C751-D3CE-C697-CD44-66ECF5F50859}" dt="2026-07-19T20:20:06.141" v="6" actId="14100"/>
      <pc:docMkLst>
        <pc:docMk/>
      </pc:docMkLst>
      <pc:sldChg chg="addSp delSp modSp">
        <pc:chgData name="VINCENZA SIANI" userId="S::vi.siani@studenti.unina.it::f8162f21-1769-456b-9efd-a44fd93d18f0" providerId="AD" clId="Web-{EB77C751-D3CE-C697-CD44-66ECF5F50859}" dt="2026-07-19T20:20:06.141" v="6" actId="14100"/>
        <pc:sldMkLst>
          <pc:docMk/>
          <pc:sldMk cId="0" sldId="264"/>
        </pc:sldMkLst>
        <pc:cxnChg chg="add mod">
          <ac:chgData name="VINCENZA SIANI" userId="S::vi.siani@studenti.unina.it::f8162f21-1769-456b-9efd-a44fd93d18f0" providerId="AD" clId="Web-{EB77C751-D3CE-C697-CD44-66ECF5F50859}" dt="2026-07-19T20:20:06.141" v="6" actId="14100"/>
          <ac:cxnSpMkLst>
            <pc:docMk/>
            <pc:sldMk cId="0" sldId="264"/>
            <ac:cxnSpMk id="7" creationId="{4D903E10-AB7C-9E57-645E-2B9AA718569A}"/>
          </ac:cxnSpMkLst>
        </pc:cxnChg>
        <pc:cxnChg chg="del mod">
          <ac:chgData name="VINCENZA SIANI" userId="S::vi.siani@studenti.unina.it::f8162f21-1769-456b-9efd-a44fd93d18f0" providerId="AD" clId="Web-{EB77C751-D3CE-C697-CD44-66ECF5F50859}" dt="2026-07-19T20:19:32.468" v="3"/>
          <ac:cxnSpMkLst>
            <pc:docMk/>
            <pc:sldMk cId="0" sldId="264"/>
            <ac:cxnSpMk id="108" creationId="{AB994DF4-6653-CF5E-F60F-F0D617525398}"/>
          </ac:cxnSpMkLst>
        </pc:cxnChg>
      </pc:sldChg>
    </pc:docChg>
  </pc:docChgLst>
  <pc:docChgLst>
    <pc:chgData name="VINCENZA SIANI" userId="S::vi.siani@studenti.unina.it::f8162f21-1769-456b-9efd-a44fd93d18f0" providerId="AD" clId="Web-{D5175555-DAB1-8B04-34AA-E4F6A9A72B67}"/>
    <pc:docChg chg="modSld">
      <pc:chgData name="VINCENZA SIANI" userId="S::vi.siani@studenti.unina.it::f8162f21-1769-456b-9efd-a44fd93d18f0" providerId="AD" clId="Web-{D5175555-DAB1-8B04-34AA-E4F6A9A72B67}" dt="2026-07-19T21:05:57.728" v="2" actId="1076"/>
      <pc:docMkLst>
        <pc:docMk/>
      </pc:docMkLst>
      <pc:sldChg chg="addSp delSp modSp delAnim">
        <pc:chgData name="VINCENZA SIANI" userId="S::vi.siani@studenti.unina.it::f8162f21-1769-456b-9efd-a44fd93d18f0" providerId="AD" clId="Web-{D5175555-DAB1-8B04-34AA-E4F6A9A72B67}" dt="2026-07-19T21:05:57.728" v="2" actId="1076"/>
        <pc:sldMkLst>
          <pc:docMk/>
          <pc:sldMk cId="0" sldId="273"/>
        </pc:sldMkLst>
        <pc:spChg chg="del">
          <ac:chgData name="VINCENZA SIANI" userId="S::vi.siani@studenti.unina.it::f8162f21-1769-456b-9efd-a44fd93d18f0" providerId="AD" clId="Web-{D5175555-DAB1-8B04-34AA-E4F6A9A72B67}" dt="2026-07-19T21:05:54.634" v="1"/>
          <ac:spMkLst>
            <pc:docMk/>
            <pc:sldMk cId="0" sldId="273"/>
            <ac:spMk id="18" creationId="{EB823E32-5A5E-34A1-7466-61D2A54DFE45}"/>
          </ac:spMkLst>
        </pc:spChg>
        <pc:picChg chg="add mod">
          <ac:chgData name="VINCENZA SIANI" userId="S::vi.siani@studenti.unina.it::f8162f21-1769-456b-9efd-a44fd93d18f0" providerId="AD" clId="Web-{D5175555-DAB1-8B04-34AA-E4F6A9A72B67}" dt="2026-07-19T21:05:57.728" v="2" actId="1076"/>
          <ac:picMkLst>
            <pc:docMk/>
            <pc:sldMk cId="0" sldId="273"/>
            <ac:picMk id="11" creationId="{49B2C7EB-9C5A-00AA-1A38-01AF0CECC493}"/>
          </ac:picMkLst>
        </pc:picChg>
      </pc:sldChg>
    </pc:docChg>
  </pc:docChgLst>
  <pc:docChgLst>
    <pc:chgData name="VINCENZA SIANI" userId="S::vi.siani@studenti.unina.it::f8162f21-1769-456b-9efd-a44fd93d18f0" providerId="AD" clId="Web-{F28056C6-685B-C30C-A537-5243652D8B1E}"/>
    <pc:docChg chg="modSld">
      <pc:chgData name="VINCENZA SIANI" userId="S::vi.siani@studenti.unina.it::f8162f21-1769-456b-9efd-a44fd93d18f0" providerId="AD" clId="Web-{F28056C6-685B-C30C-A537-5243652D8B1E}" dt="2026-07-19T20:54:08.866" v="16"/>
      <pc:docMkLst>
        <pc:docMk/>
      </pc:docMkLst>
      <pc:sldChg chg="addSp delSp modSp addAnim delAnim">
        <pc:chgData name="VINCENZA SIANI" userId="S::vi.siani@studenti.unina.it::f8162f21-1769-456b-9efd-a44fd93d18f0" providerId="AD" clId="Web-{F28056C6-685B-C30C-A537-5243652D8B1E}" dt="2026-07-19T20:54:08.866" v="16"/>
        <pc:sldMkLst>
          <pc:docMk/>
          <pc:sldMk cId="0" sldId="273"/>
        </pc:sldMkLst>
        <pc:spChg chg="mod">
          <ac:chgData name="VINCENZA SIANI" userId="S::vi.siani@studenti.unina.it::f8162f21-1769-456b-9efd-a44fd93d18f0" providerId="AD" clId="Web-{F28056C6-685B-C30C-A537-5243652D8B1E}" dt="2026-07-19T20:52:22.500" v="1" actId="1076"/>
          <ac:spMkLst>
            <pc:docMk/>
            <pc:sldMk cId="0" sldId="273"/>
            <ac:spMk id="12" creationId="{00000000-0000-0000-0000-000000000000}"/>
          </ac:spMkLst>
        </pc:spChg>
        <pc:spChg chg="mod">
          <ac:chgData name="VINCENZA SIANI" userId="S::vi.siani@studenti.unina.it::f8162f21-1769-456b-9efd-a44fd93d18f0" providerId="AD" clId="Web-{F28056C6-685B-C30C-A537-5243652D8B1E}" dt="2026-07-19T20:52:11.968" v="0" actId="1076"/>
          <ac:spMkLst>
            <pc:docMk/>
            <pc:sldMk cId="0" sldId="273"/>
            <ac:spMk id="18" creationId="{EB823E32-5A5E-34A1-7466-61D2A54DFE45}"/>
          </ac:spMkLst>
        </pc:spChg>
        <pc:spChg chg="mod">
          <ac:chgData name="VINCENZA SIANI" userId="S::vi.siani@studenti.unina.it::f8162f21-1769-456b-9efd-a44fd93d18f0" providerId="AD" clId="Web-{F28056C6-685B-C30C-A537-5243652D8B1E}" dt="2026-07-19T20:52:26.609" v="2" actId="1076"/>
          <ac:spMkLst>
            <pc:docMk/>
            <pc:sldMk cId="0" sldId="273"/>
            <ac:spMk id="19" creationId="{CB54ECE7-032E-47B1-8A5B-1D15091CCF96}"/>
          </ac:spMkLst>
        </pc:spChg>
        <pc:spChg chg="add del mod">
          <ac:chgData name="VINCENZA SIANI" userId="S::vi.siani@studenti.unina.it::f8162f21-1769-456b-9efd-a44fd93d18f0" providerId="AD" clId="Web-{F28056C6-685B-C30C-A537-5243652D8B1E}" dt="2026-07-19T20:52:41.488" v="5"/>
          <ac:spMkLst>
            <pc:docMk/>
            <pc:sldMk cId="0" sldId="273"/>
            <ac:spMk id="21" creationId="{4EFFD859-3C6E-A09C-2639-CB5B6DF05886}"/>
          </ac:spMkLst>
        </pc:spChg>
        <pc:spChg chg="add del">
          <ac:chgData name="VINCENZA SIANI" userId="S::vi.siani@studenti.unina.it::f8162f21-1769-456b-9efd-a44fd93d18f0" providerId="AD" clId="Web-{F28056C6-685B-C30C-A537-5243652D8B1E}" dt="2026-07-19T20:53:16.927" v="7"/>
          <ac:spMkLst>
            <pc:docMk/>
            <pc:sldMk cId="0" sldId="273"/>
            <ac:spMk id="22" creationId="{4645AB49-FA9F-2AA9-BB4A-A0173D0FAE7C}"/>
          </ac:spMkLst>
        </pc:spChg>
        <pc:spChg chg="add del mod">
          <ac:chgData name="VINCENZA SIANI" userId="S::vi.siani@studenti.unina.it::f8162f21-1769-456b-9efd-a44fd93d18f0" providerId="AD" clId="Web-{F28056C6-685B-C30C-A537-5243652D8B1E}" dt="2026-07-19T20:53:52.146" v="10"/>
          <ac:spMkLst>
            <pc:docMk/>
            <pc:sldMk cId="0" sldId="273"/>
            <ac:spMk id="24" creationId="{A83E70DC-D1E6-FA1F-B0E8-017447047A6C}"/>
          </ac:spMkLst>
        </pc:spChg>
        <pc:spChg chg="add del mod">
          <ac:chgData name="VINCENZA SIANI" userId="S::vi.siani@studenti.unina.it::f8162f21-1769-456b-9efd-a44fd93d18f0" providerId="AD" clId="Web-{F28056C6-685B-C30C-A537-5243652D8B1E}" dt="2026-07-19T20:54:08.866" v="16"/>
          <ac:spMkLst>
            <pc:docMk/>
            <pc:sldMk cId="0" sldId="273"/>
            <ac:spMk id="25" creationId="{C7DAA344-2C4B-9C8E-9585-1378ED953BF9}"/>
          </ac:spMkLst>
        </pc:spChg>
      </pc:sldChg>
    </pc:docChg>
  </pc:docChgLst>
  <pc:docChgLst>
    <pc:chgData name="VINCENZA SIANI" userId="S::vi.siani@studenti.unina.it::f8162f21-1769-456b-9efd-a44fd93d18f0" providerId="AD" clId="Web-{442ED9D5-11C0-E4A0-2D0E-04FB8794C687}"/>
    <pc:docChg chg="modSld">
      <pc:chgData name="VINCENZA SIANI" userId="S::vi.siani@studenti.unina.it::f8162f21-1769-456b-9efd-a44fd93d18f0" providerId="AD" clId="Web-{442ED9D5-11C0-E4A0-2D0E-04FB8794C687}" dt="2026-07-19T20:37:56.852" v="25" actId="1076"/>
      <pc:docMkLst>
        <pc:docMk/>
      </pc:docMkLst>
      <pc:sldChg chg="modSp">
        <pc:chgData name="VINCENZA SIANI" userId="S::vi.siani@studenti.unina.it::f8162f21-1769-456b-9efd-a44fd93d18f0" providerId="AD" clId="Web-{442ED9D5-11C0-E4A0-2D0E-04FB8794C687}" dt="2026-07-19T20:29:50.647" v="8" actId="20577"/>
        <pc:sldMkLst>
          <pc:docMk/>
          <pc:sldMk cId="0" sldId="271"/>
        </pc:sldMkLst>
        <pc:spChg chg="mod">
          <ac:chgData name="VINCENZA SIANI" userId="S::vi.siani@studenti.unina.it::f8162f21-1769-456b-9efd-a44fd93d18f0" providerId="AD" clId="Web-{442ED9D5-11C0-E4A0-2D0E-04FB8794C687}" dt="2026-07-19T20:29:50.647" v="8" actId="20577"/>
          <ac:spMkLst>
            <pc:docMk/>
            <pc:sldMk cId="0" sldId="271"/>
            <ac:spMk id="20" creationId="{00000000-0000-0000-0000-000000000000}"/>
          </ac:spMkLst>
        </pc:spChg>
        <pc:spChg chg="mod">
          <ac:chgData name="VINCENZA SIANI" userId="S::vi.siani@studenti.unina.it::f8162f21-1769-456b-9efd-a44fd93d18f0" providerId="AD" clId="Web-{442ED9D5-11C0-E4A0-2D0E-04FB8794C687}" dt="2026-07-19T20:29:02.333" v="4" actId="20577"/>
          <ac:spMkLst>
            <pc:docMk/>
            <pc:sldMk cId="0" sldId="271"/>
            <ac:spMk id="30" creationId="{00000000-0000-0000-0000-000000000000}"/>
          </ac:spMkLst>
        </pc:spChg>
      </pc:sldChg>
      <pc:sldChg chg="addAnim modAnim">
        <pc:chgData name="VINCENZA SIANI" userId="S::vi.siani@studenti.unina.it::f8162f21-1769-456b-9efd-a44fd93d18f0" providerId="AD" clId="Web-{442ED9D5-11C0-E4A0-2D0E-04FB8794C687}" dt="2026-07-19T20:31:27.963" v="15"/>
        <pc:sldMkLst>
          <pc:docMk/>
          <pc:sldMk cId="0" sldId="272"/>
        </pc:sldMkLst>
      </pc:sldChg>
      <pc:sldChg chg="delSp modSp addAnim delAnim">
        <pc:chgData name="VINCENZA SIANI" userId="S::vi.siani@studenti.unina.it::f8162f21-1769-456b-9efd-a44fd93d18f0" providerId="AD" clId="Web-{442ED9D5-11C0-E4A0-2D0E-04FB8794C687}" dt="2026-07-19T20:37:56.852" v="25" actId="1076"/>
        <pc:sldMkLst>
          <pc:docMk/>
          <pc:sldMk cId="0" sldId="273"/>
        </pc:sldMkLst>
        <pc:spChg chg="del mod">
          <ac:chgData name="VINCENZA SIANI" userId="S::vi.siani@studenti.unina.it::f8162f21-1769-456b-9efd-a44fd93d18f0" providerId="AD" clId="Web-{442ED9D5-11C0-E4A0-2D0E-04FB8794C687}" dt="2026-07-19T20:36:58.273" v="21"/>
          <ac:spMkLst>
            <pc:docMk/>
            <pc:sldMk cId="0" sldId="273"/>
            <ac:spMk id="11" creationId="{00000000-0000-0000-0000-000000000000}"/>
          </ac:spMkLst>
        </pc:spChg>
        <pc:spChg chg="mod">
          <ac:chgData name="VINCENZA SIANI" userId="S::vi.siani@studenti.unina.it::f8162f21-1769-456b-9efd-a44fd93d18f0" providerId="AD" clId="Web-{442ED9D5-11C0-E4A0-2D0E-04FB8794C687}" dt="2026-07-19T20:37:10.148" v="23" actId="1076"/>
          <ac:spMkLst>
            <pc:docMk/>
            <pc:sldMk cId="0" sldId="273"/>
            <ac:spMk id="12" creationId="{00000000-0000-0000-0000-000000000000}"/>
          </ac:spMkLst>
        </pc:spChg>
        <pc:spChg chg="mod">
          <ac:chgData name="VINCENZA SIANI" userId="S::vi.siani@studenti.unina.it::f8162f21-1769-456b-9efd-a44fd93d18f0" providerId="AD" clId="Web-{442ED9D5-11C0-E4A0-2D0E-04FB8794C687}" dt="2026-07-19T20:37:13.336" v="24" actId="1076"/>
          <ac:spMkLst>
            <pc:docMk/>
            <pc:sldMk cId="0" sldId="273"/>
            <ac:spMk id="18" creationId="{EB823E32-5A5E-34A1-7466-61D2A54DFE45}"/>
          </ac:spMkLst>
        </pc:spChg>
        <pc:spChg chg="mod">
          <ac:chgData name="VINCENZA SIANI" userId="S::vi.siani@studenti.unina.it::f8162f21-1769-456b-9efd-a44fd93d18f0" providerId="AD" clId="Web-{442ED9D5-11C0-E4A0-2D0E-04FB8794C687}" dt="2026-07-19T20:37:56.852" v="25" actId="1076"/>
          <ac:spMkLst>
            <pc:docMk/>
            <pc:sldMk cId="0" sldId="273"/>
            <ac:spMk id="19" creationId="{CB54ECE7-032E-47B1-8A5B-1D15091CCF96}"/>
          </ac:spMkLst>
        </pc:spChg>
        <pc:spChg chg="del">
          <ac:chgData name="VINCENZA SIANI" userId="S::vi.siani@studenti.unina.it::f8162f21-1769-456b-9efd-a44fd93d18f0" providerId="AD" clId="Web-{442ED9D5-11C0-E4A0-2D0E-04FB8794C687}" dt="2026-07-19T20:32:20.745" v="18"/>
          <ac:spMkLst>
            <pc:docMk/>
            <pc:sldMk cId="0" sldId="273"/>
            <ac:spMk id="21" creationId="{5A6E9970-D554-9B4E-5F04-A2BADE46076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12.png"/><Relationship Id="rId7" Type="http://schemas.openxmlformats.org/officeDocument/2006/relationships/image" Target="../media/image11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.png"/><Relationship Id="rId7" Type="http://schemas.openxmlformats.org/officeDocument/2006/relationships/image" Target="../media/image2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.png"/><Relationship Id="rId7" Type="http://schemas.openxmlformats.org/officeDocument/2006/relationships/image" Target="../media/image30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.png"/><Relationship Id="rId7" Type="http://schemas.openxmlformats.org/officeDocument/2006/relationships/image" Target="../media/image33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.png"/><Relationship Id="rId9" Type="http://schemas.openxmlformats.org/officeDocument/2006/relationships/image" Target="../media/image31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jpe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42.png"/><Relationship Id="rId7" Type="http://schemas.openxmlformats.org/officeDocument/2006/relationships/image" Target="../media/image4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svg"/><Relationship Id="rId5" Type="http://schemas.openxmlformats.org/officeDocument/2006/relationships/image" Target="../media/image44.svg"/><Relationship Id="rId4" Type="http://schemas.openxmlformats.org/officeDocument/2006/relationships/image" Target="../media/image43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21954" y="2840657"/>
            <a:ext cx="12444092" cy="5185914"/>
            <a:chOff x="0" y="0"/>
            <a:chExt cx="2655670" cy="11067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55670" cy="1106716"/>
            </a:xfrm>
            <a:custGeom>
              <a:avLst/>
              <a:gdLst/>
              <a:ahLst/>
              <a:cxnLst/>
              <a:rect l="l" t="t" r="r" b="b"/>
              <a:pathLst>
                <a:path w="2655670" h="1106716">
                  <a:moveTo>
                    <a:pt x="0" y="0"/>
                  </a:moveTo>
                  <a:lnTo>
                    <a:pt x="2655670" y="0"/>
                  </a:lnTo>
                  <a:lnTo>
                    <a:pt x="2655670" y="1106716"/>
                  </a:lnTo>
                  <a:lnTo>
                    <a:pt x="0" y="1106716"/>
                  </a:lnTo>
                  <a:close/>
                </a:path>
              </a:pathLst>
            </a:custGeom>
            <a:solidFill>
              <a:srgbClr val="FFFFFF">
                <a:alpha val="46667"/>
              </a:srgbClr>
            </a:solidFill>
            <a:ln w="57150" cap="sq">
              <a:gradFill>
                <a:gsLst>
                  <a:gs pos="0">
                    <a:srgbClr val="083062">
                      <a:alpha val="30550"/>
                    </a:srgbClr>
                  </a:gs>
                  <a:gs pos="100000">
                    <a:srgbClr val="0E0E0E">
                      <a:alpha val="1316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8575"/>
              <a:ext cx="2655670" cy="10781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2172845">
            <a:off x="6368285" y="-727739"/>
            <a:ext cx="14678668" cy="7392711"/>
          </a:xfrm>
          <a:custGeom>
            <a:avLst/>
            <a:gdLst/>
            <a:ahLst/>
            <a:cxnLst/>
            <a:rect l="l" t="t" r="r" b="b"/>
            <a:pathLst>
              <a:path w="14678668" h="7392711">
                <a:moveTo>
                  <a:pt x="0" y="0"/>
                </a:moveTo>
                <a:lnTo>
                  <a:pt x="14678668" y="0"/>
                </a:lnTo>
                <a:lnTo>
                  <a:pt x="14678668" y="7392711"/>
                </a:lnTo>
                <a:lnTo>
                  <a:pt x="0" y="73927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 rot="2172845">
            <a:off x="-3843661" y="7384212"/>
            <a:ext cx="14678668" cy="7392711"/>
          </a:xfrm>
          <a:custGeom>
            <a:avLst/>
            <a:gdLst/>
            <a:ahLst/>
            <a:cxnLst/>
            <a:rect l="l" t="t" r="r" b="b"/>
            <a:pathLst>
              <a:path w="14678668" h="7392711">
                <a:moveTo>
                  <a:pt x="0" y="0"/>
                </a:moveTo>
                <a:lnTo>
                  <a:pt x="14678668" y="0"/>
                </a:lnTo>
                <a:lnTo>
                  <a:pt x="14678668" y="7392711"/>
                </a:lnTo>
                <a:lnTo>
                  <a:pt x="0" y="73927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Freeform 7"/>
          <p:cNvSpPr/>
          <p:nvPr/>
        </p:nvSpPr>
        <p:spPr>
          <a:xfrm>
            <a:off x="5321855" y="378163"/>
            <a:ext cx="6664692" cy="2157694"/>
          </a:xfrm>
          <a:custGeom>
            <a:avLst/>
            <a:gdLst/>
            <a:ahLst/>
            <a:cxnLst/>
            <a:rect l="l" t="t" r="r" b="b"/>
            <a:pathLst>
              <a:path w="6664692" h="2157694">
                <a:moveTo>
                  <a:pt x="0" y="0"/>
                </a:moveTo>
                <a:lnTo>
                  <a:pt x="6664693" y="0"/>
                </a:lnTo>
                <a:lnTo>
                  <a:pt x="6664693" y="2157694"/>
                </a:lnTo>
                <a:lnTo>
                  <a:pt x="0" y="21576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8" name="TextBox 8"/>
          <p:cNvSpPr txBox="1"/>
          <p:nvPr/>
        </p:nvSpPr>
        <p:spPr>
          <a:xfrm>
            <a:off x="508898" y="8152448"/>
            <a:ext cx="3263980" cy="1868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RELATRICE 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Ch.ma Prof.ssa Teresa Murino </a:t>
            </a:r>
          </a:p>
          <a:p>
            <a:pPr algn="ctr">
              <a:lnSpc>
                <a:spcPts val="2520"/>
              </a:lnSpc>
            </a:pPr>
            <a:endParaRPr lang="en-US" sz="18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CORRELATRICI 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Ing. Luisa Montella 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Ing. Monica Strazzullo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743088" y="8781097"/>
            <a:ext cx="2544912" cy="925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CANDIDATA 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Vincenza Siani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M62003043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465150" y="4500502"/>
            <a:ext cx="11357700" cy="288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33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Advanced Analytics in Maritime Transport: Fuel Consumption Forecasting via Synthetic Upsampling of Constant Schedule Data </a:t>
            </a:r>
          </a:p>
          <a:p>
            <a:pPr algn="ctr">
              <a:lnSpc>
                <a:spcPts val="4621"/>
              </a:lnSpc>
            </a:pPr>
            <a:r>
              <a:rPr lang="en-US" sz="3300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Case Study: Grimaldi Group S.p.A.</a:t>
            </a:r>
          </a:p>
          <a:p>
            <a:pPr algn="ctr">
              <a:lnSpc>
                <a:spcPts val="4621"/>
              </a:lnSpc>
            </a:pPr>
            <a:endParaRPr lang="en-US" sz="3300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505742" y="3211322"/>
            <a:ext cx="9276517" cy="1054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TESI DI LAUREA 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 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Sistemi di Produzione di Beni e Servizi</a:t>
            </a: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F1A4D589-FC36-D45F-1853-241A8A7A320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08" t="24696" r="12380" b="29105"/>
          <a:stretch>
            <a:fillRect/>
          </a:stretch>
        </p:blipFill>
        <p:spPr>
          <a:xfrm>
            <a:off x="7239000" y="6570595"/>
            <a:ext cx="3657600" cy="1368728"/>
          </a:xfrm>
          <a:prstGeom prst="rect">
            <a:avLst/>
          </a:prstGeom>
        </p:spPr>
      </p:pic>
      <p:sp>
        <p:nvSpPr>
          <p:cNvPr id="13" name="Freeform 4">
            <a:extLst>
              <a:ext uri="{FF2B5EF4-FFF2-40B4-BE49-F238E27FC236}">
                <a16:creationId xmlns:a16="http://schemas.microsoft.com/office/drawing/2014/main" id="{297FA869-D133-7AB7-1E49-8D800D2A7D78}"/>
              </a:ext>
            </a:extLst>
          </p:cNvPr>
          <p:cNvSpPr/>
          <p:nvPr/>
        </p:nvSpPr>
        <p:spPr>
          <a:xfrm>
            <a:off x="-6218986" y="1457010"/>
            <a:ext cx="6090568" cy="4858306"/>
          </a:xfrm>
          <a:custGeom>
            <a:avLst/>
            <a:gdLst/>
            <a:ahLst/>
            <a:cxnLst/>
            <a:rect l="l" t="t" r="r" b="b"/>
            <a:pathLst>
              <a:path w="6090568" h="4858306">
                <a:moveTo>
                  <a:pt x="0" y="0"/>
                </a:moveTo>
                <a:lnTo>
                  <a:pt x="6090568" y="0"/>
                </a:lnTo>
                <a:lnTo>
                  <a:pt x="6090568" y="4858305"/>
                </a:lnTo>
                <a:lnTo>
                  <a:pt x="0" y="48583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919" r="-24596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862B2FA1-6D69-AF5F-7A86-6D82B2356DCF}"/>
              </a:ext>
            </a:extLst>
          </p:cNvPr>
          <p:cNvSpPr/>
          <p:nvPr/>
        </p:nvSpPr>
        <p:spPr>
          <a:xfrm>
            <a:off x="18835883" y="2324100"/>
            <a:ext cx="6515000" cy="4820634"/>
          </a:xfrm>
          <a:custGeom>
            <a:avLst/>
            <a:gdLst/>
            <a:ahLst/>
            <a:cxnLst/>
            <a:rect l="l" t="t" r="r" b="b"/>
            <a:pathLst>
              <a:path w="6515000" h="4820634">
                <a:moveTo>
                  <a:pt x="0" y="0"/>
                </a:moveTo>
                <a:lnTo>
                  <a:pt x="6515001" y="0"/>
                </a:lnTo>
                <a:lnTo>
                  <a:pt x="6515001" y="4820633"/>
                </a:lnTo>
                <a:lnTo>
                  <a:pt x="0" y="48206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8642" t="-24836"/>
            </a:stretch>
          </a:blipFill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172845">
            <a:off x="6368285" y="-727739"/>
            <a:ext cx="14678668" cy="7392711"/>
          </a:xfrm>
          <a:custGeom>
            <a:avLst/>
            <a:gdLst/>
            <a:ahLst/>
            <a:cxnLst/>
            <a:rect l="l" t="t" r="r" b="b"/>
            <a:pathLst>
              <a:path w="14678668" h="7392711">
                <a:moveTo>
                  <a:pt x="0" y="0"/>
                </a:moveTo>
                <a:lnTo>
                  <a:pt x="14678668" y="0"/>
                </a:lnTo>
                <a:lnTo>
                  <a:pt x="14678668" y="7392711"/>
                </a:lnTo>
                <a:lnTo>
                  <a:pt x="0" y="73927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 rot="2172845">
            <a:off x="-3605900" y="7038320"/>
            <a:ext cx="14678668" cy="7392711"/>
          </a:xfrm>
          <a:custGeom>
            <a:avLst/>
            <a:gdLst/>
            <a:ahLst/>
            <a:cxnLst/>
            <a:rect l="l" t="t" r="r" b="b"/>
            <a:pathLst>
              <a:path w="14678668" h="7392711">
                <a:moveTo>
                  <a:pt x="0" y="0"/>
                </a:moveTo>
                <a:lnTo>
                  <a:pt x="14678668" y="0"/>
                </a:lnTo>
                <a:lnTo>
                  <a:pt x="14678668" y="7392711"/>
                </a:lnTo>
                <a:lnTo>
                  <a:pt x="0" y="73927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805525" y="2084641"/>
            <a:ext cx="6090568" cy="4858306"/>
          </a:xfrm>
          <a:custGeom>
            <a:avLst/>
            <a:gdLst/>
            <a:ahLst/>
            <a:cxnLst/>
            <a:rect l="l" t="t" r="r" b="b"/>
            <a:pathLst>
              <a:path w="6090568" h="4858306">
                <a:moveTo>
                  <a:pt x="0" y="0"/>
                </a:moveTo>
                <a:lnTo>
                  <a:pt x="6090568" y="0"/>
                </a:lnTo>
                <a:lnTo>
                  <a:pt x="6090568" y="4858305"/>
                </a:lnTo>
                <a:lnTo>
                  <a:pt x="0" y="48583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919" r="-24596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11393679" y="3762185"/>
            <a:ext cx="6515000" cy="4820634"/>
          </a:xfrm>
          <a:custGeom>
            <a:avLst/>
            <a:gdLst/>
            <a:ahLst/>
            <a:cxnLst/>
            <a:rect l="l" t="t" r="r" b="b"/>
            <a:pathLst>
              <a:path w="6515000" h="4820634">
                <a:moveTo>
                  <a:pt x="0" y="0"/>
                </a:moveTo>
                <a:lnTo>
                  <a:pt x="6515001" y="0"/>
                </a:lnTo>
                <a:lnTo>
                  <a:pt x="6515001" y="4820633"/>
                </a:lnTo>
                <a:lnTo>
                  <a:pt x="0" y="48206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8642" t="-24836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>
            <a:off x="7542021" y="3380662"/>
            <a:ext cx="3203958" cy="3525676"/>
          </a:xfrm>
          <a:custGeom>
            <a:avLst/>
            <a:gdLst/>
            <a:ahLst/>
            <a:cxnLst/>
            <a:rect l="l" t="t" r="r" b="b"/>
            <a:pathLst>
              <a:path w="3203958" h="3525676">
                <a:moveTo>
                  <a:pt x="0" y="0"/>
                </a:moveTo>
                <a:lnTo>
                  <a:pt x="3203958" y="0"/>
                </a:lnTo>
                <a:lnTo>
                  <a:pt x="3203958" y="3525676"/>
                </a:lnTo>
                <a:lnTo>
                  <a:pt x="0" y="35256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" name="TextBox 7"/>
          <p:cNvSpPr txBox="1"/>
          <p:nvPr/>
        </p:nvSpPr>
        <p:spPr>
          <a:xfrm>
            <a:off x="3465150" y="279635"/>
            <a:ext cx="11357700" cy="1179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4000" b="1">
                <a:solidFill>
                  <a:srgbClr val="36E9FD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THE CONTEXT: </a:t>
            </a:r>
          </a:p>
          <a:p>
            <a:pPr algn="ctr">
              <a:lnSpc>
                <a:spcPts val="4621"/>
              </a:lnSpc>
            </a:pPr>
            <a:r>
              <a:rPr lang="en-US" sz="4000" b="1">
                <a:solidFill>
                  <a:srgbClr val="36E9FD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THE GLOBAL CHALLENGES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59388" y="1459445"/>
            <a:ext cx="4027795" cy="4953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80% of global trade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83752" y="2513862"/>
            <a:ext cx="6210300" cy="10294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3% of greenhouse 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gas emissions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312489" y="150666"/>
            <a:ext cx="1732152" cy="62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15"/>
              </a:lnSpc>
            </a:pPr>
            <a:r>
              <a:rPr lang="en-US" sz="1225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CANDIDATA </a:t>
            </a:r>
          </a:p>
          <a:p>
            <a:pPr algn="ctr">
              <a:lnSpc>
                <a:spcPts val="1715"/>
              </a:lnSpc>
            </a:pPr>
            <a:r>
              <a:rPr lang="en-US" sz="12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Vincenza Siani</a:t>
            </a:r>
          </a:p>
          <a:p>
            <a:pPr algn="ctr">
              <a:lnSpc>
                <a:spcPts val="1715"/>
              </a:lnSpc>
            </a:pPr>
            <a:r>
              <a:rPr lang="en-US" sz="12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M62003043</a:t>
            </a:r>
          </a:p>
        </p:txBody>
      </p:sp>
      <p:sp>
        <p:nvSpPr>
          <p:cNvPr id="11" name="Freeform 11"/>
          <p:cNvSpPr/>
          <p:nvPr/>
        </p:nvSpPr>
        <p:spPr>
          <a:xfrm>
            <a:off x="175914" y="169716"/>
            <a:ext cx="2626631" cy="850372"/>
          </a:xfrm>
          <a:custGeom>
            <a:avLst/>
            <a:gdLst/>
            <a:ahLst/>
            <a:cxnLst/>
            <a:rect l="l" t="t" r="r" b="b"/>
            <a:pathLst>
              <a:path w="2626631" h="850372">
                <a:moveTo>
                  <a:pt x="0" y="0"/>
                </a:moveTo>
                <a:lnTo>
                  <a:pt x="2626631" y="0"/>
                </a:lnTo>
                <a:lnTo>
                  <a:pt x="2626631" y="850372"/>
                </a:lnTo>
                <a:lnTo>
                  <a:pt x="0" y="8503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2" name="TextBox 12"/>
          <p:cNvSpPr txBox="1"/>
          <p:nvPr/>
        </p:nvSpPr>
        <p:spPr>
          <a:xfrm>
            <a:off x="1792659" y="8705850"/>
            <a:ext cx="14702682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To overcome the challenges of this complex scenario, high-precision fuel consumption forecasting becomes a </a:t>
            </a:r>
            <a:r>
              <a:rPr lang="en-US" sz="3000" b="1">
                <a:solidFill>
                  <a:srgbClr val="36E9FD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strategic priority</a:t>
            </a:r>
          </a:p>
        </p:txBody>
      </p:sp>
      <p:grpSp>
        <p:nvGrpSpPr>
          <p:cNvPr id="13" name="Group 5">
            <a:extLst>
              <a:ext uri="{FF2B5EF4-FFF2-40B4-BE49-F238E27FC236}">
                <a16:creationId xmlns:a16="http://schemas.microsoft.com/office/drawing/2014/main" id="{270C10DB-0901-466F-E48D-E59F5D7C7FEE}"/>
              </a:ext>
            </a:extLst>
          </p:cNvPr>
          <p:cNvGrpSpPr/>
          <p:nvPr/>
        </p:nvGrpSpPr>
        <p:grpSpPr>
          <a:xfrm>
            <a:off x="-9192905" y="624148"/>
            <a:ext cx="7509261" cy="5586152"/>
            <a:chOff x="0" y="0"/>
            <a:chExt cx="3802126" cy="3546155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7633B9F1-DECA-5C29-0363-8271F1315692}"/>
                </a:ext>
              </a:extLst>
            </p:cNvPr>
            <p:cNvSpPr/>
            <p:nvPr/>
          </p:nvSpPr>
          <p:spPr>
            <a:xfrm>
              <a:off x="0" y="0"/>
              <a:ext cx="3802126" cy="3546155"/>
            </a:xfrm>
            <a:custGeom>
              <a:avLst/>
              <a:gdLst/>
              <a:ahLst/>
              <a:cxnLst/>
              <a:rect l="l" t="t" r="r" b="b"/>
              <a:pathLst>
                <a:path w="3802126" h="3546155">
                  <a:moveTo>
                    <a:pt x="3598926" y="0"/>
                  </a:moveTo>
                  <a:cubicBezTo>
                    <a:pt x="3711150" y="0"/>
                    <a:pt x="3802126" y="793834"/>
                    <a:pt x="3802126" y="1773078"/>
                  </a:cubicBezTo>
                  <a:cubicBezTo>
                    <a:pt x="3802126" y="2752321"/>
                    <a:pt x="3711150" y="3546155"/>
                    <a:pt x="3598926" y="3546155"/>
                  </a:cubicBezTo>
                  <a:lnTo>
                    <a:pt x="203200" y="3546155"/>
                  </a:lnTo>
                  <a:cubicBezTo>
                    <a:pt x="90976" y="3546155"/>
                    <a:pt x="0" y="2752321"/>
                    <a:pt x="0" y="1773078"/>
                  </a:cubicBezTo>
                  <a:cubicBezTo>
                    <a:pt x="0" y="79383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2C2FC8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5" name="TextBox 7">
              <a:extLst>
                <a:ext uri="{FF2B5EF4-FFF2-40B4-BE49-F238E27FC236}">
                  <a16:creationId xmlns:a16="http://schemas.microsoft.com/office/drawing/2014/main" id="{AE4610CC-B3DB-66B8-1B6F-8C1D978BB750}"/>
                </a:ext>
              </a:extLst>
            </p:cNvPr>
            <p:cNvSpPr txBox="1"/>
            <p:nvPr/>
          </p:nvSpPr>
          <p:spPr>
            <a:xfrm>
              <a:off x="0" y="-38100"/>
              <a:ext cx="3802126" cy="35842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3"/>
                </a:lnSpc>
              </a:pPr>
              <a:endParaRPr/>
            </a:p>
          </p:txBody>
        </p:sp>
      </p:grpSp>
      <p:sp>
        <p:nvSpPr>
          <p:cNvPr id="16" name="Freeform 8">
            <a:extLst>
              <a:ext uri="{FF2B5EF4-FFF2-40B4-BE49-F238E27FC236}">
                <a16:creationId xmlns:a16="http://schemas.microsoft.com/office/drawing/2014/main" id="{D5DA35E5-DAA0-613D-4316-29CEE90D14CE}"/>
              </a:ext>
            </a:extLst>
          </p:cNvPr>
          <p:cNvSpPr/>
          <p:nvPr/>
        </p:nvSpPr>
        <p:spPr>
          <a:xfrm>
            <a:off x="-8647796" y="932657"/>
            <a:ext cx="6797532" cy="5233773"/>
          </a:xfrm>
          <a:custGeom>
            <a:avLst/>
            <a:gdLst/>
            <a:ahLst/>
            <a:cxnLst/>
            <a:rect l="l" t="t" r="r" b="b"/>
            <a:pathLst>
              <a:path w="8823710" h="8517862">
                <a:moveTo>
                  <a:pt x="0" y="0"/>
                </a:moveTo>
                <a:lnTo>
                  <a:pt x="8823709" y="0"/>
                </a:lnTo>
                <a:lnTo>
                  <a:pt x="8823709" y="8517862"/>
                </a:lnTo>
                <a:lnTo>
                  <a:pt x="0" y="85178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  <p:bldP spid="9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172845">
            <a:off x="6368285" y="-727739"/>
            <a:ext cx="14678668" cy="7392711"/>
          </a:xfrm>
          <a:custGeom>
            <a:avLst/>
            <a:gdLst/>
            <a:ahLst/>
            <a:cxnLst/>
            <a:rect l="l" t="t" r="r" b="b"/>
            <a:pathLst>
              <a:path w="14678668" h="7392711">
                <a:moveTo>
                  <a:pt x="0" y="0"/>
                </a:moveTo>
                <a:lnTo>
                  <a:pt x="14678668" y="0"/>
                </a:lnTo>
                <a:lnTo>
                  <a:pt x="14678668" y="7392711"/>
                </a:lnTo>
                <a:lnTo>
                  <a:pt x="0" y="73927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 rot="2172845">
            <a:off x="-3843661" y="7384212"/>
            <a:ext cx="14678668" cy="7392711"/>
          </a:xfrm>
          <a:custGeom>
            <a:avLst/>
            <a:gdLst/>
            <a:ahLst/>
            <a:cxnLst/>
            <a:rect l="l" t="t" r="r" b="b"/>
            <a:pathLst>
              <a:path w="14678668" h="7392711">
                <a:moveTo>
                  <a:pt x="0" y="0"/>
                </a:moveTo>
                <a:lnTo>
                  <a:pt x="14678668" y="0"/>
                </a:lnTo>
                <a:lnTo>
                  <a:pt x="14678668" y="7392711"/>
                </a:lnTo>
                <a:lnTo>
                  <a:pt x="0" y="73927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175914" y="169716"/>
            <a:ext cx="2626631" cy="850372"/>
          </a:xfrm>
          <a:custGeom>
            <a:avLst/>
            <a:gdLst/>
            <a:ahLst/>
            <a:cxnLst/>
            <a:rect l="l" t="t" r="r" b="b"/>
            <a:pathLst>
              <a:path w="2626631" h="850372">
                <a:moveTo>
                  <a:pt x="0" y="0"/>
                </a:moveTo>
                <a:lnTo>
                  <a:pt x="2626631" y="0"/>
                </a:lnTo>
                <a:lnTo>
                  <a:pt x="2626631" y="850372"/>
                </a:lnTo>
                <a:lnTo>
                  <a:pt x="0" y="8503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5" name="Group 5"/>
          <p:cNvGrpSpPr>
            <a:grpSpLocks noGrp="1" noUngrp="1" noRot="1" noMove="1" noResize="1"/>
          </p:cNvGrpSpPr>
          <p:nvPr/>
        </p:nvGrpSpPr>
        <p:grpSpPr>
          <a:xfrm>
            <a:off x="808737" y="1028700"/>
            <a:ext cx="9747588" cy="9091352"/>
            <a:chOff x="0" y="0"/>
            <a:chExt cx="3802126" cy="3546155"/>
          </a:xfrm>
        </p:grpSpPr>
        <p:sp>
          <p:nvSpPr>
            <p:cNvPr id="6" name="Freeform 6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3802126" cy="3546155"/>
            </a:xfrm>
            <a:custGeom>
              <a:avLst/>
              <a:gdLst/>
              <a:ahLst/>
              <a:cxnLst/>
              <a:rect l="l" t="t" r="r" b="b"/>
              <a:pathLst>
                <a:path w="3802126" h="3546155">
                  <a:moveTo>
                    <a:pt x="3598926" y="0"/>
                  </a:moveTo>
                  <a:cubicBezTo>
                    <a:pt x="3711150" y="0"/>
                    <a:pt x="3802126" y="793834"/>
                    <a:pt x="3802126" y="1773078"/>
                  </a:cubicBezTo>
                  <a:cubicBezTo>
                    <a:pt x="3802126" y="2752321"/>
                    <a:pt x="3711150" y="3546155"/>
                    <a:pt x="3598926" y="3546155"/>
                  </a:cubicBezTo>
                  <a:lnTo>
                    <a:pt x="203200" y="3546155"/>
                  </a:lnTo>
                  <a:cubicBezTo>
                    <a:pt x="90976" y="3546155"/>
                    <a:pt x="0" y="2752321"/>
                    <a:pt x="0" y="1773078"/>
                  </a:cubicBezTo>
                  <a:cubicBezTo>
                    <a:pt x="0" y="793834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2C2FC8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TextBox 7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38100"/>
              <a:ext cx="3802126" cy="35842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3"/>
                </a:lnSpc>
              </a:pPr>
              <a:endParaRPr/>
            </a:p>
          </p:txBody>
        </p:sp>
      </p:grpSp>
      <p:sp>
        <p:nvSpPr>
          <p:cNvPr id="8" name="Freeform 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53846" y="1337209"/>
            <a:ext cx="8823710" cy="8517862"/>
          </a:xfrm>
          <a:custGeom>
            <a:avLst/>
            <a:gdLst/>
            <a:ahLst/>
            <a:cxnLst/>
            <a:rect l="l" t="t" r="r" b="b"/>
            <a:pathLst>
              <a:path w="8823710" h="8517862">
                <a:moveTo>
                  <a:pt x="0" y="0"/>
                </a:moveTo>
                <a:lnTo>
                  <a:pt x="8823709" y="0"/>
                </a:lnTo>
                <a:lnTo>
                  <a:pt x="8823709" y="8517862"/>
                </a:lnTo>
                <a:lnTo>
                  <a:pt x="0" y="85178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9" name="TextBox 9"/>
          <p:cNvSpPr txBox="1"/>
          <p:nvPr/>
        </p:nvSpPr>
        <p:spPr>
          <a:xfrm>
            <a:off x="16312489" y="150666"/>
            <a:ext cx="1732152" cy="62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15"/>
              </a:lnSpc>
            </a:pPr>
            <a:r>
              <a:rPr lang="en-US" sz="1225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CANDIDATA </a:t>
            </a:r>
          </a:p>
          <a:p>
            <a:pPr algn="ctr">
              <a:lnSpc>
                <a:spcPts val="1715"/>
              </a:lnSpc>
            </a:pPr>
            <a:r>
              <a:rPr lang="en-US" sz="12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Vincenza Siani</a:t>
            </a:r>
          </a:p>
          <a:p>
            <a:pPr algn="ctr">
              <a:lnSpc>
                <a:spcPts val="1715"/>
              </a:lnSpc>
            </a:pPr>
            <a:r>
              <a:rPr lang="en-US" sz="12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M62003043</a:t>
            </a:r>
          </a:p>
        </p:txBody>
      </p:sp>
      <p:sp>
        <p:nvSpPr>
          <p:cNvPr id="11" name="TextBox 12">
            <a:extLst>
              <a:ext uri="{FF2B5EF4-FFF2-40B4-BE49-F238E27FC236}">
                <a16:creationId xmlns:a16="http://schemas.microsoft.com/office/drawing/2014/main" id="{10D4E47F-2B52-6B3B-24F7-1D0ADA04A3BF}"/>
              </a:ext>
            </a:extLst>
          </p:cNvPr>
          <p:cNvSpPr txBox="1"/>
          <p:nvPr/>
        </p:nvSpPr>
        <p:spPr>
          <a:xfrm>
            <a:off x="11713160" y="4273470"/>
            <a:ext cx="5766103" cy="10295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GB" sz="3000" b="1">
                <a:solidFill>
                  <a:srgbClr val="36E9F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PRISMA analysis </a:t>
            </a:r>
            <a:r>
              <a:rPr lang="en-GB" sz="30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allows you to select and filter scientific articles</a:t>
            </a:r>
            <a:endParaRPr lang="en-US" sz="3000" b="1">
              <a:solidFill>
                <a:srgbClr val="FFFFFF"/>
              </a:solidFill>
              <a:latin typeface="Playfair Display Bold"/>
              <a:ea typeface="Playfair Display Bold"/>
              <a:cs typeface="Playfair Display Bold"/>
              <a:sym typeface="Playfair Display Bold"/>
            </a:endParaRPr>
          </a:p>
        </p:txBody>
      </p:sp>
      <p:sp>
        <p:nvSpPr>
          <p:cNvPr id="13" name="TextBox 4">
            <a:extLst>
              <a:ext uri="{FF2B5EF4-FFF2-40B4-BE49-F238E27FC236}">
                <a16:creationId xmlns:a16="http://schemas.microsoft.com/office/drawing/2014/main" id="{7EF58947-5951-30A3-F8DE-4887ED50A1C5}"/>
              </a:ext>
            </a:extLst>
          </p:cNvPr>
          <p:cNvSpPr txBox="1"/>
          <p:nvPr/>
        </p:nvSpPr>
        <p:spPr>
          <a:xfrm>
            <a:off x="3465150" y="279635"/>
            <a:ext cx="11357700" cy="58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4000" b="1">
                <a:solidFill>
                  <a:srgbClr val="36E9FD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LITERATURE REVIEW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 rot="2172845">
            <a:off x="6368285" y="-727739"/>
            <a:ext cx="14678668" cy="7392711"/>
          </a:xfrm>
          <a:custGeom>
            <a:avLst/>
            <a:gdLst/>
            <a:ahLst/>
            <a:cxnLst/>
            <a:rect l="l" t="t" r="r" b="b"/>
            <a:pathLst>
              <a:path w="14678668" h="7392711">
                <a:moveTo>
                  <a:pt x="0" y="0"/>
                </a:moveTo>
                <a:lnTo>
                  <a:pt x="14678668" y="0"/>
                </a:lnTo>
                <a:lnTo>
                  <a:pt x="14678668" y="7392711"/>
                </a:lnTo>
                <a:lnTo>
                  <a:pt x="0" y="73927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>
            <a:spLocks noGrp="1" noRot="1" noMove="1" noResize="1" noEditPoints="1" noAdjustHandles="1" noChangeArrowheads="1" noChangeShapeType="1"/>
          </p:cNvSpPr>
          <p:nvPr/>
        </p:nvSpPr>
        <p:spPr>
          <a:xfrm rot="2172845">
            <a:off x="-3843661" y="7384212"/>
            <a:ext cx="14678668" cy="7392711"/>
          </a:xfrm>
          <a:custGeom>
            <a:avLst/>
            <a:gdLst/>
            <a:ahLst/>
            <a:cxnLst/>
            <a:rect l="l" t="t" r="r" b="b"/>
            <a:pathLst>
              <a:path w="14678668" h="7392711">
                <a:moveTo>
                  <a:pt x="0" y="0"/>
                </a:moveTo>
                <a:lnTo>
                  <a:pt x="14678668" y="0"/>
                </a:lnTo>
                <a:lnTo>
                  <a:pt x="14678668" y="7392711"/>
                </a:lnTo>
                <a:lnTo>
                  <a:pt x="0" y="73927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TextBox 4"/>
          <p:cNvSpPr txBox="1"/>
          <p:nvPr/>
        </p:nvSpPr>
        <p:spPr>
          <a:xfrm>
            <a:off x="3465150" y="279635"/>
            <a:ext cx="11357700" cy="58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4000" b="1">
                <a:solidFill>
                  <a:srgbClr val="36E9FD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LITERATURE REVIEW</a:t>
            </a:r>
          </a:p>
        </p:txBody>
      </p:sp>
      <p:sp>
        <p:nvSpPr>
          <p:cNvPr id="5" name="Freeform 5"/>
          <p:cNvSpPr/>
          <p:nvPr/>
        </p:nvSpPr>
        <p:spPr>
          <a:xfrm>
            <a:off x="7439091" y="3856783"/>
            <a:ext cx="3423871" cy="3066261"/>
          </a:xfrm>
          <a:custGeom>
            <a:avLst/>
            <a:gdLst/>
            <a:ahLst/>
            <a:cxnLst/>
            <a:rect l="l" t="t" r="r" b="b"/>
            <a:pathLst>
              <a:path w="3423871" h="3066261">
                <a:moveTo>
                  <a:pt x="0" y="0"/>
                </a:moveTo>
                <a:lnTo>
                  <a:pt x="3423871" y="0"/>
                </a:lnTo>
                <a:lnTo>
                  <a:pt x="3423871" y="3066262"/>
                </a:lnTo>
                <a:lnTo>
                  <a:pt x="0" y="30662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831" b="-5831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6" name="Freeform 6"/>
          <p:cNvSpPr/>
          <p:nvPr/>
        </p:nvSpPr>
        <p:spPr>
          <a:xfrm>
            <a:off x="2340518" y="4230045"/>
            <a:ext cx="13617359" cy="2265722"/>
          </a:xfrm>
          <a:custGeom>
            <a:avLst/>
            <a:gdLst/>
            <a:ahLst/>
            <a:cxnLst/>
            <a:rect l="l" t="t" r="r" b="b"/>
            <a:pathLst>
              <a:path w="13617359" h="2265722">
                <a:moveTo>
                  <a:pt x="0" y="0"/>
                </a:moveTo>
                <a:lnTo>
                  <a:pt x="0" y="924942"/>
                </a:lnTo>
                <a:cubicBezTo>
                  <a:pt x="0" y="985570"/>
                  <a:pt x="24085" y="1043716"/>
                  <a:pt x="66956" y="1086587"/>
                </a:cubicBezTo>
                <a:cubicBezTo>
                  <a:pt x="109826" y="1129457"/>
                  <a:pt x="167972" y="1153542"/>
                  <a:pt x="228600" y="1153542"/>
                </a:cubicBezTo>
                <a:lnTo>
                  <a:pt x="13388759" y="1153542"/>
                </a:lnTo>
                <a:cubicBezTo>
                  <a:pt x="13449388" y="1153542"/>
                  <a:pt x="13507534" y="1177627"/>
                  <a:pt x="13550404" y="1220497"/>
                </a:cubicBezTo>
                <a:cubicBezTo>
                  <a:pt x="13593276" y="1263368"/>
                  <a:pt x="13617359" y="1321514"/>
                  <a:pt x="13617359" y="1382142"/>
                </a:cubicBezTo>
                <a:lnTo>
                  <a:pt x="13617359" y="2265722"/>
                </a:lnTo>
              </a:path>
            </a:pathLst>
          </a:custGeom>
          <a:ln w="2857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7" name="Freeform 7"/>
          <p:cNvSpPr/>
          <p:nvPr/>
        </p:nvSpPr>
        <p:spPr>
          <a:xfrm>
            <a:off x="7773165" y="1737065"/>
            <a:ext cx="2701333" cy="7428869"/>
          </a:xfrm>
          <a:custGeom>
            <a:avLst/>
            <a:gdLst/>
            <a:ahLst/>
            <a:cxnLst/>
            <a:rect l="l" t="t" r="r" b="b"/>
            <a:pathLst>
              <a:path w="2701333" h="7428869">
                <a:moveTo>
                  <a:pt x="0" y="7428869"/>
                </a:moveTo>
                <a:lnTo>
                  <a:pt x="1113839" y="7428869"/>
                </a:lnTo>
                <a:cubicBezTo>
                  <a:pt x="1174468" y="7428869"/>
                  <a:pt x="1232614" y="7404784"/>
                  <a:pt x="1275484" y="7361913"/>
                </a:cubicBezTo>
                <a:cubicBezTo>
                  <a:pt x="1318355" y="7319043"/>
                  <a:pt x="1342439" y="7260898"/>
                  <a:pt x="1342439" y="7200269"/>
                </a:cubicBezTo>
                <a:lnTo>
                  <a:pt x="1342439" y="228600"/>
                </a:lnTo>
                <a:cubicBezTo>
                  <a:pt x="1342439" y="102347"/>
                  <a:pt x="1444787" y="0"/>
                  <a:pt x="1571039" y="0"/>
                </a:cubicBezTo>
                <a:lnTo>
                  <a:pt x="2701333" y="0"/>
                </a:lnTo>
              </a:path>
            </a:pathLst>
          </a:custGeom>
          <a:ln w="2857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grpSp>
        <p:nvGrpSpPr>
          <p:cNvPr id="8" name="Group 8"/>
          <p:cNvGrpSpPr/>
          <p:nvPr/>
        </p:nvGrpSpPr>
        <p:grpSpPr>
          <a:xfrm>
            <a:off x="2863194" y="5835211"/>
            <a:ext cx="4373792" cy="626806"/>
            <a:chOff x="0" y="0"/>
            <a:chExt cx="793581" cy="11372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93581" cy="113728"/>
            </a:xfrm>
            <a:custGeom>
              <a:avLst/>
              <a:gdLst/>
              <a:ahLst/>
              <a:cxnLst/>
              <a:rect l="l" t="t" r="r" b="b"/>
              <a:pathLst>
                <a:path w="793581" h="113728">
                  <a:moveTo>
                    <a:pt x="5531" y="0"/>
                  </a:moveTo>
                  <a:lnTo>
                    <a:pt x="788049" y="0"/>
                  </a:lnTo>
                  <a:cubicBezTo>
                    <a:pt x="789516" y="0"/>
                    <a:pt x="790923" y="583"/>
                    <a:pt x="791961" y="1620"/>
                  </a:cubicBezTo>
                  <a:cubicBezTo>
                    <a:pt x="792998" y="2657"/>
                    <a:pt x="793581" y="4064"/>
                    <a:pt x="793581" y="5531"/>
                  </a:cubicBezTo>
                  <a:lnTo>
                    <a:pt x="793581" y="108196"/>
                  </a:lnTo>
                  <a:cubicBezTo>
                    <a:pt x="793581" y="109663"/>
                    <a:pt x="792998" y="111070"/>
                    <a:pt x="791961" y="112108"/>
                  </a:cubicBezTo>
                  <a:cubicBezTo>
                    <a:pt x="790923" y="113145"/>
                    <a:pt x="789516" y="113728"/>
                    <a:pt x="788049" y="113728"/>
                  </a:cubicBezTo>
                  <a:lnTo>
                    <a:pt x="5531" y="113728"/>
                  </a:lnTo>
                  <a:cubicBezTo>
                    <a:pt x="4064" y="113728"/>
                    <a:pt x="2657" y="113145"/>
                    <a:pt x="1620" y="112108"/>
                  </a:cubicBezTo>
                  <a:cubicBezTo>
                    <a:pt x="583" y="111070"/>
                    <a:pt x="0" y="109663"/>
                    <a:pt x="0" y="108196"/>
                  </a:cubicBezTo>
                  <a:lnTo>
                    <a:pt x="0" y="5531"/>
                  </a:lnTo>
                  <a:cubicBezTo>
                    <a:pt x="0" y="4064"/>
                    <a:pt x="583" y="2657"/>
                    <a:pt x="1620" y="1620"/>
                  </a:cubicBezTo>
                  <a:cubicBezTo>
                    <a:pt x="2657" y="583"/>
                    <a:pt x="4064" y="0"/>
                    <a:pt x="5531" y="0"/>
                  </a:cubicBezTo>
                  <a:close/>
                </a:path>
              </a:pathLst>
            </a:custGeom>
            <a:solidFill>
              <a:srgbClr val="663890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793581" cy="142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66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863194" y="1943605"/>
            <a:ext cx="4373792" cy="626806"/>
            <a:chOff x="0" y="0"/>
            <a:chExt cx="793581" cy="11372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93581" cy="113728"/>
            </a:xfrm>
            <a:custGeom>
              <a:avLst/>
              <a:gdLst/>
              <a:ahLst/>
              <a:cxnLst/>
              <a:rect l="l" t="t" r="r" b="b"/>
              <a:pathLst>
                <a:path w="793581" h="113728">
                  <a:moveTo>
                    <a:pt x="5531" y="0"/>
                  </a:moveTo>
                  <a:lnTo>
                    <a:pt x="788049" y="0"/>
                  </a:lnTo>
                  <a:cubicBezTo>
                    <a:pt x="789516" y="0"/>
                    <a:pt x="790923" y="583"/>
                    <a:pt x="791961" y="1620"/>
                  </a:cubicBezTo>
                  <a:cubicBezTo>
                    <a:pt x="792998" y="2657"/>
                    <a:pt x="793581" y="4064"/>
                    <a:pt x="793581" y="5531"/>
                  </a:cubicBezTo>
                  <a:lnTo>
                    <a:pt x="793581" y="108196"/>
                  </a:lnTo>
                  <a:cubicBezTo>
                    <a:pt x="793581" y="109663"/>
                    <a:pt x="792998" y="111070"/>
                    <a:pt x="791961" y="112108"/>
                  </a:cubicBezTo>
                  <a:cubicBezTo>
                    <a:pt x="790923" y="113145"/>
                    <a:pt x="789516" y="113728"/>
                    <a:pt x="788049" y="113728"/>
                  </a:cubicBezTo>
                  <a:lnTo>
                    <a:pt x="5531" y="113728"/>
                  </a:lnTo>
                  <a:cubicBezTo>
                    <a:pt x="4064" y="113728"/>
                    <a:pt x="2657" y="113145"/>
                    <a:pt x="1620" y="112108"/>
                  </a:cubicBezTo>
                  <a:cubicBezTo>
                    <a:pt x="583" y="111070"/>
                    <a:pt x="0" y="109663"/>
                    <a:pt x="0" y="108196"/>
                  </a:cubicBezTo>
                  <a:lnTo>
                    <a:pt x="0" y="5531"/>
                  </a:lnTo>
                  <a:cubicBezTo>
                    <a:pt x="0" y="4064"/>
                    <a:pt x="583" y="2657"/>
                    <a:pt x="1620" y="1620"/>
                  </a:cubicBezTo>
                  <a:cubicBezTo>
                    <a:pt x="2657" y="583"/>
                    <a:pt x="4064" y="0"/>
                    <a:pt x="5531" y="0"/>
                  </a:cubicBezTo>
                  <a:close/>
                </a:path>
              </a:pathLst>
            </a:custGeom>
            <a:solidFill>
              <a:srgbClr val="BBC5F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793581" cy="142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66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123633" y="1943605"/>
            <a:ext cx="4373792" cy="626806"/>
            <a:chOff x="0" y="0"/>
            <a:chExt cx="793581" cy="11372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93581" cy="113728"/>
            </a:xfrm>
            <a:custGeom>
              <a:avLst/>
              <a:gdLst/>
              <a:ahLst/>
              <a:cxnLst/>
              <a:rect l="l" t="t" r="r" b="b"/>
              <a:pathLst>
                <a:path w="793581" h="113728">
                  <a:moveTo>
                    <a:pt x="5531" y="0"/>
                  </a:moveTo>
                  <a:lnTo>
                    <a:pt x="788049" y="0"/>
                  </a:lnTo>
                  <a:cubicBezTo>
                    <a:pt x="789516" y="0"/>
                    <a:pt x="790923" y="583"/>
                    <a:pt x="791961" y="1620"/>
                  </a:cubicBezTo>
                  <a:cubicBezTo>
                    <a:pt x="792998" y="2657"/>
                    <a:pt x="793581" y="4064"/>
                    <a:pt x="793581" y="5531"/>
                  </a:cubicBezTo>
                  <a:lnTo>
                    <a:pt x="793581" y="108196"/>
                  </a:lnTo>
                  <a:cubicBezTo>
                    <a:pt x="793581" y="109663"/>
                    <a:pt x="792998" y="111070"/>
                    <a:pt x="791961" y="112108"/>
                  </a:cubicBezTo>
                  <a:cubicBezTo>
                    <a:pt x="790923" y="113145"/>
                    <a:pt x="789516" y="113728"/>
                    <a:pt x="788049" y="113728"/>
                  </a:cubicBezTo>
                  <a:lnTo>
                    <a:pt x="5531" y="113728"/>
                  </a:lnTo>
                  <a:cubicBezTo>
                    <a:pt x="4064" y="113728"/>
                    <a:pt x="2657" y="113145"/>
                    <a:pt x="1620" y="112108"/>
                  </a:cubicBezTo>
                  <a:cubicBezTo>
                    <a:pt x="583" y="111070"/>
                    <a:pt x="0" y="109663"/>
                    <a:pt x="0" y="108196"/>
                  </a:cubicBezTo>
                  <a:lnTo>
                    <a:pt x="0" y="5531"/>
                  </a:lnTo>
                  <a:cubicBezTo>
                    <a:pt x="0" y="4064"/>
                    <a:pt x="583" y="2657"/>
                    <a:pt x="1620" y="1620"/>
                  </a:cubicBezTo>
                  <a:cubicBezTo>
                    <a:pt x="2657" y="583"/>
                    <a:pt x="4064" y="0"/>
                    <a:pt x="5531" y="0"/>
                  </a:cubicBezTo>
                  <a:close/>
                </a:path>
              </a:pathLst>
            </a:custGeom>
            <a:solidFill>
              <a:srgbClr val="AAAAF3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793581" cy="142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66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123633" y="5835211"/>
            <a:ext cx="4373792" cy="626806"/>
            <a:chOff x="0" y="0"/>
            <a:chExt cx="793581" cy="11372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93581" cy="113728"/>
            </a:xfrm>
            <a:custGeom>
              <a:avLst/>
              <a:gdLst/>
              <a:ahLst/>
              <a:cxnLst/>
              <a:rect l="l" t="t" r="r" b="b"/>
              <a:pathLst>
                <a:path w="793581" h="113728">
                  <a:moveTo>
                    <a:pt x="5531" y="0"/>
                  </a:moveTo>
                  <a:lnTo>
                    <a:pt x="788049" y="0"/>
                  </a:lnTo>
                  <a:cubicBezTo>
                    <a:pt x="789516" y="0"/>
                    <a:pt x="790923" y="583"/>
                    <a:pt x="791961" y="1620"/>
                  </a:cubicBezTo>
                  <a:cubicBezTo>
                    <a:pt x="792998" y="2657"/>
                    <a:pt x="793581" y="4064"/>
                    <a:pt x="793581" y="5531"/>
                  </a:cubicBezTo>
                  <a:lnTo>
                    <a:pt x="793581" y="108196"/>
                  </a:lnTo>
                  <a:cubicBezTo>
                    <a:pt x="793581" y="109663"/>
                    <a:pt x="792998" y="111070"/>
                    <a:pt x="791961" y="112108"/>
                  </a:cubicBezTo>
                  <a:cubicBezTo>
                    <a:pt x="790923" y="113145"/>
                    <a:pt x="789516" y="113728"/>
                    <a:pt x="788049" y="113728"/>
                  </a:cubicBezTo>
                  <a:lnTo>
                    <a:pt x="5531" y="113728"/>
                  </a:lnTo>
                  <a:cubicBezTo>
                    <a:pt x="4064" y="113728"/>
                    <a:pt x="2657" y="113145"/>
                    <a:pt x="1620" y="112108"/>
                  </a:cubicBezTo>
                  <a:cubicBezTo>
                    <a:pt x="583" y="111070"/>
                    <a:pt x="0" y="109663"/>
                    <a:pt x="0" y="108196"/>
                  </a:cubicBezTo>
                  <a:lnTo>
                    <a:pt x="0" y="5531"/>
                  </a:lnTo>
                  <a:cubicBezTo>
                    <a:pt x="0" y="4064"/>
                    <a:pt x="583" y="2657"/>
                    <a:pt x="1620" y="1620"/>
                  </a:cubicBezTo>
                  <a:cubicBezTo>
                    <a:pt x="2657" y="583"/>
                    <a:pt x="4064" y="0"/>
                    <a:pt x="5531" y="0"/>
                  </a:cubicBezTo>
                  <a:close/>
                </a:path>
              </a:pathLst>
            </a:custGeom>
            <a:solidFill>
              <a:srgbClr val="9D8CD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793581" cy="142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66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773165" y="4039545"/>
            <a:ext cx="1097547" cy="10357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29"/>
              </a:lnSpc>
              <a:spcBef>
                <a:spcPct val="0"/>
              </a:spcBef>
            </a:pPr>
            <a:r>
              <a:rPr lang="en-US" sz="6163" b="1">
                <a:solidFill>
                  <a:srgbClr val="FFFFFF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C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773165" y="5369370"/>
            <a:ext cx="1097547" cy="10357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29"/>
              </a:lnSpc>
              <a:spcBef>
                <a:spcPct val="0"/>
              </a:spcBef>
            </a:pPr>
            <a:r>
              <a:rPr lang="en-US" sz="6163" b="1">
                <a:solidFill>
                  <a:srgbClr val="FFFFFF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O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376951" y="4039545"/>
            <a:ext cx="1097547" cy="10357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29"/>
              </a:lnSpc>
              <a:spcBef>
                <a:spcPct val="0"/>
              </a:spcBef>
            </a:pPr>
            <a:r>
              <a:rPr lang="en-US" sz="6163" b="1">
                <a:solidFill>
                  <a:srgbClr val="FFFFFF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I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376951" y="5369370"/>
            <a:ext cx="1097547" cy="10357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29"/>
              </a:lnSpc>
              <a:spcBef>
                <a:spcPct val="0"/>
              </a:spcBef>
            </a:pPr>
            <a:r>
              <a:rPr lang="en-US" sz="6163" b="1">
                <a:solidFill>
                  <a:srgbClr val="FFFFFF"/>
                </a:solidFill>
                <a:latin typeface="Telegraf Ultra-Bold"/>
                <a:ea typeface="Telegraf Ultra-Bold"/>
                <a:cs typeface="Telegraf Ultra-Bold"/>
                <a:sym typeface="Telegraf Ultra-Bold"/>
              </a:rPr>
              <a:t>M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012097" y="1912926"/>
            <a:ext cx="3710159" cy="5929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687"/>
              </a:lnSpc>
              <a:spcBef>
                <a:spcPct val="0"/>
              </a:spcBef>
            </a:pPr>
            <a:r>
              <a:rPr lang="en-US" sz="334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CONTEXT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579797" y="1912926"/>
            <a:ext cx="3710159" cy="5929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687"/>
              </a:lnSpc>
              <a:spcBef>
                <a:spcPct val="0"/>
              </a:spcBef>
            </a:pPr>
            <a:r>
              <a:rPr lang="en-US" sz="334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INTERVENTION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579797" y="5804531"/>
            <a:ext cx="3710159" cy="5929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687"/>
              </a:lnSpc>
              <a:spcBef>
                <a:spcPct val="0"/>
              </a:spcBef>
            </a:pPr>
            <a:r>
              <a:rPr lang="en-US" sz="334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MECHANISM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012097" y="5804531"/>
            <a:ext cx="3918146" cy="5929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687"/>
              </a:lnSpc>
              <a:spcBef>
                <a:spcPct val="0"/>
              </a:spcBef>
            </a:pPr>
            <a:r>
              <a:rPr lang="en-US" sz="334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OUTCOMES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591295" y="3138234"/>
            <a:ext cx="5342359" cy="18539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41"/>
              </a:lnSpc>
            </a:pPr>
            <a:r>
              <a:rPr lang="en-US" sz="2199">
                <a:solidFill>
                  <a:srgbClr val="FFFFFF"/>
                </a:solidFill>
                <a:latin typeface="Playfair Display" panose="00000500000000000000" pitchFamily="2" charset="0"/>
                <a:ea typeface="Poppins"/>
                <a:cs typeface="Poppins"/>
                <a:sym typeface="Poppins"/>
              </a:rPr>
              <a:t>– IMO targets and CII rating for maritime     decarbonization</a:t>
            </a:r>
          </a:p>
          <a:p>
            <a:pPr algn="ctr">
              <a:lnSpc>
                <a:spcPts val="2441"/>
              </a:lnSpc>
            </a:pPr>
            <a:r>
              <a:rPr lang="en-US" sz="2199">
                <a:solidFill>
                  <a:srgbClr val="FFFFFF"/>
                </a:solidFill>
                <a:latin typeface="Playfair Display" panose="00000500000000000000" pitchFamily="2" charset="0"/>
                <a:ea typeface="Poppins"/>
                <a:cs typeface="Poppins"/>
                <a:sym typeface="Poppins"/>
              </a:rPr>
              <a:t>– Coexistence of manual Noon Reports and automated IoT telemetry</a:t>
            </a:r>
          </a:p>
          <a:p>
            <a:pPr algn="ctr">
              <a:lnSpc>
                <a:spcPts val="2441"/>
              </a:lnSpc>
            </a:pPr>
            <a:r>
              <a:rPr lang="en-US" sz="2199">
                <a:solidFill>
                  <a:srgbClr val="FFFFFF"/>
                </a:solidFill>
                <a:latin typeface="Playfair Display" panose="00000500000000000000" pitchFamily="2" charset="0"/>
                <a:ea typeface="Poppins"/>
                <a:cs typeface="Poppins"/>
                <a:sym typeface="Poppins"/>
              </a:rPr>
              <a:t>– Significant impact of metocean conditions on fuel consumption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911778" y="6774262"/>
            <a:ext cx="6004622" cy="1538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43"/>
              </a:lnSpc>
            </a:pPr>
            <a:r>
              <a:rPr lang="en-US" sz="2201">
                <a:solidFill>
                  <a:srgbClr val="FFFFFF"/>
                </a:solidFill>
                <a:latin typeface="Playfair Display" panose="00000500000000000000" pitchFamily="2" charset="0"/>
                <a:ea typeface="Poppins"/>
                <a:cs typeface="Poppins"/>
                <a:sym typeface="Poppins"/>
              </a:rPr>
              <a:t>– Hydrodynamic modeling of hull and added wave resistance</a:t>
            </a:r>
          </a:p>
          <a:p>
            <a:pPr algn="ctr">
              <a:lnSpc>
                <a:spcPts val="2443"/>
              </a:lnSpc>
            </a:pPr>
            <a:r>
              <a:rPr lang="en-US" sz="2201">
                <a:solidFill>
                  <a:srgbClr val="FFFFFF"/>
                </a:solidFill>
                <a:latin typeface="Playfair Display" panose="00000500000000000000" pitchFamily="2" charset="0"/>
                <a:ea typeface="Poppins"/>
                <a:cs typeface="Poppins"/>
                <a:sym typeface="Poppins"/>
              </a:rPr>
              <a:t>– Supervised learning of non-linear variable</a:t>
            </a:r>
          </a:p>
          <a:p>
            <a:pPr algn="ctr">
              <a:lnSpc>
                <a:spcPts val="2443"/>
              </a:lnSpc>
            </a:pPr>
            <a:r>
              <a:rPr lang="en-US" sz="2201">
                <a:solidFill>
                  <a:srgbClr val="FFFFFF"/>
                </a:solidFill>
                <a:latin typeface="Playfair Display" panose="00000500000000000000" pitchFamily="2" charset="0"/>
                <a:ea typeface="Poppins"/>
                <a:cs typeface="Poppins"/>
                <a:sym typeface="Poppins"/>
              </a:rPr>
              <a:t>– Capturing temporal dependencies and powertrain inertia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862962" y="3040540"/>
            <a:ext cx="5733900" cy="2154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42"/>
              </a:lnSpc>
            </a:pPr>
            <a:r>
              <a:rPr lang="en-US" sz="2200">
                <a:solidFill>
                  <a:srgbClr val="FFFFFF"/>
                </a:solidFill>
                <a:latin typeface="Playfair Display" panose="00000500000000000000" pitchFamily="2" charset="0"/>
                <a:ea typeface="Poppins"/>
                <a:cs typeface="Poppins"/>
                <a:sym typeface="Poppins"/>
              </a:rPr>
              <a:t>-Interpretable classical ML algorithms (e.g., Regressions or simple Decision Trees)</a:t>
            </a:r>
          </a:p>
          <a:p>
            <a:pPr algn="ctr">
              <a:lnSpc>
                <a:spcPts val="2442"/>
              </a:lnSpc>
            </a:pPr>
            <a:r>
              <a:rPr lang="en-US" sz="2200">
                <a:solidFill>
                  <a:srgbClr val="FFFFFF"/>
                </a:solidFill>
                <a:latin typeface="Playfair Display" panose="00000500000000000000" pitchFamily="2" charset="0"/>
                <a:ea typeface="Poppins"/>
                <a:cs typeface="Poppins"/>
                <a:sym typeface="Poppins"/>
              </a:rPr>
              <a:t>-Advanced ML algorithms (XGBoost, Random Forest, SVM)</a:t>
            </a:r>
          </a:p>
          <a:p>
            <a:pPr algn="ctr">
              <a:lnSpc>
                <a:spcPts val="2442"/>
              </a:lnSpc>
            </a:pPr>
            <a:r>
              <a:rPr lang="en-US" sz="2200">
                <a:solidFill>
                  <a:srgbClr val="FFFFFF"/>
                </a:solidFill>
                <a:latin typeface="Playfair Display" panose="00000500000000000000" pitchFamily="2" charset="0"/>
                <a:ea typeface="Poppins"/>
                <a:cs typeface="Poppins"/>
                <a:sym typeface="Poppins"/>
              </a:rPr>
              <a:t>-Deep Learning architectures for time-series (ANN, LSTM, GRU)</a:t>
            </a:r>
          </a:p>
          <a:p>
            <a:pPr algn="ctr">
              <a:lnSpc>
                <a:spcPts val="2442"/>
              </a:lnSpc>
            </a:pPr>
            <a:endParaRPr lang="en-US" sz="2200">
              <a:solidFill>
                <a:srgbClr val="FFFFFF"/>
              </a:solidFill>
              <a:latin typeface="Playfair Display" panose="00000500000000000000" pitchFamily="2" charset="0"/>
              <a:ea typeface="Poppins"/>
              <a:cs typeface="Poppins"/>
              <a:sym typeface="Poppin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2628641" y="6675344"/>
            <a:ext cx="5192996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41"/>
              </a:lnSpc>
            </a:pPr>
            <a:r>
              <a:rPr lang="en-US" sz="2199">
                <a:solidFill>
                  <a:srgbClr val="FFFFFF"/>
                </a:solidFill>
                <a:latin typeface="Playfair Display" panose="00000500000000000000" pitchFamily="2" charset="0"/>
                <a:ea typeface="Poppins"/>
                <a:cs typeface="Poppins"/>
                <a:sym typeface="Poppins"/>
              </a:rPr>
              <a:t>– Forecasting of fuel consumption and emissions</a:t>
            </a:r>
          </a:p>
          <a:p>
            <a:pPr algn="ctr">
              <a:lnSpc>
                <a:spcPts val="2441"/>
              </a:lnSpc>
            </a:pPr>
            <a:r>
              <a:rPr lang="en-US" sz="2199">
                <a:solidFill>
                  <a:srgbClr val="FFFFFF"/>
                </a:solidFill>
                <a:latin typeface="Playfair Display" panose="00000500000000000000" pitchFamily="2" charset="0"/>
                <a:ea typeface="Poppins"/>
                <a:cs typeface="Poppins"/>
                <a:sym typeface="Poppins"/>
              </a:rPr>
              <a:t>– Estimation of main engine shaft power</a:t>
            </a:r>
          </a:p>
          <a:p>
            <a:pPr algn="ctr">
              <a:lnSpc>
                <a:spcPts val="2441"/>
              </a:lnSpc>
            </a:pPr>
            <a:r>
              <a:rPr lang="en-US" sz="2199">
                <a:solidFill>
                  <a:srgbClr val="FFFFFF"/>
                </a:solidFill>
                <a:latin typeface="Playfair Display" panose="00000500000000000000" pitchFamily="2" charset="0"/>
                <a:ea typeface="Poppins"/>
                <a:cs typeface="Poppins"/>
                <a:sym typeface="Poppins"/>
              </a:rPr>
              <a:t>– Speed Optimization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6312489" y="150666"/>
            <a:ext cx="1732152" cy="62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15"/>
              </a:lnSpc>
            </a:pPr>
            <a:r>
              <a:rPr lang="en-US" sz="1225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CANDIDATA </a:t>
            </a:r>
          </a:p>
          <a:p>
            <a:pPr algn="ctr">
              <a:lnSpc>
                <a:spcPts val="1715"/>
              </a:lnSpc>
            </a:pPr>
            <a:r>
              <a:rPr lang="en-US" sz="12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Vincenza Siani</a:t>
            </a:r>
          </a:p>
          <a:p>
            <a:pPr algn="ctr">
              <a:lnSpc>
                <a:spcPts val="1715"/>
              </a:lnSpc>
            </a:pPr>
            <a:r>
              <a:rPr lang="en-US" sz="12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M62003043</a:t>
            </a:r>
          </a:p>
        </p:txBody>
      </p:sp>
      <p:sp>
        <p:nvSpPr>
          <p:cNvPr id="33" name="Freeform 33"/>
          <p:cNvSpPr/>
          <p:nvPr/>
        </p:nvSpPr>
        <p:spPr>
          <a:xfrm>
            <a:off x="175914" y="169716"/>
            <a:ext cx="2626631" cy="850372"/>
          </a:xfrm>
          <a:custGeom>
            <a:avLst/>
            <a:gdLst/>
            <a:ahLst/>
            <a:cxnLst/>
            <a:rect l="l" t="t" r="r" b="b"/>
            <a:pathLst>
              <a:path w="2626631" h="850372">
                <a:moveTo>
                  <a:pt x="0" y="0"/>
                </a:moveTo>
                <a:lnTo>
                  <a:pt x="2626631" y="0"/>
                </a:lnTo>
                <a:lnTo>
                  <a:pt x="2626631" y="850372"/>
                </a:lnTo>
                <a:lnTo>
                  <a:pt x="0" y="8503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40" name="Group 12">
            <a:extLst>
              <a:ext uri="{FF2B5EF4-FFF2-40B4-BE49-F238E27FC236}">
                <a16:creationId xmlns:a16="http://schemas.microsoft.com/office/drawing/2014/main" id="{65F040AC-1627-D7D6-5B8B-73EE3EAD9743}"/>
              </a:ext>
            </a:extLst>
          </p:cNvPr>
          <p:cNvGrpSpPr/>
          <p:nvPr/>
        </p:nvGrpSpPr>
        <p:grpSpPr>
          <a:xfrm>
            <a:off x="6745569" y="-3849699"/>
            <a:ext cx="4598033" cy="3285504"/>
            <a:chOff x="-138635" y="-6862280"/>
            <a:chExt cx="6130710" cy="4380671"/>
          </a:xfrm>
        </p:grpSpPr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016DB6E5-37EE-24E3-6D8C-49550AFC876A}"/>
                </a:ext>
              </a:extLst>
            </p:cNvPr>
            <p:cNvSpPr/>
            <p:nvPr/>
          </p:nvSpPr>
          <p:spPr>
            <a:xfrm>
              <a:off x="-138635" y="-6862280"/>
              <a:ext cx="6130710" cy="4380671"/>
            </a:xfrm>
            <a:custGeom>
              <a:avLst/>
              <a:gdLst/>
              <a:ahLst/>
              <a:cxnLst/>
              <a:rect l="l" t="t" r="r" b="b"/>
              <a:pathLst>
                <a:path w="6130710" h="4380671">
                  <a:moveTo>
                    <a:pt x="0" y="0"/>
                  </a:moveTo>
                  <a:lnTo>
                    <a:pt x="6130710" y="0"/>
                  </a:lnTo>
                  <a:lnTo>
                    <a:pt x="6130710" y="4380671"/>
                  </a:lnTo>
                  <a:lnTo>
                    <a:pt x="0" y="4380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42" name="Freeform 14">
              <a:extLst>
                <a:ext uri="{FF2B5EF4-FFF2-40B4-BE49-F238E27FC236}">
                  <a16:creationId xmlns:a16="http://schemas.microsoft.com/office/drawing/2014/main" id="{936D5E59-8882-D702-B060-C4C18CCFA21C}"/>
                </a:ext>
              </a:extLst>
            </p:cNvPr>
            <p:cNvSpPr/>
            <p:nvPr/>
          </p:nvSpPr>
          <p:spPr>
            <a:xfrm>
              <a:off x="938285" y="-6305415"/>
              <a:ext cx="2640053" cy="2308846"/>
            </a:xfrm>
            <a:custGeom>
              <a:avLst/>
              <a:gdLst/>
              <a:ahLst/>
              <a:cxnLst/>
              <a:rect l="l" t="t" r="r" b="b"/>
              <a:pathLst>
                <a:path w="2640053" h="2308846">
                  <a:moveTo>
                    <a:pt x="0" y="0"/>
                  </a:moveTo>
                  <a:lnTo>
                    <a:pt x="2640053" y="0"/>
                  </a:lnTo>
                  <a:lnTo>
                    <a:pt x="2640053" y="2308846"/>
                  </a:lnTo>
                  <a:lnTo>
                    <a:pt x="0" y="23088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43" name="Freeform 15">
              <a:extLst>
                <a:ext uri="{FF2B5EF4-FFF2-40B4-BE49-F238E27FC236}">
                  <a16:creationId xmlns:a16="http://schemas.microsoft.com/office/drawing/2014/main" id="{E716E71F-8CA7-6E15-4919-A5A94AFA5D22}"/>
                </a:ext>
              </a:extLst>
            </p:cNvPr>
            <p:cNvSpPr/>
            <p:nvPr/>
          </p:nvSpPr>
          <p:spPr>
            <a:xfrm rot="16914386">
              <a:off x="2816637" y="-6117735"/>
              <a:ext cx="1678880" cy="1933488"/>
            </a:xfrm>
            <a:custGeom>
              <a:avLst/>
              <a:gdLst/>
              <a:ahLst/>
              <a:cxnLst/>
              <a:rect l="l" t="t" r="r" b="b"/>
              <a:pathLst>
                <a:path w="1678879" h="1933488">
                  <a:moveTo>
                    <a:pt x="0" y="0"/>
                  </a:moveTo>
                  <a:lnTo>
                    <a:pt x="1678879" y="0"/>
                  </a:lnTo>
                  <a:lnTo>
                    <a:pt x="1678879" y="1933488"/>
                  </a:lnTo>
                  <a:lnTo>
                    <a:pt x="0" y="1933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172845">
            <a:off x="6368285" y="-727739"/>
            <a:ext cx="14678668" cy="7392711"/>
          </a:xfrm>
          <a:custGeom>
            <a:avLst/>
            <a:gdLst/>
            <a:ahLst/>
            <a:cxnLst/>
            <a:rect l="l" t="t" r="r" b="b"/>
            <a:pathLst>
              <a:path w="14678668" h="7392711">
                <a:moveTo>
                  <a:pt x="0" y="0"/>
                </a:moveTo>
                <a:lnTo>
                  <a:pt x="14678668" y="0"/>
                </a:lnTo>
                <a:lnTo>
                  <a:pt x="14678668" y="7392711"/>
                </a:lnTo>
                <a:lnTo>
                  <a:pt x="0" y="73927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 rot="2172845">
            <a:off x="-3843661" y="7384212"/>
            <a:ext cx="14678668" cy="7392711"/>
          </a:xfrm>
          <a:custGeom>
            <a:avLst/>
            <a:gdLst/>
            <a:ahLst/>
            <a:cxnLst/>
            <a:rect l="l" t="t" r="r" b="b"/>
            <a:pathLst>
              <a:path w="14678668" h="7392711">
                <a:moveTo>
                  <a:pt x="0" y="0"/>
                </a:moveTo>
                <a:lnTo>
                  <a:pt x="14678668" y="0"/>
                </a:lnTo>
                <a:lnTo>
                  <a:pt x="14678668" y="7392711"/>
                </a:lnTo>
                <a:lnTo>
                  <a:pt x="0" y="73927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4982201" y="-1254149"/>
            <a:ext cx="8721156" cy="8229600"/>
          </a:xfrm>
          <a:custGeom>
            <a:avLst/>
            <a:gdLst/>
            <a:ahLst/>
            <a:cxnLst/>
            <a:rect l="l" t="t" r="r" b="b"/>
            <a:pathLst>
              <a:path w="8721156" h="8229600">
                <a:moveTo>
                  <a:pt x="0" y="0"/>
                </a:moveTo>
                <a:lnTo>
                  <a:pt x="8721156" y="0"/>
                </a:lnTo>
                <a:lnTo>
                  <a:pt x="872115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5" name="Group 5"/>
          <p:cNvGrpSpPr/>
          <p:nvPr/>
        </p:nvGrpSpPr>
        <p:grpSpPr>
          <a:xfrm>
            <a:off x="2802545" y="5036035"/>
            <a:ext cx="4867931" cy="3164165"/>
            <a:chOff x="0" y="0"/>
            <a:chExt cx="1534380" cy="9973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34380" cy="997350"/>
            </a:xfrm>
            <a:custGeom>
              <a:avLst/>
              <a:gdLst/>
              <a:ahLst/>
              <a:cxnLst/>
              <a:rect l="l" t="t" r="r" b="b"/>
              <a:pathLst>
                <a:path w="1534380" h="997350">
                  <a:moveTo>
                    <a:pt x="0" y="0"/>
                  </a:moveTo>
                  <a:lnTo>
                    <a:pt x="1534380" y="0"/>
                  </a:lnTo>
                  <a:lnTo>
                    <a:pt x="1534380" y="997350"/>
                  </a:lnTo>
                  <a:lnTo>
                    <a:pt x="0" y="997350"/>
                  </a:lnTo>
                  <a:close/>
                </a:path>
              </a:pathLst>
            </a:custGeom>
            <a:gradFill rotWithShape="1">
              <a:gsLst>
                <a:gs pos="0">
                  <a:srgbClr val="31AFCB">
                    <a:alpha val="40500"/>
                  </a:srgbClr>
                </a:gs>
                <a:gs pos="50000">
                  <a:srgbClr val="4071EE">
                    <a:alpha val="84000"/>
                  </a:srgbClr>
                </a:gs>
                <a:gs pos="100000">
                  <a:srgbClr val="000F70">
                    <a:alpha val="22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534380" cy="1025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287291" y="5038188"/>
            <a:ext cx="5025198" cy="3162011"/>
            <a:chOff x="0" y="0"/>
            <a:chExt cx="1486147" cy="9351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86147" cy="935130"/>
            </a:xfrm>
            <a:custGeom>
              <a:avLst/>
              <a:gdLst/>
              <a:ahLst/>
              <a:cxnLst/>
              <a:rect l="l" t="t" r="r" b="b"/>
              <a:pathLst>
                <a:path w="1486147" h="935130">
                  <a:moveTo>
                    <a:pt x="0" y="0"/>
                  </a:moveTo>
                  <a:lnTo>
                    <a:pt x="1486147" y="0"/>
                  </a:lnTo>
                  <a:lnTo>
                    <a:pt x="1486147" y="935130"/>
                  </a:lnTo>
                  <a:lnTo>
                    <a:pt x="0" y="935130"/>
                  </a:lnTo>
                  <a:close/>
                </a:path>
              </a:pathLst>
            </a:custGeom>
            <a:gradFill rotWithShape="1">
              <a:gsLst>
                <a:gs pos="0">
                  <a:srgbClr val="31AFCB">
                    <a:alpha val="40500"/>
                  </a:srgbClr>
                </a:gs>
                <a:gs pos="50000">
                  <a:srgbClr val="4071EE">
                    <a:alpha val="84000"/>
                  </a:srgbClr>
                </a:gs>
                <a:gs pos="100000">
                  <a:srgbClr val="000F70">
                    <a:alpha val="22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486147" cy="9637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75914" y="169716"/>
            <a:ext cx="2626631" cy="850372"/>
          </a:xfrm>
          <a:custGeom>
            <a:avLst/>
            <a:gdLst/>
            <a:ahLst/>
            <a:cxnLst/>
            <a:rect l="l" t="t" r="r" b="b"/>
            <a:pathLst>
              <a:path w="2626631" h="850372">
                <a:moveTo>
                  <a:pt x="0" y="0"/>
                </a:moveTo>
                <a:lnTo>
                  <a:pt x="2626631" y="0"/>
                </a:lnTo>
                <a:lnTo>
                  <a:pt x="2626631" y="850372"/>
                </a:lnTo>
                <a:lnTo>
                  <a:pt x="0" y="8503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12" name="Group 12"/>
          <p:cNvGrpSpPr/>
          <p:nvPr/>
        </p:nvGrpSpPr>
        <p:grpSpPr>
          <a:xfrm>
            <a:off x="6849545" y="1297012"/>
            <a:ext cx="4598033" cy="3285503"/>
            <a:chOff x="0" y="0"/>
            <a:chExt cx="6130710" cy="438067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130710" cy="4380671"/>
            </a:xfrm>
            <a:custGeom>
              <a:avLst/>
              <a:gdLst/>
              <a:ahLst/>
              <a:cxnLst/>
              <a:rect l="l" t="t" r="r" b="b"/>
              <a:pathLst>
                <a:path w="6130710" h="4380671">
                  <a:moveTo>
                    <a:pt x="0" y="0"/>
                  </a:moveTo>
                  <a:lnTo>
                    <a:pt x="6130710" y="0"/>
                  </a:lnTo>
                  <a:lnTo>
                    <a:pt x="6130710" y="4380671"/>
                  </a:lnTo>
                  <a:lnTo>
                    <a:pt x="0" y="4380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1076920" y="556866"/>
              <a:ext cx="2640053" cy="2308846"/>
            </a:xfrm>
            <a:custGeom>
              <a:avLst/>
              <a:gdLst/>
              <a:ahLst/>
              <a:cxnLst/>
              <a:rect l="l" t="t" r="r" b="b"/>
              <a:pathLst>
                <a:path w="2640053" h="2308846">
                  <a:moveTo>
                    <a:pt x="0" y="0"/>
                  </a:moveTo>
                  <a:lnTo>
                    <a:pt x="2640053" y="0"/>
                  </a:lnTo>
                  <a:lnTo>
                    <a:pt x="2640053" y="2308846"/>
                  </a:lnTo>
                  <a:lnTo>
                    <a:pt x="0" y="23088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  <p:sp>
          <p:nvSpPr>
            <p:cNvPr id="15" name="Freeform 15"/>
            <p:cNvSpPr/>
            <p:nvPr/>
          </p:nvSpPr>
          <p:spPr>
            <a:xfrm rot="-4685614">
              <a:off x="2955272" y="744545"/>
              <a:ext cx="1678879" cy="1933488"/>
            </a:xfrm>
            <a:custGeom>
              <a:avLst/>
              <a:gdLst/>
              <a:ahLst/>
              <a:cxnLst/>
              <a:rect l="l" t="t" r="r" b="b"/>
              <a:pathLst>
                <a:path w="1678879" h="1933488">
                  <a:moveTo>
                    <a:pt x="0" y="0"/>
                  </a:moveTo>
                  <a:lnTo>
                    <a:pt x="1678879" y="0"/>
                  </a:lnTo>
                  <a:lnTo>
                    <a:pt x="1678879" y="1933488"/>
                  </a:lnTo>
                  <a:lnTo>
                    <a:pt x="0" y="1933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16" name="Freeform 16"/>
          <p:cNvSpPr/>
          <p:nvPr/>
        </p:nvSpPr>
        <p:spPr>
          <a:xfrm>
            <a:off x="8033690" y="6239050"/>
            <a:ext cx="2890387" cy="788287"/>
          </a:xfrm>
          <a:custGeom>
            <a:avLst/>
            <a:gdLst/>
            <a:ahLst/>
            <a:cxnLst/>
            <a:rect l="l" t="t" r="r" b="b"/>
            <a:pathLst>
              <a:path w="2890387" h="788287">
                <a:moveTo>
                  <a:pt x="0" y="0"/>
                </a:moveTo>
                <a:lnTo>
                  <a:pt x="2890387" y="0"/>
                </a:lnTo>
                <a:lnTo>
                  <a:pt x="2890387" y="788287"/>
                </a:lnTo>
                <a:lnTo>
                  <a:pt x="0" y="7882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7" name="TextBox 17"/>
          <p:cNvSpPr txBox="1"/>
          <p:nvPr/>
        </p:nvSpPr>
        <p:spPr>
          <a:xfrm>
            <a:off x="12144600" y="5105777"/>
            <a:ext cx="3340855" cy="433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41"/>
              </a:lnSpc>
            </a:pPr>
            <a:r>
              <a:rPr lang="en-US" sz="2672" b="1">
                <a:solidFill>
                  <a:srgbClr val="36E9FD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Black Box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121121" y="5034218"/>
            <a:ext cx="2230779" cy="432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08"/>
              </a:lnSpc>
            </a:pPr>
            <a:r>
              <a:rPr lang="en-US" sz="2648" b="1">
                <a:solidFill>
                  <a:srgbClr val="36E9FD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White Box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024421" y="5539037"/>
            <a:ext cx="4455858" cy="2815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08"/>
              </a:lnSpc>
            </a:pPr>
            <a:r>
              <a:rPr lang="en-US" sz="2648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-Mathematical formulas that are easy to understand</a:t>
            </a:r>
          </a:p>
          <a:p>
            <a:pPr algn="ctr">
              <a:lnSpc>
                <a:spcPts val="3708"/>
              </a:lnSpc>
            </a:pPr>
            <a:r>
              <a:rPr lang="en-US" sz="2648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-Interpretability</a:t>
            </a:r>
          </a:p>
          <a:p>
            <a:pPr algn="ctr">
              <a:lnSpc>
                <a:spcPts val="3708"/>
              </a:lnSpc>
            </a:pPr>
            <a:r>
              <a:rPr lang="en-US" sz="2648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-They are unable to capture non-linear relationships</a:t>
            </a:r>
          </a:p>
          <a:p>
            <a:pPr algn="ctr">
              <a:lnSpc>
                <a:spcPts val="3708"/>
              </a:lnSpc>
            </a:pPr>
            <a:endParaRPr lang="en-US" sz="2648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1447578" y="5660417"/>
            <a:ext cx="4704624" cy="2364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40"/>
              </a:lnSpc>
            </a:pPr>
            <a:r>
              <a:rPr lang="en-US" sz="2671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-High accuracy </a:t>
            </a:r>
          </a:p>
          <a:p>
            <a:pPr algn="ctr">
              <a:lnSpc>
                <a:spcPts val="3740"/>
              </a:lnSpc>
            </a:pPr>
            <a:r>
              <a:rPr lang="en-US" sz="2671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-Ideal for </a:t>
            </a:r>
            <a:r>
              <a:rPr lang="en-US" sz="2671" err="1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analysing</a:t>
            </a:r>
            <a:r>
              <a:rPr lang="en-US" sz="2671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time series</a:t>
            </a:r>
          </a:p>
          <a:p>
            <a:pPr algn="ctr">
              <a:lnSpc>
                <a:spcPts val="3740"/>
              </a:lnSpc>
            </a:pPr>
            <a:r>
              <a:rPr lang="en-US" sz="2671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-Additional tools are required to interpret the results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312489" y="150666"/>
            <a:ext cx="1732152" cy="62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15"/>
              </a:lnSpc>
            </a:pPr>
            <a:r>
              <a:rPr lang="en-US" sz="1225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CANDIDATA </a:t>
            </a:r>
          </a:p>
          <a:p>
            <a:pPr algn="ctr">
              <a:lnSpc>
                <a:spcPts val="1715"/>
              </a:lnSpc>
            </a:pPr>
            <a:r>
              <a:rPr lang="en-US" sz="12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Vincenza Siani</a:t>
            </a:r>
          </a:p>
          <a:p>
            <a:pPr algn="ctr">
              <a:lnSpc>
                <a:spcPts val="1715"/>
              </a:lnSpc>
            </a:pPr>
            <a:r>
              <a:rPr lang="en-US" sz="12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M62003043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465150" y="279635"/>
            <a:ext cx="11357700" cy="58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4000" b="1">
                <a:solidFill>
                  <a:srgbClr val="36E9FD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LITERATURE REVIEW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9" grpId="0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9">
            <a:extLst>
              <a:ext uri="{FF2B5EF4-FFF2-40B4-BE49-F238E27FC236}">
                <a16:creationId xmlns:a16="http://schemas.microsoft.com/office/drawing/2014/main" id="{08CEFDE9-BDF8-5230-47EC-859A19EEE788}"/>
              </a:ext>
            </a:extLst>
          </p:cNvPr>
          <p:cNvSpPr/>
          <p:nvPr/>
        </p:nvSpPr>
        <p:spPr>
          <a:xfrm>
            <a:off x="3728487" y="6158906"/>
            <a:ext cx="5017426" cy="3099394"/>
          </a:xfrm>
          <a:custGeom>
            <a:avLst/>
            <a:gdLst/>
            <a:ahLst/>
            <a:cxnLst/>
            <a:rect l="l" t="t" r="r" b="b"/>
            <a:pathLst>
              <a:path w="1464010" h="1070630">
                <a:moveTo>
                  <a:pt x="93162" y="0"/>
                </a:moveTo>
                <a:lnTo>
                  <a:pt x="1370848" y="0"/>
                </a:lnTo>
                <a:cubicBezTo>
                  <a:pt x="1395556" y="0"/>
                  <a:pt x="1419252" y="9815"/>
                  <a:pt x="1436723" y="27286"/>
                </a:cubicBezTo>
                <a:cubicBezTo>
                  <a:pt x="1454195" y="44758"/>
                  <a:pt x="1464010" y="68454"/>
                  <a:pt x="1464010" y="93162"/>
                </a:cubicBezTo>
                <a:lnTo>
                  <a:pt x="1464010" y="977468"/>
                </a:lnTo>
                <a:cubicBezTo>
                  <a:pt x="1464010" y="1002176"/>
                  <a:pt x="1454195" y="1025872"/>
                  <a:pt x="1436723" y="1043343"/>
                </a:cubicBezTo>
                <a:cubicBezTo>
                  <a:pt x="1419252" y="1060815"/>
                  <a:pt x="1395556" y="1070630"/>
                  <a:pt x="1370848" y="1070630"/>
                </a:cubicBezTo>
                <a:lnTo>
                  <a:pt x="93162" y="1070630"/>
                </a:lnTo>
                <a:cubicBezTo>
                  <a:pt x="68454" y="1070630"/>
                  <a:pt x="44758" y="1060815"/>
                  <a:pt x="27286" y="1043343"/>
                </a:cubicBezTo>
                <a:cubicBezTo>
                  <a:pt x="9815" y="1025872"/>
                  <a:pt x="0" y="1002176"/>
                  <a:pt x="0" y="977468"/>
                </a:cubicBezTo>
                <a:lnTo>
                  <a:pt x="0" y="93162"/>
                </a:lnTo>
                <a:cubicBezTo>
                  <a:pt x="0" y="68454"/>
                  <a:pt x="9815" y="44758"/>
                  <a:pt x="27286" y="27286"/>
                </a:cubicBezTo>
                <a:cubicBezTo>
                  <a:pt x="44758" y="9815"/>
                  <a:pt x="68454" y="0"/>
                  <a:pt x="93162" y="0"/>
                </a:cubicBezTo>
                <a:close/>
              </a:path>
            </a:pathLst>
          </a:custGeom>
          <a:solidFill>
            <a:srgbClr val="ACB8C7"/>
          </a:solidFill>
        </p:spPr>
        <p:txBody>
          <a:bodyPr/>
          <a:lstStyle/>
          <a:p>
            <a:endParaRPr lang="it-IT"/>
          </a:p>
        </p:txBody>
      </p:sp>
      <p:sp>
        <p:nvSpPr>
          <p:cNvPr id="2" name="Freeform 2"/>
          <p:cNvSpPr/>
          <p:nvPr/>
        </p:nvSpPr>
        <p:spPr>
          <a:xfrm rot="2172845">
            <a:off x="6368285" y="-727739"/>
            <a:ext cx="14678668" cy="7392711"/>
          </a:xfrm>
          <a:custGeom>
            <a:avLst/>
            <a:gdLst/>
            <a:ahLst/>
            <a:cxnLst/>
            <a:rect l="l" t="t" r="r" b="b"/>
            <a:pathLst>
              <a:path w="14678668" h="7392711">
                <a:moveTo>
                  <a:pt x="0" y="0"/>
                </a:moveTo>
                <a:lnTo>
                  <a:pt x="14678668" y="0"/>
                </a:lnTo>
                <a:lnTo>
                  <a:pt x="14678668" y="7392711"/>
                </a:lnTo>
                <a:lnTo>
                  <a:pt x="0" y="73927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 rot="2172845">
            <a:off x="-3843661" y="7384212"/>
            <a:ext cx="14678668" cy="7392711"/>
          </a:xfrm>
          <a:custGeom>
            <a:avLst/>
            <a:gdLst/>
            <a:ahLst/>
            <a:cxnLst/>
            <a:rect l="l" t="t" r="r" b="b"/>
            <a:pathLst>
              <a:path w="14678668" h="7392711">
                <a:moveTo>
                  <a:pt x="0" y="0"/>
                </a:moveTo>
                <a:lnTo>
                  <a:pt x="14678668" y="0"/>
                </a:lnTo>
                <a:lnTo>
                  <a:pt x="14678668" y="7392711"/>
                </a:lnTo>
                <a:lnTo>
                  <a:pt x="0" y="73927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175914" y="169716"/>
            <a:ext cx="2626631" cy="850372"/>
          </a:xfrm>
          <a:custGeom>
            <a:avLst/>
            <a:gdLst/>
            <a:ahLst/>
            <a:cxnLst/>
            <a:rect l="l" t="t" r="r" b="b"/>
            <a:pathLst>
              <a:path w="2626631" h="850372">
                <a:moveTo>
                  <a:pt x="0" y="0"/>
                </a:moveTo>
                <a:lnTo>
                  <a:pt x="2626631" y="0"/>
                </a:lnTo>
                <a:lnTo>
                  <a:pt x="2626631" y="850372"/>
                </a:lnTo>
                <a:lnTo>
                  <a:pt x="0" y="8503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8" name="Group 8"/>
          <p:cNvGrpSpPr/>
          <p:nvPr/>
        </p:nvGrpSpPr>
        <p:grpSpPr>
          <a:xfrm>
            <a:off x="9774901" y="6158906"/>
            <a:ext cx="5017426" cy="3099394"/>
            <a:chOff x="0" y="0"/>
            <a:chExt cx="1464010" cy="10706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64010" cy="1070630"/>
            </a:xfrm>
            <a:custGeom>
              <a:avLst/>
              <a:gdLst/>
              <a:ahLst/>
              <a:cxnLst/>
              <a:rect l="l" t="t" r="r" b="b"/>
              <a:pathLst>
                <a:path w="1464010" h="1070630">
                  <a:moveTo>
                    <a:pt x="93162" y="0"/>
                  </a:moveTo>
                  <a:lnTo>
                    <a:pt x="1370848" y="0"/>
                  </a:lnTo>
                  <a:cubicBezTo>
                    <a:pt x="1395556" y="0"/>
                    <a:pt x="1419252" y="9815"/>
                    <a:pt x="1436723" y="27286"/>
                  </a:cubicBezTo>
                  <a:cubicBezTo>
                    <a:pt x="1454195" y="44758"/>
                    <a:pt x="1464010" y="68454"/>
                    <a:pt x="1464010" y="93162"/>
                  </a:cubicBezTo>
                  <a:lnTo>
                    <a:pt x="1464010" y="977468"/>
                  </a:lnTo>
                  <a:cubicBezTo>
                    <a:pt x="1464010" y="1002176"/>
                    <a:pt x="1454195" y="1025872"/>
                    <a:pt x="1436723" y="1043343"/>
                  </a:cubicBezTo>
                  <a:cubicBezTo>
                    <a:pt x="1419252" y="1060815"/>
                    <a:pt x="1395556" y="1070630"/>
                    <a:pt x="1370848" y="1070630"/>
                  </a:cubicBezTo>
                  <a:lnTo>
                    <a:pt x="93162" y="1070630"/>
                  </a:lnTo>
                  <a:cubicBezTo>
                    <a:pt x="68454" y="1070630"/>
                    <a:pt x="44758" y="1060815"/>
                    <a:pt x="27286" y="1043343"/>
                  </a:cubicBezTo>
                  <a:cubicBezTo>
                    <a:pt x="9815" y="1025872"/>
                    <a:pt x="0" y="1002176"/>
                    <a:pt x="0" y="977468"/>
                  </a:cubicBezTo>
                  <a:lnTo>
                    <a:pt x="0" y="93162"/>
                  </a:lnTo>
                  <a:cubicBezTo>
                    <a:pt x="0" y="68454"/>
                    <a:pt x="9815" y="44758"/>
                    <a:pt x="27286" y="27286"/>
                  </a:cubicBezTo>
                  <a:cubicBezTo>
                    <a:pt x="44758" y="9815"/>
                    <a:pt x="68454" y="0"/>
                    <a:pt x="93162" y="0"/>
                  </a:cubicBezTo>
                  <a:close/>
                </a:path>
              </a:pathLst>
            </a:custGeom>
            <a:solidFill>
              <a:srgbClr val="ACB8C7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464010" cy="1108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1366701" y="6385123"/>
            <a:ext cx="1494509" cy="1568664"/>
          </a:xfrm>
          <a:custGeom>
            <a:avLst/>
            <a:gdLst/>
            <a:ahLst/>
            <a:cxnLst/>
            <a:rect l="l" t="t" r="r" b="b"/>
            <a:pathLst>
              <a:path w="1494509" h="1568664">
                <a:moveTo>
                  <a:pt x="0" y="0"/>
                </a:moveTo>
                <a:lnTo>
                  <a:pt x="1494508" y="0"/>
                </a:lnTo>
                <a:lnTo>
                  <a:pt x="1494508" y="1568664"/>
                </a:lnTo>
                <a:lnTo>
                  <a:pt x="0" y="15686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2" name="Freeform 12"/>
          <p:cNvSpPr/>
          <p:nvPr/>
        </p:nvSpPr>
        <p:spPr>
          <a:xfrm>
            <a:off x="5555374" y="6397495"/>
            <a:ext cx="1410708" cy="1410708"/>
          </a:xfrm>
          <a:custGeom>
            <a:avLst/>
            <a:gdLst/>
            <a:ahLst/>
            <a:cxnLst/>
            <a:rect l="l" t="t" r="r" b="b"/>
            <a:pathLst>
              <a:path w="1410708" h="1410708">
                <a:moveTo>
                  <a:pt x="0" y="0"/>
                </a:moveTo>
                <a:lnTo>
                  <a:pt x="1410708" y="0"/>
                </a:lnTo>
                <a:lnTo>
                  <a:pt x="1410708" y="1410708"/>
                </a:lnTo>
                <a:lnTo>
                  <a:pt x="0" y="14107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3" name="TextBox 13"/>
          <p:cNvSpPr txBox="1"/>
          <p:nvPr/>
        </p:nvSpPr>
        <p:spPr>
          <a:xfrm>
            <a:off x="5442723" y="4796368"/>
            <a:ext cx="7402553" cy="676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9"/>
              </a:lnSpc>
            </a:pPr>
            <a:r>
              <a:rPr lang="en-US" sz="32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present thesis proposes:</a:t>
            </a:r>
          </a:p>
          <a:p>
            <a:pPr algn="ctr">
              <a:lnSpc>
                <a:spcPts val="2649"/>
              </a:lnSpc>
            </a:pPr>
            <a:endParaRPr lang="en-US" sz="32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6312489" y="150666"/>
            <a:ext cx="1732152" cy="62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15"/>
              </a:lnSpc>
            </a:pPr>
            <a:r>
              <a:rPr lang="en-US" sz="1225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CANDIDATA </a:t>
            </a:r>
          </a:p>
          <a:p>
            <a:pPr algn="ctr">
              <a:lnSpc>
                <a:spcPts val="1715"/>
              </a:lnSpc>
            </a:pPr>
            <a:r>
              <a:rPr lang="en-US" sz="12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Vincenza Siani</a:t>
            </a:r>
          </a:p>
          <a:p>
            <a:pPr algn="ctr">
              <a:lnSpc>
                <a:spcPts val="1715"/>
              </a:lnSpc>
            </a:pPr>
            <a:r>
              <a:rPr lang="en-US" sz="12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M62003043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465150" y="279635"/>
            <a:ext cx="11357700" cy="58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4000" b="1">
                <a:solidFill>
                  <a:srgbClr val="36E9FD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PROBLEM STATEMENT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282573" y="8293905"/>
            <a:ext cx="3909253" cy="294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4"/>
              </a:lnSpc>
            </a:pPr>
            <a:r>
              <a:rPr lang="en-US" sz="3200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COMPARISON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977760" y="2197041"/>
            <a:ext cx="8564474" cy="3427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49"/>
              </a:lnSpc>
            </a:pPr>
            <a:r>
              <a:rPr lang="en-US" sz="3200" b="1">
                <a:solidFill>
                  <a:srgbClr val="36E9FD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methodological and operational gaps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29920" y="2863034"/>
            <a:ext cx="16628157" cy="100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9"/>
              </a:lnSpc>
            </a:pPr>
            <a:r>
              <a:rPr lang="en-US" sz="32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When planning a future trip the business decision-maker has access to static data:</a:t>
            </a:r>
          </a:p>
          <a:p>
            <a:pPr algn="ctr">
              <a:lnSpc>
                <a:spcPts val="2649"/>
              </a:lnSpc>
            </a:pPr>
            <a:r>
              <a:rPr lang="en-US" sz="32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data-driven models produce flat, unrealistic forecasts﻿</a:t>
            </a:r>
          </a:p>
          <a:p>
            <a:pPr algn="ctr">
              <a:lnSpc>
                <a:spcPts val="2649"/>
              </a:lnSpc>
            </a:pPr>
            <a:endParaRPr lang="en-US" sz="32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1" name="TextBox 19">
            <a:extLst>
              <a:ext uri="{FF2B5EF4-FFF2-40B4-BE49-F238E27FC236}">
                <a16:creationId xmlns:a16="http://schemas.microsoft.com/office/drawing/2014/main" id="{642FC9FA-4C7A-7334-7EC8-468BAA715CB7}"/>
              </a:ext>
            </a:extLst>
          </p:cNvPr>
          <p:cNvSpPr txBox="1"/>
          <p:nvPr/>
        </p:nvSpPr>
        <p:spPr>
          <a:xfrm>
            <a:off x="9323837" y="8204853"/>
            <a:ext cx="5839963" cy="798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19"/>
              </a:lnSpc>
            </a:pPr>
            <a:r>
              <a:rPr lang="en-US" sz="3200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OVERCOMING THE 
</a:t>
            </a:r>
          </a:p>
          <a:p>
            <a:pPr algn="ctr">
              <a:lnSpc>
                <a:spcPts val="2019"/>
              </a:lnSpc>
            </a:pPr>
            <a:r>
              <a:rPr lang="en-US" sz="3200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STATIC CONSTRAINTS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11" grpId="0" animBg="1"/>
      <p:bldP spid="12" grpId="0" animBg="1"/>
      <p:bldP spid="13" grpId="0"/>
      <p:bldP spid="16" grpId="0"/>
      <p:bldP spid="18" grpId="0"/>
      <p:bldP spid="19" grpId="0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42FFD7-6B98-500A-FF0F-32823F49A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9">
            <a:extLst>
              <a:ext uri="{FF2B5EF4-FFF2-40B4-BE49-F238E27FC236}">
                <a16:creationId xmlns:a16="http://schemas.microsoft.com/office/drawing/2014/main" id="{5592D3B1-C807-42A4-5BCB-761B4A68AE12}"/>
              </a:ext>
            </a:extLst>
          </p:cNvPr>
          <p:cNvSpPr/>
          <p:nvPr/>
        </p:nvSpPr>
        <p:spPr>
          <a:xfrm>
            <a:off x="3728487" y="5281923"/>
            <a:ext cx="5017426" cy="3976377"/>
          </a:xfrm>
          <a:custGeom>
            <a:avLst/>
            <a:gdLst/>
            <a:ahLst/>
            <a:cxnLst/>
            <a:rect l="l" t="t" r="r" b="b"/>
            <a:pathLst>
              <a:path w="1464010" h="1070630">
                <a:moveTo>
                  <a:pt x="93162" y="0"/>
                </a:moveTo>
                <a:lnTo>
                  <a:pt x="1370848" y="0"/>
                </a:lnTo>
                <a:cubicBezTo>
                  <a:pt x="1395556" y="0"/>
                  <a:pt x="1419252" y="9815"/>
                  <a:pt x="1436723" y="27286"/>
                </a:cubicBezTo>
                <a:cubicBezTo>
                  <a:pt x="1454195" y="44758"/>
                  <a:pt x="1464010" y="68454"/>
                  <a:pt x="1464010" y="93162"/>
                </a:cubicBezTo>
                <a:lnTo>
                  <a:pt x="1464010" y="977468"/>
                </a:lnTo>
                <a:cubicBezTo>
                  <a:pt x="1464010" y="1002176"/>
                  <a:pt x="1454195" y="1025872"/>
                  <a:pt x="1436723" y="1043343"/>
                </a:cubicBezTo>
                <a:cubicBezTo>
                  <a:pt x="1419252" y="1060815"/>
                  <a:pt x="1395556" y="1070630"/>
                  <a:pt x="1370848" y="1070630"/>
                </a:cubicBezTo>
                <a:lnTo>
                  <a:pt x="93162" y="1070630"/>
                </a:lnTo>
                <a:cubicBezTo>
                  <a:pt x="68454" y="1070630"/>
                  <a:pt x="44758" y="1060815"/>
                  <a:pt x="27286" y="1043343"/>
                </a:cubicBezTo>
                <a:cubicBezTo>
                  <a:pt x="9815" y="1025872"/>
                  <a:pt x="0" y="1002176"/>
                  <a:pt x="0" y="977468"/>
                </a:cubicBezTo>
                <a:lnTo>
                  <a:pt x="0" y="93162"/>
                </a:lnTo>
                <a:cubicBezTo>
                  <a:pt x="0" y="68454"/>
                  <a:pt x="9815" y="44758"/>
                  <a:pt x="27286" y="27286"/>
                </a:cubicBezTo>
                <a:cubicBezTo>
                  <a:pt x="44758" y="9815"/>
                  <a:pt x="68454" y="0"/>
                  <a:pt x="93162" y="0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40000"/>
                  <a:lumOff val="60000"/>
                </a:schemeClr>
              </a:gs>
              <a:gs pos="45000">
                <a:schemeClr val="tx2">
                  <a:lumMod val="75000"/>
                </a:schemeClr>
              </a:gs>
              <a:gs pos="100000">
                <a:schemeClr val="tx2">
                  <a:lumMod val="75000"/>
                </a:schemeClr>
              </a:gs>
            </a:gsLst>
            <a:lin ang="5400000" scaled="1"/>
          </a:gradFill>
        </p:spPr>
        <p:txBody>
          <a:bodyPr/>
          <a:lstStyle/>
          <a:p>
            <a:pPr algn="ctr">
              <a:lnSpc>
                <a:spcPts val="2084"/>
              </a:lnSpc>
            </a:pPr>
            <a:endParaRPr lang="en-GB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950BE88A-3449-7E9F-252B-70E0BB911FD4}"/>
              </a:ext>
            </a:extLst>
          </p:cNvPr>
          <p:cNvSpPr/>
          <p:nvPr/>
        </p:nvSpPr>
        <p:spPr>
          <a:xfrm rot="2172845">
            <a:off x="6368285" y="-727739"/>
            <a:ext cx="14678668" cy="7392711"/>
          </a:xfrm>
          <a:custGeom>
            <a:avLst/>
            <a:gdLst/>
            <a:ahLst/>
            <a:cxnLst/>
            <a:rect l="l" t="t" r="r" b="b"/>
            <a:pathLst>
              <a:path w="14678668" h="7392711">
                <a:moveTo>
                  <a:pt x="0" y="0"/>
                </a:moveTo>
                <a:lnTo>
                  <a:pt x="14678668" y="0"/>
                </a:lnTo>
                <a:lnTo>
                  <a:pt x="14678668" y="7392711"/>
                </a:lnTo>
                <a:lnTo>
                  <a:pt x="0" y="73927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10795F6-C882-8CD7-FE6C-33CB9D925F3E}"/>
              </a:ext>
            </a:extLst>
          </p:cNvPr>
          <p:cNvSpPr/>
          <p:nvPr/>
        </p:nvSpPr>
        <p:spPr>
          <a:xfrm rot="2172845">
            <a:off x="-3843661" y="7384212"/>
            <a:ext cx="14678668" cy="7392711"/>
          </a:xfrm>
          <a:custGeom>
            <a:avLst/>
            <a:gdLst/>
            <a:ahLst/>
            <a:cxnLst/>
            <a:rect l="l" t="t" r="r" b="b"/>
            <a:pathLst>
              <a:path w="14678668" h="7392711">
                <a:moveTo>
                  <a:pt x="0" y="0"/>
                </a:moveTo>
                <a:lnTo>
                  <a:pt x="14678668" y="0"/>
                </a:lnTo>
                <a:lnTo>
                  <a:pt x="14678668" y="7392711"/>
                </a:lnTo>
                <a:lnTo>
                  <a:pt x="0" y="73927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E6ED8A8E-F12B-3DD6-DB74-563833B8492A}"/>
              </a:ext>
            </a:extLst>
          </p:cNvPr>
          <p:cNvSpPr/>
          <p:nvPr/>
        </p:nvSpPr>
        <p:spPr>
          <a:xfrm>
            <a:off x="175914" y="169716"/>
            <a:ext cx="2626631" cy="850372"/>
          </a:xfrm>
          <a:custGeom>
            <a:avLst/>
            <a:gdLst/>
            <a:ahLst/>
            <a:cxnLst/>
            <a:rect l="l" t="t" r="r" b="b"/>
            <a:pathLst>
              <a:path w="2626631" h="850372">
                <a:moveTo>
                  <a:pt x="0" y="0"/>
                </a:moveTo>
                <a:lnTo>
                  <a:pt x="2626631" y="0"/>
                </a:lnTo>
                <a:lnTo>
                  <a:pt x="2626631" y="850372"/>
                </a:lnTo>
                <a:lnTo>
                  <a:pt x="0" y="8503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8E91F082-4693-F719-25D7-B742FF0B8CA9}"/>
              </a:ext>
            </a:extLst>
          </p:cNvPr>
          <p:cNvGrpSpPr/>
          <p:nvPr/>
        </p:nvGrpSpPr>
        <p:grpSpPr>
          <a:xfrm>
            <a:off x="9774901" y="6158906"/>
            <a:ext cx="5017426" cy="3099394"/>
            <a:chOff x="0" y="0"/>
            <a:chExt cx="1464010" cy="107063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AD3C96E8-95DD-6C9A-01CF-D1890C7C28AC}"/>
                </a:ext>
              </a:extLst>
            </p:cNvPr>
            <p:cNvSpPr/>
            <p:nvPr/>
          </p:nvSpPr>
          <p:spPr>
            <a:xfrm>
              <a:off x="0" y="0"/>
              <a:ext cx="1464010" cy="1070630"/>
            </a:xfrm>
            <a:custGeom>
              <a:avLst/>
              <a:gdLst/>
              <a:ahLst/>
              <a:cxnLst/>
              <a:rect l="l" t="t" r="r" b="b"/>
              <a:pathLst>
                <a:path w="1464010" h="1070630">
                  <a:moveTo>
                    <a:pt x="93162" y="0"/>
                  </a:moveTo>
                  <a:lnTo>
                    <a:pt x="1370848" y="0"/>
                  </a:lnTo>
                  <a:cubicBezTo>
                    <a:pt x="1395556" y="0"/>
                    <a:pt x="1419252" y="9815"/>
                    <a:pt x="1436723" y="27286"/>
                  </a:cubicBezTo>
                  <a:cubicBezTo>
                    <a:pt x="1454195" y="44758"/>
                    <a:pt x="1464010" y="68454"/>
                    <a:pt x="1464010" y="93162"/>
                  </a:cubicBezTo>
                  <a:lnTo>
                    <a:pt x="1464010" y="977468"/>
                  </a:lnTo>
                  <a:cubicBezTo>
                    <a:pt x="1464010" y="1002176"/>
                    <a:pt x="1454195" y="1025872"/>
                    <a:pt x="1436723" y="1043343"/>
                  </a:cubicBezTo>
                  <a:cubicBezTo>
                    <a:pt x="1419252" y="1060815"/>
                    <a:pt x="1395556" y="1070630"/>
                    <a:pt x="1370848" y="1070630"/>
                  </a:cubicBezTo>
                  <a:lnTo>
                    <a:pt x="93162" y="1070630"/>
                  </a:lnTo>
                  <a:cubicBezTo>
                    <a:pt x="68454" y="1070630"/>
                    <a:pt x="44758" y="1060815"/>
                    <a:pt x="27286" y="1043343"/>
                  </a:cubicBezTo>
                  <a:cubicBezTo>
                    <a:pt x="9815" y="1025872"/>
                    <a:pt x="0" y="1002176"/>
                    <a:pt x="0" y="977468"/>
                  </a:cubicBezTo>
                  <a:lnTo>
                    <a:pt x="0" y="93162"/>
                  </a:lnTo>
                  <a:cubicBezTo>
                    <a:pt x="0" y="68454"/>
                    <a:pt x="9815" y="44758"/>
                    <a:pt x="27286" y="27286"/>
                  </a:cubicBezTo>
                  <a:cubicBezTo>
                    <a:pt x="44758" y="9815"/>
                    <a:pt x="68454" y="0"/>
                    <a:pt x="93162" y="0"/>
                  </a:cubicBezTo>
                  <a:close/>
                </a:path>
              </a:pathLst>
            </a:custGeom>
            <a:solidFill>
              <a:srgbClr val="ACB8C7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5629EF86-0905-B2D5-60D6-4FCB011C4968}"/>
                </a:ext>
              </a:extLst>
            </p:cNvPr>
            <p:cNvSpPr txBox="1"/>
            <p:nvPr/>
          </p:nvSpPr>
          <p:spPr>
            <a:xfrm>
              <a:off x="0" y="-38100"/>
              <a:ext cx="1464010" cy="1108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3FFE2EA5-B346-D35E-7963-F26B822E54C4}"/>
              </a:ext>
            </a:extLst>
          </p:cNvPr>
          <p:cNvSpPr/>
          <p:nvPr/>
        </p:nvSpPr>
        <p:spPr>
          <a:xfrm>
            <a:off x="11366701" y="6385123"/>
            <a:ext cx="1494509" cy="1568664"/>
          </a:xfrm>
          <a:custGeom>
            <a:avLst/>
            <a:gdLst/>
            <a:ahLst/>
            <a:cxnLst/>
            <a:rect l="l" t="t" r="r" b="b"/>
            <a:pathLst>
              <a:path w="1494509" h="1568664">
                <a:moveTo>
                  <a:pt x="0" y="0"/>
                </a:moveTo>
                <a:lnTo>
                  <a:pt x="1494508" y="0"/>
                </a:lnTo>
                <a:lnTo>
                  <a:pt x="1494508" y="1568664"/>
                </a:lnTo>
                <a:lnTo>
                  <a:pt x="0" y="15686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38816EC8-882C-E56C-97CD-3B6D01084796}"/>
              </a:ext>
            </a:extLst>
          </p:cNvPr>
          <p:cNvSpPr/>
          <p:nvPr/>
        </p:nvSpPr>
        <p:spPr>
          <a:xfrm>
            <a:off x="5509605" y="5472534"/>
            <a:ext cx="1410708" cy="1410708"/>
          </a:xfrm>
          <a:custGeom>
            <a:avLst/>
            <a:gdLst/>
            <a:ahLst/>
            <a:cxnLst/>
            <a:rect l="l" t="t" r="r" b="b"/>
            <a:pathLst>
              <a:path w="1410708" h="1410708">
                <a:moveTo>
                  <a:pt x="0" y="0"/>
                </a:moveTo>
                <a:lnTo>
                  <a:pt x="1410708" y="0"/>
                </a:lnTo>
                <a:lnTo>
                  <a:pt x="1410708" y="1410708"/>
                </a:lnTo>
                <a:lnTo>
                  <a:pt x="0" y="14107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5AB510D-4094-6D4E-9000-FB1560CCD9C6}"/>
              </a:ext>
            </a:extLst>
          </p:cNvPr>
          <p:cNvSpPr txBox="1"/>
          <p:nvPr/>
        </p:nvSpPr>
        <p:spPr>
          <a:xfrm>
            <a:off x="5442723" y="4796368"/>
            <a:ext cx="7402553" cy="676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9"/>
              </a:lnSpc>
            </a:pPr>
            <a:r>
              <a:rPr lang="en-US" sz="32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present thesis proposes:</a:t>
            </a:r>
          </a:p>
          <a:p>
            <a:pPr algn="ctr">
              <a:lnSpc>
                <a:spcPts val="2649"/>
              </a:lnSpc>
            </a:pPr>
            <a:endParaRPr lang="en-US" sz="32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D49EF54B-CF8F-B06D-29AA-5D3467E954E5}"/>
              </a:ext>
            </a:extLst>
          </p:cNvPr>
          <p:cNvSpPr txBox="1"/>
          <p:nvPr/>
        </p:nvSpPr>
        <p:spPr>
          <a:xfrm>
            <a:off x="16312489" y="150666"/>
            <a:ext cx="1732152" cy="62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15"/>
              </a:lnSpc>
            </a:pPr>
            <a:r>
              <a:rPr lang="en-US" sz="1225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CANDIDATA </a:t>
            </a:r>
          </a:p>
          <a:p>
            <a:pPr algn="ctr">
              <a:lnSpc>
                <a:spcPts val="1715"/>
              </a:lnSpc>
            </a:pPr>
            <a:r>
              <a:rPr lang="en-US" sz="12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Vincenza Siani</a:t>
            </a:r>
          </a:p>
          <a:p>
            <a:pPr algn="ctr">
              <a:lnSpc>
                <a:spcPts val="1715"/>
              </a:lnSpc>
            </a:pPr>
            <a:r>
              <a:rPr lang="en-US" sz="12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M62003043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A9AF3B85-5242-52A0-793C-C0FDB7EFDD6C}"/>
              </a:ext>
            </a:extLst>
          </p:cNvPr>
          <p:cNvSpPr txBox="1"/>
          <p:nvPr/>
        </p:nvSpPr>
        <p:spPr>
          <a:xfrm>
            <a:off x="3465150" y="279635"/>
            <a:ext cx="11357700" cy="58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4000" b="1">
                <a:solidFill>
                  <a:srgbClr val="36E9FD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PROBLEM STATEMENT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D6E84EAC-DB36-E2CB-72F0-79068F5A66B5}"/>
              </a:ext>
            </a:extLst>
          </p:cNvPr>
          <p:cNvSpPr txBox="1"/>
          <p:nvPr/>
        </p:nvSpPr>
        <p:spPr>
          <a:xfrm>
            <a:off x="4977760" y="2197041"/>
            <a:ext cx="8564474" cy="3427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49"/>
              </a:lnSpc>
            </a:pPr>
            <a:r>
              <a:rPr lang="en-US" sz="3200" b="1">
                <a:solidFill>
                  <a:srgbClr val="36E9FD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methodological and operational gaps 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2CD7BC81-8B41-C836-8FDF-B79972451462}"/>
              </a:ext>
            </a:extLst>
          </p:cNvPr>
          <p:cNvSpPr txBox="1"/>
          <p:nvPr/>
        </p:nvSpPr>
        <p:spPr>
          <a:xfrm>
            <a:off x="829920" y="2863034"/>
            <a:ext cx="16628157" cy="100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9"/>
              </a:lnSpc>
            </a:pPr>
            <a:r>
              <a:rPr lang="en-US" sz="32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When planning a future trip the business decision-maker has access to static data:</a:t>
            </a:r>
          </a:p>
          <a:p>
            <a:pPr algn="ctr">
              <a:lnSpc>
                <a:spcPts val="2649"/>
              </a:lnSpc>
            </a:pPr>
            <a:r>
              <a:rPr lang="en-US" sz="32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data-driven models produce flat, unrealistic forecasts﻿</a:t>
            </a:r>
          </a:p>
          <a:p>
            <a:pPr algn="ctr">
              <a:lnSpc>
                <a:spcPts val="2649"/>
              </a:lnSpc>
            </a:pPr>
            <a:endParaRPr lang="en-US" sz="32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1" name="TextBox 19">
            <a:extLst>
              <a:ext uri="{FF2B5EF4-FFF2-40B4-BE49-F238E27FC236}">
                <a16:creationId xmlns:a16="http://schemas.microsoft.com/office/drawing/2014/main" id="{0CCA4AA5-3EAE-AD0C-F5A3-300DDCE50109}"/>
              </a:ext>
            </a:extLst>
          </p:cNvPr>
          <p:cNvSpPr txBox="1"/>
          <p:nvPr/>
        </p:nvSpPr>
        <p:spPr>
          <a:xfrm>
            <a:off x="9323837" y="8204853"/>
            <a:ext cx="5839963" cy="798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19"/>
              </a:lnSpc>
            </a:pPr>
            <a:r>
              <a:rPr lang="en-US" sz="3200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OVERCOMING THE 
</a:t>
            </a:r>
          </a:p>
          <a:p>
            <a:pPr algn="ctr">
              <a:lnSpc>
                <a:spcPts val="2019"/>
              </a:lnSpc>
            </a:pPr>
            <a:r>
              <a:rPr lang="en-US" sz="3200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STATIC CONSTRAINTS</a:t>
            </a:r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FAB02001-4241-4ECB-7808-D632CECFC9A6}"/>
              </a:ext>
            </a:extLst>
          </p:cNvPr>
          <p:cNvSpPr txBox="1"/>
          <p:nvPr/>
        </p:nvSpPr>
        <p:spPr>
          <a:xfrm>
            <a:off x="2535923" y="7044574"/>
            <a:ext cx="7402553" cy="1910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4"/>
              </a:lnSpc>
            </a:pPr>
            <a:endParaRPr lang="en-GB" sz="3200"/>
          </a:p>
          <a:p>
            <a:pPr marL="457200" indent="-457200" algn="ctr">
              <a:lnSpc>
                <a:spcPts val="2084"/>
              </a:lnSpc>
              <a:buFontTx/>
              <a:buChar char="-"/>
            </a:pPr>
            <a:r>
              <a:rPr lang="en-GB" sz="32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Long Short-Term </a:t>
            </a:r>
          </a:p>
          <a:p>
            <a:pPr algn="ctr">
              <a:lnSpc>
                <a:spcPts val="2084"/>
              </a:lnSpc>
            </a:pPr>
            <a:r>
              <a:rPr lang="en-GB" sz="32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memory neural network</a:t>
            </a:r>
          </a:p>
          <a:p>
            <a:pPr algn="ctr">
              <a:lnSpc>
                <a:spcPts val="2084"/>
              </a:lnSpc>
            </a:pPr>
            <a:endParaRPr lang="en-GB" sz="32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457200" indent="-457200" algn="ctr">
              <a:lnSpc>
                <a:spcPts val="2084"/>
              </a:lnSpc>
              <a:buFontTx/>
              <a:buChar char="-"/>
            </a:pPr>
            <a:r>
              <a:rPr lang="en-GB" sz="32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Least Squares </a:t>
            </a:r>
          </a:p>
          <a:p>
            <a:pPr algn="ctr">
              <a:lnSpc>
                <a:spcPts val="2084"/>
              </a:lnSpc>
            </a:pPr>
            <a:r>
              <a:rPr lang="en-GB" sz="32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Partial Least Squares </a:t>
            </a:r>
          </a:p>
          <a:p>
            <a:pPr algn="ctr">
              <a:lnSpc>
                <a:spcPts val="2084"/>
              </a:lnSpc>
            </a:pPr>
            <a:r>
              <a:rPr lang="en-GB" sz="32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Regression</a:t>
            </a:r>
          </a:p>
        </p:txBody>
      </p:sp>
    </p:spTree>
    <p:extLst>
      <p:ext uri="{BB962C8B-B14F-4D97-AF65-F5344CB8AC3E}">
        <p14:creationId xmlns:p14="http://schemas.microsoft.com/office/powerpoint/2010/main" val="28761797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9CED50-6C90-EFCA-90BC-0C3B2CDA3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AFACCE9-346B-7C54-08ED-8DA4F4E32965}"/>
              </a:ext>
            </a:extLst>
          </p:cNvPr>
          <p:cNvSpPr/>
          <p:nvPr/>
        </p:nvSpPr>
        <p:spPr>
          <a:xfrm rot="2172845">
            <a:off x="6368285" y="-727739"/>
            <a:ext cx="14678668" cy="7392711"/>
          </a:xfrm>
          <a:custGeom>
            <a:avLst/>
            <a:gdLst/>
            <a:ahLst/>
            <a:cxnLst/>
            <a:rect l="l" t="t" r="r" b="b"/>
            <a:pathLst>
              <a:path w="14678668" h="7392711">
                <a:moveTo>
                  <a:pt x="0" y="0"/>
                </a:moveTo>
                <a:lnTo>
                  <a:pt x="14678668" y="0"/>
                </a:lnTo>
                <a:lnTo>
                  <a:pt x="14678668" y="7392711"/>
                </a:lnTo>
                <a:lnTo>
                  <a:pt x="0" y="73927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3" name="Freeform 9">
            <a:extLst>
              <a:ext uri="{FF2B5EF4-FFF2-40B4-BE49-F238E27FC236}">
                <a16:creationId xmlns:a16="http://schemas.microsoft.com/office/drawing/2014/main" id="{97CD5206-DAF6-93D7-0635-7BD216C0898C}"/>
              </a:ext>
            </a:extLst>
          </p:cNvPr>
          <p:cNvSpPr/>
          <p:nvPr/>
        </p:nvSpPr>
        <p:spPr>
          <a:xfrm>
            <a:off x="9512103" y="5617813"/>
            <a:ext cx="5017426" cy="3976377"/>
          </a:xfrm>
          <a:custGeom>
            <a:avLst/>
            <a:gdLst/>
            <a:ahLst/>
            <a:cxnLst/>
            <a:rect l="l" t="t" r="r" b="b"/>
            <a:pathLst>
              <a:path w="1464010" h="1070630">
                <a:moveTo>
                  <a:pt x="93162" y="0"/>
                </a:moveTo>
                <a:lnTo>
                  <a:pt x="1370848" y="0"/>
                </a:lnTo>
                <a:cubicBezTo>
                  <a:pt x="1395556" y="0"/>
                  <a:pt x="1419252" y="9815"/>
                  <a:pt x="1436723" y="27286"/>
                </a:cubicBezTo>
                <a:cubicBezTo>
                  <a:pt x="1454195" y="44758"/>
                  <a:pt x="1464010" y="68454"/>
                  <a:pt x="1464010" y="93162"/>
                </a:cubicBezTo>
                <a:lnTo>
                  <a:pt x="1464010" y="977468"/>
                </a:lnTo>
                <a:cubicBezTo>
                  <a:pt x="1464010" y="1002176"/>
                  <a:pt x="1454195" y="1025872"/>
                  <a:pt x="1436723" y="1043343"/>
                </a:cubicBezTo>
                <a:cubicBezTo>
                  <a:pt x="1419252" y="1060815"/>
                  <a:pt x="1395556" y="1070630"/>
                  <a:pt x="1370848" y="1070630"/>
                </a:cubicBezTo>
                <a:lnTo>
                  <a:pt x="93162" y="1070630"/>
                </a:lnTo>
                <a:cubicBezTo>
                  <a:pt x="68454" y="1070630"/>
                  <a:pt x="44758" y="1060815"/>
                  <a:pt x="27286" y="1043343"/>
                </a:cubicBezTo>
                <a:cubicBezTo>
                  <a:pt x="9815" y="1025872"/>
                  <a:pt x="0" y="1002176"/>
                  <a:pt x="0" y="977468"/>
                </a:cubicBezTo>
                <a:lnTo>
                  <a:pt x="0" y="93162"/>
                </a:lnTo>
                <a:cubicBezTo>
                  <a:pt x="0" y="68454"/>
                  <a:pt x="9815" y="44758"/>
                  <a:pt x="27286" y="27286"/>
                </a:cubicBezTo>
                <a:cubicBezTo>
                  <a:pt x="44758" y="9815"/>
                  <a:pt x="68454" y="0"/>
                  <a:pt x="93162" y="0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40000"/>
                  <a:lumOff val="60000"/>
                </a:schemeClr>
              </a:gs>
              <a:gs pos="45000">
                <a:schemeClr val="tx2">
                  <a:lumMod val="75000"/>
                </a:schemeClr>
              </a:gs>
              <a:gs pos="100000">
                <a:schemeClr val="tx2">
                  <a:lumMod val="75000"/>
                </a:schemeClr>
              </a:gs>
            </a:gsLst>
            <a:lin ang="5400000" scaled="1"/>
          </a:gradFill>
        </p:spPr>
        <p:txBody>
          <a:bodyPr/>
          <a:lstStyle/>
          <a:p>
            <a:pPr algn="ctr">
              <a:lnSpc>
                <a:spcPts val="2084"/>
              </a:lnSpc>
            </a:pPr>
            <a:endParaRPr lang="en-GB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5A6B258-AE8B-7905-E989-9EAC26872F83}"/>
              </a:ext>
            </a:extLst>
          </p:cNvPr>
          <p:cNvSpPr/>
          <p:nvPr/>
        </p:nvSpPr>
        <p:spPr>
          <a:xfrm rot="2172845">
            <a:off x="-3843661" y="7384212"/>
            <a:ext cx="14678668" cy="7392711"/>
          </a:xfrm>
          <a:custGeom>
            <a:avLst/>
            <a:gdLst/>
            <a:ahLst/>
            <a:cxnLst/>
            <a:rect l="l" t="t" r="r" b="b"/>
            <a:pathLst>
              <a:path w="14678668" h="7392711">
                <a:moveTo>
                  <a:pt x="0" y="0"/>
                </a:moveTo>
                <a:lnTo>
                  <a:pt x="14678668" y="0"/>
                </a:lnTo>
                <a:lnTo>
                  <a:pt x="14678668" y="7392711"/>
                </a:lnTo>
                <a:lnTo>
                  <a:pt x="0" y="73927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D0BD76E7-7FFB-6E36-1478-C090999E3CC1}"/>
              </a:ext>
            </a:extLst>
          </p:cNvPr>
          <p:cNvSpPr/>
          <p:nvPr/>
        </p:nvSpPr>
        <p:spPr>
          <a:xfrm>
            <a:off x="175914" y="169716"/>
            <a:ext cx="2626631" cy="850372"/>
          </a:xfrm>
          <a:custGeom>
            <a:avLst/>
            <a:gdLst/>
            <a:ahLst/>
            <a:cxnLst/>
            <a:rect l="l" t="t" r="r" b="b"/>
            <a:pathLst>
              <a:path w="2626631" h="850372">
                <a:moveTo>
                  <a:pt x="0" y="0"/>
                </a:moveTo>
                <a:lnTo>
                  <a:pt x="2626631" y="0"/>
                </a:lnTo>
                <a:lnTo>
                  <a:pt x="2626631" y="850372"/>
                </a:lnTo>
                <a:lnTo>
                  <a:pt x="0" y="8503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3C5D4DCC-4DED-C1F5-FEA9-D8DF31A879AA}"/>
              </a:ext>
            </a:extLst>
          </p:cNvPr>
          <p:cNvSpPr/>
          <p:nvPr/>
        </p:nvSpPr>
        <p:spPr>
          <a:xfrm>
            <a:off x="11402366" y="5722583"/>
            <a:ext cx="1494509" cy="1568664"/>
          </a:xfrm>
          <a:custGeom>
            <a:avLst/>
            <a:gdLst/>
            <a:ahLst/>
            <a:cxnLst/>
            <a:rect l="l" t="t" r="r" b="b"/>
            <a:pathLst>
              <a:path w="1494509" h="1568664">
                <a:moveTo>
                  <a:pt x="0" y="0"/>
                </a:moveTo>
                <a:lnTo>
                  <a:pt x="1494508" y="0"/>
                </a:lnTo>
                <a:lnTo>
                  <a:pt x="1494508" y="1568664"/>
                </a:lnTo>
                <a:lnTo>
                  <a:pt x="0" y="15686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E73AC85A-A87D-FCC0-3F9D-5ABAE6272EB2}"/>
              </a:ext>
            </a:extLst>
          </p:cNvPr>
          <p:cNvSpPr txBox="1"/>
          <p:nvPr/>
        </p:nvSpPr>
        <p:spPr>
          <a:xfrm>
            <a:off x="5442723" y="4796368"/>
            <a:ext cx="7402553" cy="676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9"/>
              </a:lnSpc>
            </a:pPr>
            <a:r>
              <a:rPr lang="en-US" sz="32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present thesis proposes:</a:t>
            </a:r>
          </a:p>
          <a:p>
            <a:pPr algn="ctr">
              <a:lnSpc>
                <a:spcPts val="2649"/>
              </a:lnSpc>
            </a:pPr>
            <a:endParaRPr lang="en-US" sz="32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F8D88BD-8F02-20AC-CDC2-C23D03C4E966}"/>
              </a:ext>
            </a:extLst>
          </p:cNvPr>
          <p:cNvSpPr txBox="1"/>
          <p:nvPr/>
        </p:nvSpPr>
        <p:spPr>
          <a:xfrm>
            <a:off x="16312489" y="150666"/>
            <a:ext cx="1732152" cy="62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15"/>
              </a:lnSpc>
            </a:pPr>
            <a:r>
              <a:rPr lang="en-US" sz="1225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CANDIDATA </a:t>
            </a:r>
          </a:p>
          <a:p>
            <a:pPr algn="ctr">
              <a:lnSpc>
                <a:spcPts val="1715"/>
              </a:lnSpc>
            </a:pPr>
            <a:r>
              <a:rPr lang="en-US" sz="12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Vincenza Siani</a:t>
            </a:r>
          </a:p>
          <a:p>
            <a:pPr algn="ctr">
              <a:lnSpc>
                <a:spcPts val="1715"/>
              </a:lnSpc>
            </a:pPr>
            <a:r>
              <a:rPr lang="en-US" sz="12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M62003043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FB3D5B35-231F-94E0-EA14-F5AED07FDF7E}"/>
              </a:ext>
            </a:extLst>
          </p:cNvPr>
          <p:cNvSpPr txBox="1"/>
          <p:nvPr/>
        </p:nvSpPr>
        <p:spPr>
          <a:xfrm>
            <a:off x="3465150" y="279635"/>
            <a:ext cx="11357700" cy="58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4000" b="1">
                <a:solidFill>
                  <a:srgbClr val="36E9FD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PROBLEM STATEMENT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BC6214B-A9C6-C605-8A8F-FE98011B4A1C}"/>
              </a:ext>
            </a:extLst>
          </p:cNvPr>
          <p:cNvSpPr txBox="1"/>
          <p:nvPr/>
        </p:nvSpPr>
        <p:spPr>
          <a:xfrm>
            <a:off x="4977760" y="2197041"/>
            <a:ext cx="8564474" cy="3427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49"/>
              </a:lnSpc>
            </a:pPr>
            <a:r>
              <a:rPr lang="en-US" sz="3200" b="1">
                <a:solidFill>
                  <a:srgbClr val="36E9FD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methodological and operational gaps 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6762CC73-3EAC-39D9-1252-E4D79CF8577F}"/>
              </a:ext>
            </a:extLst>
          </p:cNvPr>
          <p:cNvSpPr txBox="1"/>
          <p:nvPr/>
        </p:nvSpPr>
        <p:spPr>
          <a:xfrm>
            <a:off x="829920" y="2863034"/>
            <a:ext cx="16628157" cy="100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9"/>
              </a:lnSpc>
            </a:pPr>
            <a:r>
              <a:rPr lang="en-US" sz="32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When planning a future trip the business decision-maker has access to static data:</a:t>
            </a:r>
          </a:p>
          <a:p>
            <a:pPr algn="ctr">
              <a:lnSpc>
                <a:spcPts val="2649"/>
              </a:lnSpc>
            </a:pPr>
            <a:r>
              <a:rPr lang="en-US" sz="32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data-driven models produce flat, unrealistic forecasts﻿</a:t>
            </a:r>
          </a:p>
          <a:p>
            <a:pPr algn="ctr">
              <a:lnSpc>
                <a:spcPts val="2649"/>
              </a:lnSpc>
            </a:pPr>
            <a:endParaRPr lang="en-US" sz="32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6" name="Freeform 9">
            <a:extLst>
              <a:ext uri="{FF2B5EF4-FFF2-40B4-BE49-F238E27FC236}">
                <a16:creationId xmlns:a16="http://schemas.microsoft.com/office/drawing/2014/main" id="{75D90E9C-E49B-4645-E875-8E8B1B42C891}"/>
              </a:ext>
            </a:extLst>
          </p:cNvPr>
          <p:cNvSpPr/>
          <p:nvPr/>
        </p:nvSpPr>
        <p:spPr>
          <a:xfrm>
            <a:off x="3728487" y="6158906"/>
            <a:ext cx="5017426" cy="3099394"/>
          </a:xfrm>
          <a:custGeom>
            <a:avLst/>
            <a:gdLst/>
            <a:ahLst/>
            <a:cxnLst/>
            <a:rect l="l" t="t" r="r" b="b"/>
            <a:pathLst>
              <a:path w="1464010" h="1070630">
                <a:moveTo>
                  <a:pt x="93162" y="0"/>
                </a:moveTo>
                <a:lnTo>
                  <a:pt x="1370848" y="0"/>
                </a:lnTo>
                <a:cubicBezTo>
                  <a:pt x="1395556" y="0"/>
                  <a:pt x="1419252" y="9815"/>
                  <a:pt x="1436723" y="27286"/>
                </a:cubicBezTo>
                <a:cubicBezTo>
                  <a:pt x="1454195" y="44758"/>
                  <a:pt x="1464010" y="68454"/>
                  <a:pt x="1464010" y="93162"/>
                </a:cubicBezTo>
                <a:lnTo>
                  <a:pt x="1464010" y="977468"/>
                </a:lnTo>
                <a:cubicBezTo>
                  <a:pt x="1464010" y="1002176"/>
                  <a:pt x="1454195" y="1025872"/>
                  <a:pt x="1436723" y="1043343"/>
                </a:cubicBezTo>
                <a:cubicBezTo>
                  <a:pt x="1419252" y="1060815"/>
                  <a:pt x="1395556" y="1070630"/>
                  <a:pt x="1370848" y="1070630"/>
                </a:cubicBezTo>
                <a:lnTo>
                  <a:pt x="93162" y="1070630"/>
                </a:lnTo>
                <a:cubicBezTo>
                  <a:pt x="68454" y="1070630"/>
                  <a:pt x="44758" y="1060815"/>
                  <a:pt x="27286" y="1043343"/>
                </a:cubicBezTo>
                <a:cubicBezTo>
                  <a:pt x="9815" y="1025872"/>
                  <a:pt x="0" y="1002176"/>
                  <a:pt x="0" y="977468"/>
                </a:cubicBezTo>
                <a:lnTo>
                  <a:pt x="0" y="93162"/>
                </a:lnTo>
                <a:cubicBezTo>
                  <a:pt x="0" y="68454"/>
                  <a:pt x="9815" y="44758"/>
                  <a:pt x="27286" y="27286"/>
                </a:cubicBezTo>
                <a:cubicBezTo>
                  <a:pt x="44758" y="9815"/>
                  <a:pt x="68454" y="0"/>
                  <a:pt x="93162" y="0"/>
                </a:cubicBezTo>
                <a:close/>
              </a:path>
            </a:pathLst>
          </a:custGeom>
          <a:solidFill>
            <a:srgbClr val="ACB8C7"/>
          </a:solidFill>
        </p:spPr>
        <p:txBody>
          <a:bodyPr/>
          <a:lstStyle/>
          <a:p>
            <a:endParaRPr lang="it-IT"/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DCB27ADE-3C1D-B0AA-EBB4-8730F45CE8F5}"/>
              </a:ext>
            </a:extLst>
          </p:cNvPr>
          <p:cNvSpPr txBox="1"/>
          <p:nvPr/>
        </p:nvSpPr>
        <p:spPr>
          <a:xfrm>
            <a:off x="4282573" y="8293905"/>
            <a:ext cx="3909253" cy="294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4"/>
              </a:lnSpc>
            </a:pPr>
            <a:r>
              <a:rPr lang="en-US" sz="3200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COMPARISON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97D37C65-5021-4621-C90C-8758D04FEF96}"/>
              </a:ext>
            </a:extLst>
          </p:cNvPr>
          <p:cNvSpPr/>
          <p:nvPr/>
        </p:nvSpPr>
        <p:spPr>
          <a:xfrm>
            <a:off x="5509605" y="5472534"/>
            <a:ext cx="1410708" cy="1410708"/>
          </a:xfrm>
          <a:custGeom>
            <a:avLst/>
            <a:gdLst/>
            <a:ahLst/>
            <a:cxnLst/>
            <a:rect l="l" t="t" r="r" b="b"/>
            <a:pathLst>
              <a:path w="1410708" h="1410708">
                <a:moveTo>
                  <a:pt x="0" y="0"/>
                </a:moveTo>
                <a:lnTo>
                  <a:pt x="1410708" y="0"/>
                </a:lnTo>
                <a:lnTo>
                  <a:pt x="1410708" y="1410708"/>
                </a:lnTo>
                <a:lnTo>
                  <a:pt x="0" y="14107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8C7F78C2-AAD6-815C-80B3-108F17EFD76B}"/>
              </a:ext>
            </a:extLst>
          </p:cNvPr>
          <p:cNvSpPr txBox="1"/>
          <p:nvPr/>
        </p:nvSpPr>
        <p:spPr>
          <a:xfrm>
            <a:off x="8352370" y="7478372"/>
            <a:ext cx="7402553" cy="833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4"/>
              </a:lnSpc>
            </a:pPr>
            <a:endParaRPr lang="en-GB" sz="3200"/>
          </a:p>
          <a:p>
            <a:pPr marL="457200" indent="-457200" algn="ctr">
              <a:lnSpc>
                <a:spcPts val="2084"/>
              </a:lnSpc>
              <a:buFontTx/>
              <a:buChar char="-"/>
            </a:pPr>
            <a:r>
              <a:rPr lang="en-GB" sz="3200" dirty="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</a:rPr>
              <a:t>Creating a </a:t>
            </a:r>
            <a:r>
              <a:rPr lang="en-GB" sz="32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</a:rPr>
              <a:t>Synthetic</a:t>
            </a:r>
            <a:r>
              <a:rPr lang="en-GB" sz="3200" dirty="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</a:rPr>
              <a:t> </a:t>
            </a:r>
          </a:p>
          <a:p>
            <a:pPr algn="ctr">
              <a:lnSpc>
                <a:spcPts val="2084"/>
              </a:lnSpc>
            </a:pPr>
            <a:r>
              <a:rPr lang="en-GB" sz="32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</a:rPr>
              <a:t>Dataset</a:t>
            </a:r>
            <a:endParaRPr lang="en-GB" sz="3200" dirty="0">
              <a:solidFill>
                <a:srgbClr val="FFFFFF"/>
              </a:solidFill>
              <a:latin typeface="Playfair Display"/>
              <a:ea typeface="Playfair Display"/>
              <a:cs typeface="Playfair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3857135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 rot="2172845">
            <a:off x="6368285" y="-727739"/>
            <a:ext cx="14678668" cy="7392711"/>
          </a:xfrm>
          <a:custGeom>
            <a:avLst/>
            <a:gdLst/>
            <a:ahLst/>
            <a:cxnLst/>
            <a:rect l="l" t="t" r="r" b="b"/>
            <a:pathLst>
              <a:path w="14678668" h="7392711">
                <a:moveTo>
                  <a:pt x="0" y="0"/>
                </a:moveTo>
                <a:lnTo>
                  <a:pt x="14678668" y="0"/>
                </a:lnTo>
                <a:lnTo>
                  <a:pt x="14678668" y="7392711"/>
                </a:lnTo>
                <a:lnTo>
                  <a:pt x="0" y="73927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>
            <a:spLocks noGrp="1" noRot="1" noMove="1" noResize="1" noEditPoints="1" noAdjustHandles="1" noChangeArrowheads="1" noChangeShapeType="1"/>
          </p:cNvSpPr>
          <p:nvPr/>
        </p:nvSpPr>
        <p:spPr>
          <a:xfrm rot="2172845">
            <a:off x="-3843661" y="7384212"/>
            <a:ext cx="14678668" cy="7392711"/>
          </a:xfrm>
          <a:custGeom>
            <a:avLst/>
            <a:gdLst/>
            <a:ahLst/>
            <a:cxnLst/>
            <a:rect l="l" t="t" r="r" b="b"/>
            <a:pathLst>
              <a:path w="14678668" h="7392711">
                <a:moveTo>
                  <a:pt x="0" y="0"/>
                </a:moveTo>
                <a:lnTo>
                  <a:pt x="14678668" y="0"/>
                </a:lnTo>
                <a:lnTo>
                  <a:pt x="14678668" y="7392711"/>
                </a:lnTo>
                <a:lnTo>
                  <a:pt x="0" y="73927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175914" y="169716"/>
            <a:ext cx="2626631" cy="850372"/>
          </a:xfrm>
          <a:custGeom>
            <a:avLst/>
            <a:gdLst/>
            <a:ahLst/>
            <a:cxnLst/>
            <a:rect l="l" t="t" r="r" b="b"/>
            <a:pathLst>
              <a:path w="2626631" h="850372">
                <a:moveTo>
                  <a:pt x="0" y="0"/>
                </a:moveTo>
                <a:lnTo>
                  <a:pt x="2626631" y="0"/>
                </a:lnTo>
                <a:lnTo>
                  <a:pt x="2626631" y="850372"/>
                </a:lnTo>
                <a:lnTo>
                  <a:pt x="0" y="8503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TextBox 5"/>
          <p:cNvSpPr txBox="1"/>
          <p:nvPr/>
        </p:nvSpPr>
        <p:spPr>
          <a:xfrm>
            <a:off x="16312489" y="150666"/>
            <a:ext cx="1732152" cy="62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15"/>
              </a:lnSpc>
            </a:pPr>
            <a:r>
              <a:rPr lang="en-US" sz="1225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CANDIDATA </a:t>
            </a:r>
          </a:p>
          <a:p>
            <a:pPr algn="ctr">
              <a:lnSpc>
                <a:spcPts val="1715"/>
              </a:lnSpc>
            </a:pPr>
            <a:r>
              <a:rPr lang="en-US" sz="12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Vincenza Siani</a:t>
            </a:r>
          </a:p>
          <a:p>
            <a:pPr algn="ctr">
              <a:lnSpc>
                <a:spcPts val="1715"/>
              </a:lnSpc>
            </a:pPr>
            <a:r>
              <a:rPr lang="en-US" sz="12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M62003043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65150" y="279635"/>
            <a:ext cx="11357700" cy="58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4000" b="1">
                <a:solidFill>
                  <a:srgbClr val="36E9FD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METHODOLOGY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4860118" y="1342067"/>
            <a:ext cx="3045140" cy="1510958"/>
            <a:chOff x="-5610" y="-18320"/>
            <a:chExt cx="471619" cy="23401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66009" cy="195911"/>
            </a:xfrm>
            <a:custGeom>
              <a:avLst/>
              <a:gdLst/>
              <a:ahLst/>
              <a:cxnLst/>
              <a:rect l="l" t="t" r="r" b="b"/>
              <a:pathLst>
                <a:path w="466009" h="195911">
                  <a:moveTo>
                    <a:pt x="97956" y="0"/>
                  </a:moveTo>
                  <a:lnTo>
                    <a:pt x="368054" y="0"/>
                  </a:lnTo>
                  <a:cubicBezTo>
                    <a:pt x="422153" y="0"/>
                    <a:pt x="466009" y="43856"/>
                    <a:pt x="466009" y="97956"/>
                  </a:cubicBezTo>
                  <a:lnTo>
                    <a:pt x="466009" y="97956"/>
                  </a:lnTo>
                  <a:cubicBezTo>
                    <a:pt x="466009" y="152055"/>
                    <a:pt x="422153" y="195911"/>
                    <a:pt x="368054" y="195911"/>
                  </a:cubicBezTo>
                  <a:lnTo>
                    <a:pt x="97956" y="195911"/>
                  </a:lnTo>
                  <a:cubicBezTo>
                    <a:pt x="43856" y="195911"/>
                    <a:pt x="0" y="152055"/>
                    <a:pt x="0" y="97956"/>
                  </a:cubicBezTo>
                  <a:lnTo>
                    <a:pt x="0" y="97956"/>
                  </a:lnTo>
                  <a:cubicBezTo>
                    <a:pt x="0" y="43856"/>
                    <a:pt x="43856" y="0"/>
                    <a:pt x="97956" y="0"/>
                  </a:cubicBezTo>
                  <a:close/>
                </a:path>
              </a:pathLst>
            </a:custGeom>
            <a:solidFill>
              <a:srgbClr val="CDD6CD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-5610" y="-18320"/>
              <a:ext cx="466009" cy="2340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r>
                <a:rPr lang="en-US" sz="2000" b="1">
                  <a:solidFill>
                    <a:srgbClr val="000000"/>
                  </a:solidFill>
                  <a:latin typeface="Playfair Display"/>
                  <a:sym typeface="Playfair Display"/>
                </a:rPr>
                <a:t>Data collection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016980" y="5478432"/>
            <a:ext cx="2872452" cy="947520"/>
            <a:chOff x="1820999" y="-451478"/>
            <a:chExt cx="709416" cy="234011"/>
          </a:xfrm>
        </p:grpSpPr>
        <p:sp>
          <p:nvSpPr>
            <p:cNvPr id="13" name="Freeform 13"/>
            <p:cNvSpPr/>
            <p:nvPr/>
          </p:nvSpPr>
          <p:spPr>
            <a:xfrm>
              <a:off x="1820999" y="-432428"/>
              <a:ext cx="701674" cy="195911"/>
            </a:xfrm>
            <a:custGeom>
              <a:avLst/>
              <a:gdLst/>
              <a:ahLst/>
              <a:cxnLst/>
              <a:rect l="l" t="t" r="r" b="b"/>
              <a:pathLst>
                <a:path w="701674" h="195911">
                  <a:moveTo>
                    <a:pt x="0" y="0"/>
                  </a:moveTo>
                  <a:lnTo>
                    <a:pt x="701674" y="0"/>
                  </a:lnTo>
                  <a:lnTo>
                    <a:pt x="701674" y="195911"/>
                  </a:lnTo>
                  <a:lnTo>
                    <a:pt x="0" y="195911"/>
                  </a:lnTo>
                  <a:close/>
                </a:path>
              </a:pathLst>
            </a:custGeom>
            <a:solidFill>
              <a:srgbClr val="EDD0BA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828741" y="-451478"/>
              <a:ext cx="701674" cy="2340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r>
                <a:rPr lang="en-US" sz="2000" b="1">
                  <a:solidFill>
                    <a:srgbClr val="000000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LSTM network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260604" y="5514912"/>
            <a:ext cx="2918429" cy="828259"/>
            <a:chOff x="-950164" y="5940"/>
            <a:chExt cx="720772" cy="204557"/>
          </a:xfrm>
        </p:grpSpPr>
        <p:sp>
          <p:nvSpPr>
            <p:cNvPr id="16" name="Freeform 16"/>
            <p:cNvSpPr/>
            <p:nvPr/>
          </p:nvSpPr>
          <p:spPr>
            <a:xfrm>
              <a:off x="-950164" y="14586"/>
              <a:ext cx="709178" cy="195911"/>
            </a:xfrm>
            <a:custGeom>
              <a:avLst/>
              <a:gdLst/>
              <a:ahLst/>
              <a:cxnLst/>
              <a:rect l="l" t="t" r="r" b="b"/>
              <a:pathLst>
                <a:path w="709178" h="195911">
                  <a:moveTo>
                    <a:pt x="0" y="0"/>
                  </a:moveTo>
                  <a:lnTo>
                    <a:pt x="709178" y="0"/>
                  </a:lnTo>
                  <a:lnTo>
                    <a:pt x="709178" y="195911"/>
                  </a:lnTo>
                  <a:lnTo>
                    <a:pt x="0" y="195911"/>
                  </a:lnTo>
                  <a:close/>
                </a:path>
              </a:pathLst>
            </a:custGeom>
            <a:solidFill>
              <a:srgbClr val="EDD0BA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-938570" y="5940"/>
              <a:ext cx="709178" cy="1959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000000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LS-PLS regression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2074329" y="6728323"/>
            <a:ext cx="3024154" cy="1510957"/>
            <a:chOff x="-301822" y="768290"/>
            <a:chExt cx="468369" cy="234011"/>
          </a:xfrm>
        </p:grpSpPr>
        <p:sp>
          <p:nvSpPr>
            <p:cNvPr id="25" name="Freeform 25"/>
            <p:cNvSpPr/>
            <p:nvPr/>
          </p:nvSpPr>
          <p:spPr>
            <a:xfrm>
              <a:off x="-301822" y="779319"/>
              <a:ext cx="466009" cy="195911"/>
            </a:xfrm>
            <a:custGeom>
              <a:avLst/>
              <a:gdLst/>
              <a:ahLst/>
              <a:cxnLst/>
              <a:rect l="l" t="t" r="r" b="b"/>
              <a:pathLst>
                <a:path w="466009" h="195911">
                  <a:moveTo>
                    <a:pt x="97956" y="0"/>
                  </a:moveTo>
                  <a:lnTo>
                    <a:pt x="368054" y="0"/>
                  </a:lnTo>
                  <a:cubicBezTo>
                    <a:pt x="422153" y="0"/>
                    <a:pt x="466009" y="43856"/>
                    <a:pt x="466009" y="97956"/>
                  </a:cubicBezTo>
                  <a:lnTo>
                    <a:pt x="466009" y="97956"/>
                  </a:lnTo>
                  <a:cubicBezTo>
                    <a:pt x="466009" y="152055"/>
                    <a:pt x="422153" y="195911"/>
                    <a:pt x="368054" y="195911"/>
                  </a:cubicBezTo>
                  <a:lnTo>
                    <a:pt x="97956" y="195911"/>
                  </a:lnTo>
                  <a:cubicBezTo>
                    <a:pt x="43856" y="195911"/>
                    <a:pt x="0" y="152055"/>
                    <a:pt x="0" y="97956"/>
                  </a:cubicBezTo>
                  <a:lnTo>
                    <a:pt x="0" y="97956"/>
                  </a:lnTo>
                  <a:cubicBezTo>
                    <a:pt x="0" y="43856"/>
                    <a:pt x="43856" y="0"/>
                    <a:pt x="97956" y="0"/>
                  </a:cubicBezTo>
                  <a:close/>
                </a:path>
              </a:pathLst>
            </a:custGeom>
            <a:solidFill>
              <a:srgbClr val="CDD6CD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60" name="TextBox 26">
              <a:extLst>
                <a:ext uri="{FF2B5EF4-FFF2-40B4-BE49-F238E27FC236}">
                  <a16:creationId xmlns:a16="http://schemas.microsoft.com/office/drawing/2014/main" id="{1596A7E5-D2B7-A82B-1D37-8ED11A26A17F}"/>
                </a:ext>
              </a:extLst>
            </p:cNvPr>
            <p:cNvSpPr txBox="1"/>
            <p:nvPr/>
          </p:nvSpPr>
          <p:spPr>
            <a:xfrm>
              <a:off x="-299462" y="768290"/>
              <a:ext cx="466009" cy="2340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r>
                <a:rPr lang="en-US" sz="2000" b="1">
                  <a:solidFill>
                    <a:srgbClr val="000000"/>
                  </a:solidFill>
                  <a:latin typeface="Playfair Display"/>
                  <a:sym typeface="Playfair Display"/>
                </a:rPr>
                <a:t>Creating the synthetic dataset</a:t>
              </a:r>
            </a:p>
          </p:txBody>
        </p:sp>
      </p:grpSp>
      <p:grpSp>
        <p:nvGrpSpPr>
          <p:cNvPr id="23" name="Group 12">
            <a:extLst>
              <a:ext uri="{FF2B5EF4-FFF2-40B4-BE49-F238E27FC236}">
                <a16:creationId xmlns:a16="http://schemas.microsoft.com/office/drawing/2014/main" id="{DAFFC17B-4159-B890-86CB-31658435A9D2}"/>
              </a:ext>
            </a:extLst>
          </p:cNvPr>
          <p:cNvGrpSpPr/>
          <p:nvPr/>
        </p:nvGrpSpPr>
        <p:grpSpPr>
          <a:xfrm>
            <a:off x="4240197" y="694835"/>
            <a:ext cx="11422816" cy="7533188"/>
            <a:chOff x="-967567" y="-769650"/>
            <a:chExt cx="2821119" cy="1860489"/>
          </a:xfrm>
        </p:grpSpPr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CCF5F6D1-935B-B880-A4F9-B7B7F781C9DD}"/>
                </a:ext>
              </a:extLst>
            </p:cNvPr>
            <p:cNvSpPr/>
            <p:nvPr/>
          </p:nvSpPr>
          <p:spPr>
            <a:xfrm>
              <a:off x="-967567" y="-89604"/>
              <a:ext cx="1125050" cy="195911"/>
            </a:xfrm>
            <a:custGeom>
              <a:avLst/>
              <a:gdLst/>
              <a:ahLst/>
              <a:cxnLst/>
              <a:rect l="l" t="t" r="r" b="b"/>
              <a:pathLst>
                <a:path w="701674" h="195911">
                  <a:moveTo>
                    <a:pt x="0" y="0"/>
                  </a:moveTo>
                  <a:lnTo>
                    <a:pt x="701674" y="0"/>
                  </a:lnTo>
                  <a:lnTo>
                    <a:pt x="701674" y="195911"/>
                  </a:lnTo>
                  <a:lnTo>
                    <a:pt x="0" y="195911"/>
                  </a:lnTo>
                  <a:close/>
                </a:path>
              </a:pathLst>
            </a:custGeom>
            <a:solidFill>
              <a:srgbClr val="EDD0BA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31" name="TextBox 14">
              <a:extLst>
                <a:ext uri="{FF2B5EF4-FFF2-40B4-BE49-F238E27FC236}">
                  <a16:creationId xmlns:a16="http://schemas.microsoft.com/office/drawing/2014/main" id="{144AC58C-93D4-532B-3B69-B76D3256425C}"/>
                </a:ext>
              </a:extLst>
            </p:cNvPr>
            <p:cNvSpPr txBox="1"/>
            <p:nvPr/>
          </p:nvSpPr>
          <p:spPr>
            <a:xfrm>
              <a:off x="-966007" y="-113963"/>
              <a:ext cx="1193761" cy="2340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r>
                <a:rPr lang="en-US" sz="2000" b="1">
                  <a:solidFill>
                    <a:srgbClr val="000000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Data Pre-processing and Cleaning</a:t>
              </a:r>
            </a:p>
          </p:txBody>
        </p:sp>
        <p:sp>
          <p:nvSpPr>
            <p:cNvPr id="34" name="TextBox 14">
              <a:extLst>
                <a:ext uri="{FF2B5EF4-FFF2-40B4-BE49-F238E27FC236}">
                  <a16:creationId xmlns:a16="http://schemas.microsoft.com/office/drawing/2014/main" id="{9E84AC93-7B18-2CB1-F07F-0FAAC87B9EAC}"/>
                </a:ext>
              </a:extLst>
            </p:cNvPr>
            <p:cNvSpPr txBox="1"/>
            <p:nvPr/>
          </p:nvSpPr>
          <p:spPr>
            <a:xfrm>
              <a:off x="-117892" y="117391"/>
              <a:ext cx="701674" cy="2340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r>
                <a:rPr lang="en-US" sz="2000" b="1">
                  <a:solidFill>
                    <a:schemeClr val="bg1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PHASE 2: TRAINING</a:t>
              </a:r>
            </a:p>
          </p:txBody>
        </p:sp>
        <p:sp>
          <p:nvSpPr>
            <p:cNvPr id="54" name="TextBox 14">
              <a:extLst>
                <a:ext uri="{FF2B5EF4-FFF2-40B4-BE49-F238E27FC236}">
                  <a16:creationId xmlns:a16="http://schemas.microsoft.com/office/drawing/2014/main" id="{FBE23250-2C45-C2FD-D1B6-41B5D22FB6C8}"/>
                </a:ext>
              </a:extLst>
            </p:cNvPr>
            <p:cNvSpPr txBox="1"/>
            <p:nvPr/>
          </p:nvSpPr>
          <p:spPr>
            <a:xfrm>
              <a:off x="-520329" y="856828"/>
              <a:ext cx="1208975" cy="2340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r>
                <a:rPr lang="en-US" sz="2000" b="1">
                  <a:solidFill>
                    <a:schemeClr val="bg1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PHASE 4: VOYAGE PLANNING </a:t>
              </a:r>
            </a:p>
          </p:txBody>
        </p:sp>
        <p:sp>
          <p:nvSpPr>
            <p:cNvPr id="56" name="TextBox 14">
              <a:extLst>
                <a:ext uri="{FF2B5EF4-FFF2-40B4-BE49-F238E27FC236}">
                  <a16:creationId xmlns:a16="http://schemas.microsoft.com/office/drawing/2014/main" id="{9697C44A-90BF-9A0E-2C3B-DA589071C5A8}"/>
                </a:ext>
              </a:extLst>
            </p:cNvPr>
            <p:cNvSpPr txBox="1"/>
            <p:nvPr/>
          </p:nvSpPr>
          <p:spPr>
            <a:xfrm>
              <a:off x="-254994" y="-769650"/>
              <a:ext cx="701674" cy="2340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r>
                <a:rPr lang="en-US" sz="2000" b="1">
                  <a:solidFill>
                    <a:schemeClr val="bg1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PHASE 1:</a:t>
              </a:r>
            </a:p>
          </p:txBody>
        </p:sp>
        <p:sp>
          <p:nvSpPr>
            <p:cNvPr id="57" name="TextBox 14">
              <a:extLst>
                <a:ext uri="{FF2B5EF4-FFF2-40B4-BE49-F238E27FC236}">
                  <a16:creationId xmlns:a16="http://schemas.microsoft.com/office/drawing/2014/main" id="{96729ACC-1236-3EA2-2B08-5C9143388929}"/>
                </a:ext>
              </a:extLst>
            </p:cNvPr>
            <p:cNvSpPr txBox="1"/>
            <p:nvPr/>
          </p:nvSpPr>
          <p:spPr>
            <a:xfrm>
              <a:off x="1151878" y="560260"/>
              <a:ext cx="701674" cy="2340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r>
                <a:rPr lang="en-US" sz="2000" b="1">
                  <a:solidFill>
                    <a:schemeClr val="bg1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PHASE 3:</a:t>
              </a:r>
            </a:p>
          </p:txBody>
        </p:sp>
      </p:grpSp>
      <p:sp>
        <p:nvSpPr>
          <p:cNvPr id="32" name="Rettangolo 31">
            <a:extLst>
              <a:ext uri="{FF2B5EF4-FFF2-40B4-BE49-F238E27FC236}">
                <a16:creationId xmlns:a16="http://schemas.microsoft.com/office/drawing/2014/main" id="{22846426-B490-BDCD-CAE7-0FFE40071B13}"/>
              </a:ext>
            </a:extLst>
          </p:cNvPr>
          <p:cNvSpPr/>
          <p:nvPr/>
        </p:nvSpPr>
        <p:spPr>
          <a:xfrm>
            <a:off x="3858905" y="1362539"/>
            <a:ext cx="5181600" cy="3098843"/>
          </a:xfrm>
          <a:prstGeom prst="rect">
            <a:avLst/>
          </a:prstGeom>
          <a:noFill/>
          <a:ln>
            <a:solidFill>
              <a:schemeClr val="bg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9BE1A01D-D798-7FDF-B231-044891F26EF7}"/>
              </a:ext>
            </a:extLst>
          </p:cNvPr>
          <p:cNvSpPr/>
          <p:nvPr/>
        </p:nvSpPr>
        <p:spPr>
          <a:xfrm>
            <a:off x="3014753" y="4954953"/>
            <a:ext cx="7270240" cy="1815073"/>
          </a:xfrm>
          <a:prstGeom prst="rect">
            <a:avLst/>
          </a:prstGeom>
          <a:noFill/>
          <a:ln>
            <a:solidFill>
              <a:schemeClr val="bg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4" name="Freeform 13">
            <a:extLst>
              <a:ext uri="{FF2B5EF4-FFF2-40B4-BE49-F238E27FC236}">
                <a16:creationId xmlns:a16="http://schemas.microsoft.com/office/drawing/2014/main" id="{50E45E5E-2DEE-AFBF-FE77-981BB1681884}"/>
              </a:ext>
            </a:extLst>
          </p:cNvPr>
          <p:cNvSpPr/>
          <p:nvPr/>
        </p:nvSpPr>
        <p:spPr>
          <a:xfrm>
            <a:off x="3142752" y="8420371"/>
            <a:ext cx="2841104" cy="793251"/>
          </a:xfrm>
          <a:custGeom>
            <a:avLst/>
            <a:gdLst/>
            <a:ahLst/>
            <a:cxnLst/>
            <a:rect l="l" t="t" r="r" b="b"/>
            <a:pathLst>
              <a:path w="701674" h="195911">
                <a:moveTo>
                  <a:pt x="0" y="0"/>
                </a:moveTo>
                <a:lnTo>
                  <a:pt x="701674" y="0"/>
                </a:lnTo>
                <a:lnTo>
                  <a:pt x="701674" y="195911"/>
                </a:lnTo>
                <a:lnTo>
                  <a:pt x="0" y="195911"/>
                </a:lnTo>
                <a:close/>
              </a:path>
            </a:pathLst>
          </a:custGeom>
          <a:solidFill>
            <a:srgbClr val="EDD0BA"/>
          </a:solidFill>
        </p:spPr>
        <p:txBody>
          <a:bodyPr/>
          <a:lstStyle/>
          <a:p>
            <a:endParaRPr lang="it-IT"/>
          </a:p>
        </p:txBody>
      </p:sp>
      <p:sp>
        <p:nvSpPr>
          <p:cNvPr id="47" name="Freeform 16">
            <a:extLst>
              <a:ext uri="{FF2B5EF4-FFF2-40B4-BE49-F238E27FC236}">
                <a16:creationId xmlns:a16="http://schemas.microsoft.com/office/drawing/2014/main" id="{78FECE6C-3C89-1F2D-2F72-AB0F19B17A73}"/>
              </a:ext>
            </a:extLst>
          </p:cNvPr>
          <p:cNvSpPr/>
          <p:nvPr/>
        </p:nvSpPr>
        <p:spPr>
          <a:xfrm>
            <a:off x="6971545" y="8411437"/>
            <a:ext cx="2871484" cy="793251"/>
          </a:xfrm>
          <a:custGeom>
            <a:avLst/>
            <a:gdLst/>
            <a:ahLst/>
            <a:cxnLst/>
            <a:rect l="l" t="t" r="r" b="b"/>
            <a:pathLst>
              <a:path w="709178" h="195911">
                <a:moveTo>
                  <a:pt x="0" y="0"/>
                </a:moveTo>
                <a:lnTo>
                  <a:pt x="709178" y="0"/>
                </a:lnTo>
                <a:lnTo>
                  <a:pt x="709178" y="195911"/>
                </a:lnTo>
                <a:lnTo>
                  <a:pt x="0" y="195911"/>
                </a:lnTo>
                <a:close/>
              </a:path>
            </a:pathLst>
          </a:custGeom>
          <a:solidFill>
            <a:srgbClr val="EDD0BA"/>
          </a:solidFill>
        </p:spPr>
        <p:txBody>
          <a:bodyPr/>
          <a:lstStyle/>
          <a:p>
            <a:endParaRPr lang="it-IT"/>
          </a:p>
        </p:txBody>
      </p:sp>
      <p:sp>
        <p:nvSpPr>
          <p:cNvPr id="48" name="TextBox 17">
            <a:extLst>
              <a:ext uri="{FF2B5EF4-FFF2-40B4-BE49-F238E27FC236}">
                <a16:creationId xmlns:a16="http://schemas.microsoft.com/office/drawing/2014/main" id="{6EE414B4-3316-A6E5-B9FE-6251E293D6CF}"/>
              </a:ext>
            </a:extLst>
          </p:cNvPr>
          <p:cNvSpPr txBox="1"/>
          <p:nvPr/>
        </p:nvSpPr>
        <p:spPr>
          <a:xfrm>
            <a:off x="3036088" y="8402363"/>
            <a:ext cx="2871484" cy="79325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400"/>
              </a:lnSpc>
            </a:pPr>
            <a:r>
              <a:rPr lang="en-US" sz="2000" b="1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LS-PLS regression</a:t>
            </a:r>
          </a:p>
        </p:txBody>
      </p:sp>
      <p:sp>
        <p:nvSpPr>
          <p:cNvPr id="49" name="Rettangolo 48">
            <a:extLst>
              <a:ext uri="{FF2B5EF4-FFF2-40B4-BE49-F238E27FC236}">
                <a16:creationId xmlns:a16="http://schemas.microsoft.com/office/drawing/2014/main" id="{17AF70A3-6A12-506B-B0EE-DD09BCBA24D4}"/>
              </a:ext>
            </a:extLst>
          </p:cNvPr>
          <p:cNvSpPr/>
          <p:nvPr/>
        </p:nvSpPr>
        <p:spPr>
          <a:xfrm>
            <a:off x="3014753" y="7928717"/>
            <a:ext cx="7270240" cy="1815073"/>
          </a:xfrm>
          <a:prstGeom prst="rect">
            <a:avLst/>
          </a:prstGeom>
          <a:noFill/>
          <a:ln>
            <a:solidFill>
              <a:schemeClr val="bg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E2CC4C65-CEBC-81C3-E830-7DC1B356849F}"/>
              </a:ext>
            </a:extLst>
          </p:cNvPr>
          <p:cNvSpPr txBox="1"/>
          <p:nvPr/>
        </p:nvSpPr>
        <p:spPr>
          <a:xfrm>
            <a:off x="7382773" y="8616941"/>
            <a:ext cx="1952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b="1">
                <a:solidFill>
                  <a:srgbClr val="000000"/>
                </a:solidFill>
                <a:latin typeface="Playfair Display"/>
              </a:rPr>
              <a:t>LSTM network</a:t>
            </a:r>
          </a:p>
        </p:txBody>
      </p:sp>
      <p:cxnSp>
        <p:nvCxnSpPr>
          <p:cNvPr id="66" name="Connettore diritto 65">
            <a:extLst>
              <a:ext uri="{FF2B5EF4-FFF2-40B4-BE49-F238E27FC236}">
                <a16:creationId xmlns:a16="http://schemas.microsoft.com/office/drawing/2014/main" id="{52C69575-0FB4-8AEC-BAE6-CADDFDE0ECA7}"/>
              </a:ext>
            </a:extLst>
          </p:cNvPr>
          <p:cNvCxnSpPr>
            <a:cxnSpLocks/>
          </p:cNvCxnSpPr>
          <p:nvPr/>
        </p:nvCxnSpPr>
        <p:spPr>
          <a:xfrm flipV="1">
            <a:off x="4471830" y="5210839"/>
            <a:ext cx="3965702" cy="1392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ttore 2 67">
            <a:extLst>
              <a:ext uri="{FF2B5EF4-FFF2-40B4-BE49-F238E27FC236}">
                <a16:creationId xmlns:a16="http://schemas.microsoft.com/office/drawing/2014/main" id="{79A2851E-6A91-B2D2-3777-B7D4D470BBC9}"/>
              </a:ext>
            </a:extLst>
          </p:cNvPr>
          <p:cNvCxnSpPr>
            <a:cxnSpLocks/>
          </p:cNvCxnSpPr>
          <p:nvPr/>
        </p:nvCxnSpPr>
        <p:spPr>
          <a:xfrm>
            <a:off x="4471830" y="5210839"/>
            <a:ext cx="0" cy="33908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ttore 2 69">
            <a:extLst>
              <a:ext uri="{FF2B5EF4-FFF2-40B4-BE49-F238E27FC236}">
                <a16:creationId xmlns:a16="http://schemas.microsoft.com/office/drawing/2014/main" id="{53F84C93-4ED1-0A7D-74D1-8FFA3415FB9E}"/>
              </a:ext>
            </a:extLst>
          </p:cNvPr>
          <p:cNvCxnSpPr>
            <a:cxnSpLocks/>
          </p:cNvCxnSpPr>
          <p:nvPr/>
        </p:nvCxnSpPr>
        <p:spPr>
          <a:xfrm>
            <a:off x="8427580" y="5210839"/>
            <a:ext cx="0" cy="33908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ttore diritto 71">
            <a:extLst>
              <a:ext uri="{FF2B5EF4-FFF2-40B4-BE49-F238E27FC236}">
                <a16:creationId xmlns:a16="http://schemas.microsoft.com/office/drawing/2014/main" id="{42F91460-8FE0-083B-30FE-AFF63BFFDF34}"/>
              </a:ext>
            </a:extLst>
          </p:cNvPr>
          <p:cNvCxnSpPr>
            <a:cxnSpLocks/>
          </p:cNvCxnSpPr>
          <p:nvPr/>
        </p:nvCxnSpPr>
        <p:spPr>
          <a:xfrm>
            <a:off x="6400800" y="4241617"/>
            <a:ext cx="0" cy="98314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ttore 2 77">
            <a:extLst>
              <a:ext uri="{FF2B5EF4-FFF2-40B4-BE49-F238E27FC236}">
                <a16:creationId xmlns:a16="http://schemas.microsoft.com/office/drawing/2014/main" id="{3FD281A9-E70D-1F4C-8733-BD43B804FA04}"/>
              </a:ext>
            </a:extLst>
          </p:cNvPr>
          <p:cNvCxnSpPr>
            <a:cxnSpLocks/>
          </p:cNvCxnSpPr>
          <p:nvPr/>
        </p:nvCxnSpPr>
        <p:spPr>
          <a:xfrm>
            <a:off x="6400800" y="2725310"/>
            <a:ext cx="0" cy="7169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ttore 2 82">
            <a:extLst>
              <a:ext uri="{FF2B5EF4-FFF2-40B4-BE49-F238E27FC236}">
                <a16:creationId xmlns:a16="http://schemas.microsoft.com/office/drawing/2014/main" id="{12C3986C-7B73-B599-A0D8-53924BF06855}"/>
              </a:ext>
            </a:extLst>
          </p:cNvPr>
          <p:cNvCxnSpPr>
            <a:cxnSpLocks/>
            <a:endCxn id="48" idx="0"/>
          </p:cNvCxnSpPr>
          <p:nvPr/>
        </p:nvCxnSpPr>
        <p:spPr>
          <a:xfrm>
            <a:off x="4471830" y="6343171"/>
            <a:ext cx="0" cy="205919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ttore 2 88">
            <a:extLst>
              <a:ext uri="{FF2B5EF4-FFF2-40B4-BE49-F238E27FC236}">
                <a16:creationId xmlns:a16="http://schemas.microsoft.com/office/drawing/2014/main" id="{FBB7A405-A782-A84B-AB66-9BC3619200FF}"/>
              </a:ext>
            </a:extLst>
          </p:cNvPr>
          <p:cNvCxnSpPr>
            <a:cxnSpLocks/>
          </p:cNvCxnSpPr>
          <p:nvPr/>
        </p:nvCxnSpPr>
        <p:spPr>
          <a:xfrm flipH="1">
            <a:off x="9858084" y="8798988"/>
            <a:ext cx="354774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nettore 2 97">
            <a:extLst>
              <a:ext uri="{FF2B5EF4-FFF2-40B4-BE49-F238E27FC236}">
                <a16:creationId xmlns:a16="http://schemas.microsoft.com/office/drawing/2014/main" id="{EB0AADB2-3698-B67E-D42E-35AA7DF26B1A}"/>
              </a:ext>
            </a:extLst>
          </p:cNvPr>
          <p:cNvCxnSpPr>
            <a:cxnSpLocks/>
          </p:cNvCxnSpPr>
          <p:nvPr/>
        </p:nvCxnSpPr>
        <p:spPr>
          <a:xfrm>
            <a:off x="13405824" y="2118526"/>
            <a:ext cx="68514" cy="468216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ttore diritto 105">
            <a:extLst>
              <a:ext uri="{FF2B5EF4-FFF2-40B4-BE49-F238E27FC236}">
                <a16:creationId xmlns:a16="http://schemas.microsoft.com/office/drawing/2014/main" id="{645FE671-B598-6480-2E74-F3E023054C8A}"/>
              </a:ext>
            </a:extLst>
          </p:cNvPr>
          <p:cNvCxnSpPr>
            <a:cxnSpLocks/>
          </p:cNvCxnSpPr>
          <p:nvPr/>
        </p:nvCxnSpPr>
        <p:spPr>
          <a:xfrm>
            <a:off x="13405824" y="8064489"/>
            <a:ext cx="0" cy="73449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diritto 65">
            <a:extLst>
              <a:ext uri="{FF2B5EF4-FFF2-40B4-BE49-F238E27FC236}">
                <a16:creationId xmlns:a16="http://schemas.microsoft.com/office/drawing/2014/main" id="{4D903E10-AB7C-9E57-645E-2B9AA718569A}"/>
              </a:ext>
            </a:extLst>
          </p:cNvPr>
          <p:cNvCxnSpPr>
            <a:cxnSpLocks/>
          </p:cNvCxnSpPr>
          <p:nvPr/>
        </p:nvCxnSpPr>
        <p:spPr>
          <a:xfrm flipV="1">
            <a:off x="9054716" y="2130181"/>
            <a:ext cx="4368472" cy="1392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172845">
            <a:off x="6368285" y="-727739"/>
            <a:ext cx="14678668" cy="7392711"/>
          </a:xfrm>
          <a:custGeom>
            <a:avLst/>
            <a:gdLst/>
            <a:ahLst/>
            <a:cxnLst/>
            <a:rect l="l" t="t" r="r" b="b"/>
            <a:pathLst>
              <a:path w="14678668" h="7392711">
                <a:moveTo>
                  <a:pt x="0" y="0"/>
                </a:moveTo>
                <a:lnTo>
                  <a:pt x="14678668" y="0"/>
                </a:lnTo>
                <a:lnTo>
                  <a:pt x="14678668" y="7392711"/>
                </a:lnTo>
                <a:lnTo>
                  <a:pt x="0" y="73927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 rot="2172845">
            <a:off x="-3843661" y="7384212"/>
            <a:ext cx="14678668" cy="7392711"/>
          </a:xfrm>
          <a:custGeom>
            <a:avLst/>
            <a:gdLst/>
            <a:ahLst/>
            <a:cxnLst/>
            <a:rect l="l" t="t" r="r" b="b"/>
            <a:pathLst>
              <a:path w="14678668" h="7392711">
                <a:moveTo>
                  <a:pt x="0" y="0"/>
                </a:moveTo>
                <a:lnTo>
                  <a:pt x="14678668" y="0"/>
                </a:lnTo>
                <a:lnTo>
                  <a:pt x="14678668" y="7392711"/>
                </a:lnTo>
                <a:lnTo>
                  <a:pt x="0" y="73927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4" name="Group 4"/>
          <p:cNvGrpSpPr/>
          <p:nvPr/>
        </p:nvGrpSpPr>
        <p:grpSpPr>
          <a:xfrm>
            <a:off x="2538972" y="4422541"/>
            <a:ext cx="3240242" cy="4065048"/>
            <a:chOff x="0" y="0"/>
            <a:chExt cx="853397" cy="107063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53397" cy="1070630"/>
            </a:xfrm>
            <a:custGeom>
              <a:avLst/>
              <a:gdLst/>
              <a:ahLst/>
              <a:cxnLst/>
              <a:rect l="l" t="t" r="r" b="b"/>
              <a:pathLst>
                <a:path w="853397" h="1070630">
                  <a:moveTo>
                    <a:pt x="121854" y="0"/>
                  </a:moveTo>
                  <a:lnTo>
                    <a:pt x="731543" y="0"/>
                  </a:lnTo>
                  <a:cubicBezTo>
                    <a:pt x="763860" y="0"/>
                    <a:pt x="794855" y="12838"/>
                    <a:pt x="817707" y="35690"/>
                  </a:cubicBezTo>
                  <a:cubicBezTo>
                    <a:pt x="840559" y="58542"/>
                    <a:pt x="853397" y="89537"/>
                    <a:pt x="853397" y="121854"/>
                  </a:cubicBezTo>
                  <a:lnTo>
                    <a:pt x="853397" y="948775"/>
                  </a:lnTo>
                  <a:cubicBezTo>
                    <a:pt x="853397" y="1016074"/>
                    <a:pt x="798841" y="1070630"/>
                    <a:pt x="731543" y="1070630"/>
                  </a:cubicBezTo>
                  <a:lnTo>
                    <a:pt x="121854" y="1070630"/>
                  </a:lnTo>
                  <a:cubicBezTo>
                    <a:pt x="54556" y="1070630"/>
                    <a:pt x="0" y="1016074"/>
                    <a:pt x="0" y="948775"/>
                  </a:cubicBezTo>
                  <a:lnTo>
                    <a:pt x="0" y="121854"/>
                  </a:lnTo>
                  <a:cubicBezTo>
                    <a:pt x="0" y="54556"/>
                    <a:pt x="54556" y="0"/>
                    <a:pt x="121854" y="0"/>
                  </a:cubicBezTo>
                  <a:close/>
                </a:path>
              </a:pathLst>
            </a:custGeom>
            <a:solidFill>
              <a:srgbClr val="ACB8C7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53397" cy="1108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967514" y="4422541"/>
            <a:ext cx="3240242" cy="4065048"/>
            <a:chOff x="0" y="0"/>
            <a:chExt cx="853397" cy="107063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53397" cy="1070630"/>
            </a:xfrm>
            <a:custGeom>
              <a:avLst/>
              <a:gdLst/>
              <a:ahLst/>
              <a:cxnLst/>
              <a:rect l="l" t="t" r="r" b="b"/>
              <a:pathLst>
                <a:path w="853397" h="1070630">
                  <a:moveTo>
                    <a:pt x="121854" y="0"/>
                  </a:moveTo>
                  <a:lnTo>
                    <a:pt x="731543" y="0"/>
                  </a:lnTo>
                  <a:cubicBezTo>
                    <a:pt x="763860" y="0"/>
                    <a:pt x="794855" y="12838"/>
                    <a:pt x="817707" y="35690"/>
                  </a:cubicBezTo>
                  <a:cubicBezTo>
                    <a:pt x="840559" y="58542"/>
                    <a:pt x="853397" y="89537"/>
                    <a:pt x="853397" y="121854"/>
                  </a:cubicBezTo>
                  <a:lnTo>
                    <a:pt x="853397" y="948775"/>
                  </a:lnTo>
                  <a:cubicBezTo>
                    <a:pt x="853397" y="1016074"/>
                    <a:pt x="798841" y="1070630"/>
                    <a:pt x="731543" y="1070630"/>
                  </a:cubicBezTo>
                  <a:lnTo>
                    <a:pt x="121854" y="1070630"/>
                  </a:lnTo>
                  <a:cubicBezTo>
                    <a:pt x="54556" y="1070630"/>
                    <a:pt x="0" y="1016074"/>
                    <a:pt x="0" y="948775"/>
                  </a:cubicBezTo>
                  <a:lnTo>
                    <a:pt x="0" y="121854"/>
                  </a:lnTo>
                  <a:cubicBezTo>
                    <a:pt x="0" y="54556"/>
                    <a:pt x="54556" y="0"/>
                    <a:pt x="121854" y="0"/>
                  </a:cubicBezTo>
                  <a:close/>
                </a:path>
              </a:pathLst>
            </a:custGeom>
            <a:solidFill>
              <a:srgbClr val="ACB8C7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53397" cy="1108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523879" y="4422541"/>
            <a:ext cx="3240242" cy="4065048"/>
            <a:chOff x="0" y="0"/>
            <a:chExt cx="853397" cy="107063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53397" cy="1070630"/>
            </a:xfrm>
            <a:custGeom>
              <a:avLst/>
              <a:gdLst/>
              <a:ahLst/>
              <a:cxnLst/>
              <a:rect l="l" t="t" r="r" b="b"/>
              <a:pathLst>
                <a:path w="853397" h="1070630">
                  <a:moveTo>
                    <a:pt x="121854" y="0"/>
                  </a:moveTo>
                  <a:lnTo>
                    <a:pt x="731543" y="0"/>
                  </a:lnTo>
                  <a:cubicBezTo>
                    <a:pt x="763860" y="0"/>
                    <a:pt x="794855" y="12838"/>
                    <a:pt x="817707" y="35690"/>
                  </a:cubicBezTo>
                  <a:cubicBezTo>
                    <a:pt x="840559" y="58542"/>
                    <a:pt x="853397" y="89537"/>
                    <a:pt x="853397" y="121854"/>
                  </a:cubicBezTo>
                  <a:lnTo>
                    <a:pt x="853397" y="948775"/>
                  </a:lnTo>
                  <a:cubicBezTo>
                    <a:pt x="853397" y="1016074"/>
                    <a:pt x="798841" y="1070630"/>
                    <a:pt x="731543" y="1070630"/>
                  </a:cubicBezTo>
                  <a:lnTo>
                    <a:pt x="121854" y="1070630"/>
                  </a:lnTo>
                  <a:cubicBezTo>
                    <a:pt x="54556" y="1070630"/>
                    <a:pt x="0" y="1016074"/>
                    <a:pt x="0" y="948775"/>
                  </a:cubicBezTo>
                  <a:lnTo>
                    <a:pt x="0" y="121854"/>
                  </a:lnTo>
                  <a:cubicBezTo>
                    <a:pt x="0" y="54556"/>
                    <a:pt x="54556" y="0"/>
                    <a:pt x="121854" y="0"/>
                  </a:cubicBezTo>
                  <a:close/>
                </a:path>
              </a:pathLst>
            </a:custGeom>
            <a:solidFill>
              <a:srgbClr val="ACB8C7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53397" cy="1108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 flipH="1">
            <a:off x="3255300" y="4643074"/>
            <a:ext cx="1653443" cy="1811992"/>
          </a:xfrm>
          <a:custGeom>
            <a:avLst/>
            <a:gdLst/>
            <a:ahLst/>
            <a:cxnLst/>
            <a:rect l="l" t="t" r="r" b="b"/>
            <a:pathLst>
              <a:path w="1653443" h="1811992">
                <a:moveTo>
                  <a:pt x="1653443" y="0"/>
                </a:moveTo>
                <a:lnTo>
                  <a:pt x="0" y="0"/>
                </a:lnTo>
                <a:lnTo>
                  <a:pt x="0" y="1811991"/>
                </a:lnTo>
                <a:lnTo>
                  <a:pt x="1653443" y="1811991"/>
                </a:lnTo>
                <a:lnTo>
                  <a:pt x="165344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4" name="Freeform 14"/>
          <p:cNvSpPr/>
          <p:nvPr/>
        </p:nvSpPr>
        <p:spPr>
          <a:xfrm>
            <a:off x="8301829" y="4739531"/>
            <a:ext cx="1684343" cy="1715534"/>
          </a:xfrm>
          <a:custGeom>
            <a:avLst/>
            <a:gdLst/>
            <a:ahLst/>
            <a:cxnLst/>
            <a:rect l="l" t="t" r="r" b="b"/>
            <a:pathLst>
              <a:path w="1684343" h="1715534">
                <a:moveTo>
                  <a:pt x="0" y="0"/>
                </a:moveTo>
                <a:lnTo>
                  <a:pt x="1684342" y="0"/>
                </a:lnTo>
                <a:lnTo>
                  <a:pt x="1684342" y="1715534"/>
                </a:lnTo>
                <a:lnTo>
                  <a:pt x="0" y="17155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5" name="Freeform 15"/>
          <p:cNvSpPr/>
          <p:nvPr/>
        </p:nvSpPr>
        <p:spPr>
          <a:xfrm>
            <a:off x="13971418" y="4739531"/>
            <a:ext cx="1558920" cy="1715534"/>
          </a:xfrm>
          <a:custGeom>
            <a:avLst/>
            <a:gdLst/>
            <a:ahLst/>
            <a:cxnLst/>
            <a:rect l="l" t="t" r="r" b="b"/>
            <a:pathLst>
              <a:path w="1558920" h="1715534">
                <a:moveTo>
                  <a:pt x="0" y="0"/>
                </a:moveTo>
                <a:lnTo>
                  <a:pt x="1558919" y="0"/>
                </a:lnTo>
                <a:lnTo>
                  <a:pt x="1558919" y="1715534"/>
                </a:lnTo>
                <a:lnTo>
                  <a:pt x="0" y="17155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6" name="TextBox 16"/>
          <p:cNvSpPr txBox="1"/>
          <p:nvPr/>
        </p:nvSpPr>
        <p:spPr>
          <a:xfrm>
            <a:off x="3393177" y="279635"/>
            <a:ext cx="11357700" cy="58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4000" b="1">
                <a:solidFill>
                  <a:srgbClr val="36E9FD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METHODOLOGY (1/4)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20657" y="2045611"/>
            <a:ext cx="7529837" cy="563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3300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Pre-processing and Data cleaning: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71286" y="2653350"/>
            <a:ext cx="13951564" cy="563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33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reliability of the data is important for ensuring an accurate forecast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94174" y="6731290"/>
            <a:ext cx="7529837" cy="1144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3300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Integrity of </a:t>
            </a:r>
          </a:p>
          <a:p>
            <a:pPr algn="ctr">
              <a:lnSpc>
                <a:spcPts val="4621"/>
              </a:lnSpc>
            </a:pPr>
            <a:r>
              <a:rPr lang="en-US" sz="3300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Data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379081" y="7021803"/>
            <a:ext cx="7529837" cy="563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3300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Anomaly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822716" y="6731290"/>
            <a:ext cx="7529837" cy="1144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3300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Status of the</a:t>
            </a:r>
          </a:p>
          <a:p>
            <a:pPr algn="ctr">
              <a:lnSpc>
                <a:spcPts val="4621"/>
              </a:lnSpc>
            </a:pPr>
            <a:r>
              <a:rPr lang="en-US" sz="3300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ship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312489" y="150666"/>
            <a:ext cx="1732152" cy="62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15"/>
              </a:lnSpc>
            </a:pPr>
            <a:r>
              <a:rPr lang="en-US" sz="1225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CANDIDATA </a:t>
            </a:r>
          </a:p>
          <a:p>
            <a:pPr algn="ctr">
              <a:lnSpc>
                <a:spcPts val="1715"/>
              </a:lnSpc>
            </a:pPr>
            <a:r>
              <a:rPr lang="en-US" sz="12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Vincenza Siani</a:t>
            </a:r>
          </a:p>
          <a:p>
            <a:pPr algn="ctr">
              <a:lnSpc>
                <a:spcPts val="1715"/>
              </a:lnSpc>
            </a:pPr>
            <a:r>
              <a:rPr lang="en-US" sz="12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M62003043</a:t>
            </a:r>
          </a:p>
        </p:txBody>
      </p:sp>
      <p:sp>
        <p:nvSpPr>
          <p:cNvPr id="23" name="Freeform 23"/>
          <p:cNvSpPr/>
          <p:nvPr/>
        </p:nvSpPr>
        <p:spPr>
          <a:xfrm>
            <a:off x="175914" y="169716"/>
            <a:ext cx="2626631" cy="850372"/>
          </a:xfrm>
          <a:custGeom>
            <a:avLst/>
            <a:gdLst/>
            <a:ahLst/>
            <a:cxnLst/>
            <a:rect l="l" t="t" r="r" b="b"/>
            <a:pathLst>
              <a:path w="2626631" h="850372">
                <a:moveTo>
                  <a:pt x="0" y="0"/>
                </a:moveTo>
                <a:lnTo>
                  <a:pt x="2626631" y="0"/>
                </a:lnTo>
                <a:lnTo>
                  <a:pt x="2626631" y="850372"/>
                </a:lnTo>
                <a:lnTo>
                  <a:pt x="0" y="8503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172845">
            <a:off x="6368285" y="-727739"/>
            <a:ext cx="14678668" cy="7392711"/>
          </a:xfrm>
          <a:custGeom>
            <a:avLst/>
            <a:gdLst/>
            <a:ahLst/>
            <a:cxnLst/>
            <a:rect l="l" t="t" r="r" b="b"/>
            <a:pathLst>
              <a:path w="14678668" h="7392711">
                <a:moveTo>
                  <a:pt x="0" y="0"/>
                </a:moveTo>
                <a:lnTo>
                  <a:pt x="14678668" y="0"/>
                </a:lnTo>
                <a:lnTo>
                  <a:pt x="14678668" y="7392711"/>
                </a:lnTo>
                <a:lnTo>
                  <a:pt x="0" y="73927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 rot="2172845">
            <a:off x="-3843661" y="7384212"/>
            <a:ext cx="14678668" cy="7392711"/>
          </a:xfrm>
          <a:custGeom>
            <a:avLst/>
            <a:gdLst/>
            <a:ahLst/>
            <a:cxnLst/>
            <a:rect l="l" t="t" r="r" b="b"/>
            <a:pathLst>
              <a:path w="14678668" h="7392711">
                <a:moveTo>
                  <a:pt x="0" y="0"/>
                </a:moveTo>
                <a:lnTo>
                  <a:pt x="14678668" y="0"/>
                </a:lnTo>
                <a:lnTo>
                  <a:pt x="14678668" y="7392711"/>
                </a:lnTo>
                <a:lnTo>
                  <a:pt x="0" y="73927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4" name="Group 4"/>
          <p:cNvGrpSpPr/>
          <p:nvPr/>
        </p:nvGrpSpPr>
        <p:grpSpPr>
          <a:xfrm>
            <a:off x="2004162" y="3741083"/>
            <a:ext cx="4681517" cy="5964839"/>
            <a:chOff x="0" y="0"/>
            <a:chExt cx="1232992" cy="15709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32992" cy="1570986"/>
            </a:xfrm>
            <a:custGeom>
              <a:avLst/>
              <a:gdLst/>
              <a:ahLst/>
              <a:cxnLst/>
              <a:rect l="l" t="t" r="r" b="b"/>
              <a:pathLst>
                <a:path w="1232992" h="1570986">
                  <a:moveTo>
                    <a:pt x="84340" y="0"/>
                  </a:moveTo>
                  <a:lnTo>
                    <a:pt x="1148652" y="0"/>
                  </a:lnTo>
                  <a:cubicBezTo>
                    <a:pt x="1171021" y="0"/>
                    <a:pt x="1192473" y="8886"/>
                    <a:pt x="1208289" y="24703"/>
                  </a:cubicBezTo>
                  <a:cubicBezTo>
                    <a:pt x="1224106" y="40519"/>
                    <a:pt x="1232992" y="61971"/>
                    <a:pt x="1232992" y="84340"/>
                  </a:cubicBezTo>
                  <a:lnTo>
                    <a:pt x="1232992" y="1486647"/>
                  </a:lnTo>
                  <a:cubicBezTo>
                    <a:pt x="1232992" y="1533226"/>
                    <a:pt x="1195232" y="1570986"/>
                    <a:pt x="1148652" y="1570986"/>
                  </a:cubicBezTo>
                  <a:lnTo>
                    <a:pt x="84340" y="1570986"/>
                  </a:lnTo>
                  <a:cubicBezTo>
                    <a:pt x="61971" y="1570986"/>
                    <a:pt x="40519" y="1562101"/>
                    <a:pt x="24703" y="1546284"/>
                  </a:cubicBezTo>
                  <a:cubicBezTo>
                    <a:pt x="8886" y="1530467"/>
                    <a:pt x="0" y="1509015"/>
                    <a:pt x="0" y="1486647"/>
                  </a:cubicBezTo>
                  <a:lnTo>
                    <a:pt x="0" y="84340"/>
                  </a:lnTo>
                  <a:cubicBezTo>
                    <a:pt x="0" y="61971"/>
                    <a:pt x="8886" y="40519"/>
                    <a:pt x="24703" y="24703"/>
                  </a:cubicBezTo>
                  <a:cubicBezTo>
                    <a:pt x="40519" y="8886"/>
                    <a:pt x="61971" y="0"/>
                    <a:pt x="8434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1F65">
                    <a:alpha val="100000"/>
                  </a:srgbClr>
                </a:gs>
                <a:gs pos="100000">
                  <a:srgbClr val="6895FD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232992" cy="16090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967514" y="4422541"/>
            <a:ext cx="3240242" cy="4065048"/>
            <a:chOff x="0" y="0"/>
            <a:chExt cx="853397" cy="107063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53397" cy="1070630"/>
            </a:xfrm>
            <a:custGeom>
              <a:avLst/>
              <a:gdLst/>
              <a:ahLst/>
              <a:cxnLst/>
              <a:rect l="l" t="t" r="r" b="b"/>
              <a:pathLst>
                <a:path w="853397" h="1070630">
                  <a:moveTo>
                    <a:pt x="121854" y="0"/>
                  </a:moveTo>
                  <a:lnTo>
                    <a:pt x="731543" y="0"/>
                  </a:lnTo>
                  <a:cubicBezTo>
                    <a:pt x="763860" y="0"/>
                    <a:pt x="794855" y="12838"/>
                    <a:pt x="817707" y="35690"/>
                  </a:cubicBezTo>
                  <a:cubicBezTo>
                    <a:pt x="840559" y="58542"/>
                    <a:pt x="853397" y="89537"/>
                    <a:pt x="853397" y="121854"/>
                  </a:cubicBezTo>
                  <a:lnTo>
                    <a:pt x="853397" y="948775"/>
                  </a:lnTo>
                  <a:cubicBezTo>
                    <a:pt x="853397" y="1016074"/>
                    <a:pt x="798841" y="1070630"/>
                    <a:pt x="731543" y="1070630"/>
                  </a:cubicBezTo>
                  <a:lnTo>
                    <a:pt x="121854" y="1070630"/>
                  </a:lnTo>
                  <a:cubicBezTo>
                    <a:pt x="54556" y="1070630"/>
                    <a:pt x="0" y="1016074"/>
                    <a:pt x="0" y="948775"/>
                  </a:cubicBezTo>
                  <a:lnTo>
                    <a:pt x="0" y="121854"/>
                  </a:lnTo>
                  <a:cubicBezTo>
                    <a:pt x="0" y="54556"/>
                    <a:pt x="54556" y="0"/>
                    <a:pt x="121854" y="0"/>
                  </a:cubicBezTo>
                  <a:close/>
                </a:path>
              </a:pathLst>
            </a:custGeom>
            <a:solidFill>
              <a:srgbClr val="ACB8C7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53397" cy="1108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523879" y="4422541"/>
            <a:ext cx="3240242" cy="4065048"/>
            <a:chOff x="0" y="0"/>
            <a:chExt cx="853397" cy="107063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53397" cy="1070630"/>
            </a:xfrm>
            <a:custGeom>
              <a:avLst/>
              <a:gdLst/>
              <a:ahLst/>
              <a:cxnLst/>
              <a:rect l="l" t="t" r="r" b="b"/>
              <a:pathLst>
                <a:path w="853397" h="1070630">
                  <a:moveTo>
                    <a:pt x="121854" y="0"/>
                  </a:moveTo>
                  <a:lnTo>
                    <a:pt x="731543" y="0"/>
                  </a:lnTo>
                  <a:cubicBezTo>
                    <a:pt x="763860" y="0"/>
                    <a:pt x="794855" y="12838"/>
                    <a:pt x="817707" y="35690"/>
                  </a:cubicBezTo>
                  <a:cubicBezTo>
                    <a:pt x="840559" y="58542"/>
                    <a:pt x="853397" y="89537"/>
                    <a:pt x="853397" y="121854"/>
                  </a:cubicBezTo>
                  <a:lnTo>
                    <a:pt x="853397" y="948775"/>
                  </a:lnTo>
                  <a:cubicBezTo>
                    <a:pt x="853397" y="1016074"/>
                    <a:pt x="798841" y="1070630"/>
                    <a:pt x="731543" y="1070630"/>
                  </a:cubicBezTo>
                  <a:lnTo>
                    <a:pt x="121854" y="1070630"/>
                  </a:lnTo>
                  <a:cubicBezTo>
                    <a:pt x="54556" y="1070630"/>
                    <a:pt x="0" y="1016074"/>
                    <a:pt x="0" y="948775"/>
                  </a:cubicBezTo>
                  <a:lnTo>
                    <a:pt x="0" y="121854"/>
                  </a:lnTo>
                  <a:cubicBezTo>
                    <a:pt x="0" y="54556"/>
                    <a:pt x="54556" y="0"/>
                    <a:pt x="121854" y="0"/>
                  </a:cubicBezTo>
                  <a:close/>
                </a:path>
              </a:pathLst>
            </a:custGeom>
            <a:solidFill>
              <a:srgbClr val="ACB8C7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53397" cy="1108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 flipH="1">
            <a:off x="3495673" y="4133282"/>
            <a:ext cx="1653443" cy="1811992"/>
          </a:xfrm>
          <a:custGeom>
            <a:avLst/>
            <a:gdLst/>
            <a:ahLst/>
            <a:cxnLst/>
            <a:rect l="l" t="t" r="r" b="b"/>
            <a:pathLst>
              <a:path w="1653443" h="1811992">
                <a:moveTo>
                  <a:pt x="1653443" y="0"/>
                </a:moveTo>
                <a:lnTo>
                  <a:pt x="0" y="0"/>
                </a:lnTo>
                <a:lnTo>
                  <a:pt x="0" y="1811992"/>
                </a:lnTo>
                <a:lnTo>
                  <a:pt x="1653443" y="1811992"/>
                </a:lnTo>
                <a:lnTo>
                  <a:pt x="165344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4" name="Freeform 14"/>
          <p:cNvSpPr/>
          <p:nvPr/>
        </p:nvSpPr>
        <p:spPr>
          <a:xfrm>
            <a:off x="8301829" y="4739531"/>
            <a:ext cx="1684343" cy="1715534"/>
          </a:xfrm>
          <a:custGeom>
            <a:avLst/>
            <a:gdLst/>
            <a:ahLst/>
            <a:cxnLst/>
            <a:rect l="l" t="t" r="r" b="b"/>
            <a:pathLst>
              <a:path w="1684343" h="1715534">
                <a:moveTo>
                  <a:pt x="0" y="0"/>
                </a:moveTo>
                <a:lnTo>
                  <a:pt x="1684342" y="0"/>
                </a:lnTo>
                <a:lnTo>
                  <a:pt x="1684342" y="1715534"/>
                </a:lnTo>
                <a:lnTo>
                  <a:pt x="0" y="17155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5" name="Freeform 15"/>
          <p:cNvSpPr/>
          <p:nvPr/>
        </p:nvSpPr>
        <p:spPr>
          <a:xfrm>
            <a:off x="13971418" y="4739531"/>
            <a:ext cx="1558920" cy="1715534"/>
          </a:xfrm>
          <a:custGeom>
            <a:avLst/>
            <a:gdLst/>
            <a:ahLst/>
            <a:cxnLst/>
            <a:rect l="l" t="t" r="r" b="b"/>
            <a:pathLst>
              <a:path w="1558920" h="1715534">
                <a:moveTo>
                  <a:pt x="0" y="0"/>
                </a:moveTo>
                <a:lnTo>
                  <a:pt x="1558919" y="0"/>
                </a:lnTo>
                <a:lnTo>
                  <a:pt x="1558919" y="1715534"/>
                </a:lnTo>
                <a:lnTo>
                  <a:pt x="0" y="17155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6" name="TextBox 16"/>
          <p:cNvSpPr txBox="1"/>
          <p:nvPr/>
        </p:nvSpPr>
        <p:spPr>
          <a:xfrm>
            <a:off x="620657" y="2045611"/>
            <a:ext cx="7529837" cy="563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3300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Pre-processing and Data cleaning: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71286" y="2653350"/>
            <a:ext cx="13951564" cy="563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33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reliability of the data is important for ensuring an accurate forecast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20657" y="6221499"/>
            <a:ext cx="7529837" cy="1144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3300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Integrity of </a:t>
            </a:r>
          </a:p>
          <a:p>
            <a:pPr algn="ctr">
              <a:lnSpc>
                <a:spcPts val="4621"/>
              </a:lnSpc>
            </a:pPr>
            <a:r>
              <a:rPr lang="en-US" sz="3300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Data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379081" y="7021803"/>
            <a:ext cx="7529837" cy="563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33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Anomaly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822716" y="6731290"/>
            <a:ext cx="7529837" cy="1144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33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Status of the</a:t>
            </a:r>
          </a:p>
          <a:p>
            <a:pPr algn="ctr">
              <a:lnSpc>
                <a:spcPts val="4621"/>
              </a:lnSpc>
            </a:pPr>
            <a:r>
              <a:rPr lang="en-US" sz="33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ship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80002" y="7421462"/>
            <a:ext cx="7529837" cy="1884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1"/>
              </a:lnSpc>
            </a:pPr>
            <a:r>
              <a:rPr lang="en-US" sz="27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Character formatting</a:t>
            </a:r>
          </a:p>
          <a:p>
            <a:pPr algn="ctr">
              <a:lnSpc>
                <a:spcPts val="3781"/>
              </a:lnSpc>
            </a:pPr>
            <a:r>
              <a:rPr lang="en-US" sz="27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Duplicate management</a:t>
            </a:r>
          </a:p>
          <a:p>
            <a:pPr algn="ctr">
              <a:lnSpc>
                <a:spcPts val="3781"/>
              </a:lnSpc>
            </a:pPr>
            <a:r>
              <a:rPr lang="en-US" sz="27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Allocation of Missing Values</a:t>
            </a:r>
          </a:p>
          <a:p>
            <a:pPr algn="ctr">
              <a:lnSpc>
                <a:spcPts val="3781"/>
              </a:lnSpc>
            </a:pPr>
            <a:endParaRPr lang="en-US" sz="27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6312489" y="150666"/>
            <a:ext cx="1732152" cy="62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15"/>
              </a:lnSpc>
            </a:pPr>
            <a:r>
              <a:rPr lang="en-US" sz="1225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CANDIDATA </a:t>
            </a:r>
          </a:p>
          <a:p>
            <a:pPr algn="ctr">
              <a:lnSpc>
                <a:spcPts val="1715"/>
              </a:lnSpc>
            </a:pPr>
            <a:r>
              <a:rPr lang="en-US" sz="12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Vincenza Siani</a:t>
            </a:r>
          </a:p>
          <a:p>
            <a:pPr algn="ctr">
              <a:lnSpc>
                <a:spcPts val="1715"/>
              </a:lnSpc>
            </a:pPr>
            <a:r>
              <a:rPr lang="en-US" sz="12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M62003043</a:t>
            </a:r>
          </a:p>
        </p:txBody>
      </p:sp>
      <p:sp>
        <p:nvSpPr>
          <p:cNvPr id="23" name="Freeform 23"/>
          <p:cNvSpPr/>
          <p:nvPr/>
        </p:nvSpPr>
        <p:spPr>
          <a:xfrm>
            <a:off x="175914" y="169716"/>
            <a:ext cx="2626631" cy="850372"/>
          </a:xfrm>
          <a:custGeom>
            <a:avLst/>
            <a:gdLst/>
            <a:ahLst/>
            <a:cxnLst/>
            <a:rect l="l" t="t" r="r" b="b"/>
            <a:pathLst>
              <a:path w="2626631" h="850372">
                <a:moveTo>
                  <a:pt x="0" y="0"/>
                </a:moveTo>
                <a:lnTo>
                  <a:pt x="2626631" y="0"/>
                </a:lnTo>
                <a:lnTo>
                  <a:pt x="2626631" y="850372"/>
                </a:lnTo>
                <a:lnTo>
                  <a:pt x="0" y="8503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4" name="TextBox 24"/>
          <p:cNvSpPr txBox="1"/>
          <p:nvPr/>
        </p:nvSpPr>
        <p:spPr>
          <a:xfrm>
            <a:off x="3393177" y="279635"/>
            <a:ext cx="11357700" cy="58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4000" b="1">
                <a:solidFill>
                  <a:srgbClr val="36E9FD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METHODOLOGY (1/4)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172845">
            <a:off x="6368285" y="-727739"/>
            <a:ext cx="14678668" cy="7392711"/>
          </a:xfrm>
          <a:custGeom>
            <a:avLst/>
            <a:gdLst/>
            <a:ahLst/>
            <a:cxnLst/>
            <a:rect l="l" t="t" r="r" b="b"/>
            <a:pathLst>
              <a:path w="14678668" h="7392711">
                <a:moveTo>
                  <a:pt x="0" y="0"/>
                </a:moveTo>
                <a:lnTo>
                  <a:pt x="14678668" y="0"/>
                </a:lnTo>
                <a:lnTo>
                  <a:pt x="14678668" y="7392711"/>
                </a:lnTo>
                <a:lnTo>
                  <a:pt x="0" y="73927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 rot="2172845">
            <a:off x="-3843661" y="7384212"/>
            <a:ext cx="14678668" cy="7392711"/>
          </a:xfrm>
          <a:custGeom>
            <a:avLst/>
            <a:gdLst/>
            <a:ahLst/>
            <a:cxnLst/>
            <a:rect l="l" t="t" r="r" b="b"/>
            <a:pathLst>
              <a:path w="14678668" h="7392711">
                <a:moveTo>
                  <a:pt x="0" y="0"/>
                </a:moveTo>
                <a:lnTo>
                  <a:pt x="14678668" y="0"/>
                </a:lnTo>
                <a:lnTo>
                  <a:pt x="14678668" y="7392711"/>
                </a:lnTo>
                <a:lnTo>
                  <a:pt x="0" y="73927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4" name="Group 4"/>
          <p:cNvGrpSpPr/>
          <p:nvPr/>
        </p:nvGrpSpPr>
        <p:grpSpPr>
          <a:xfrm>
            <a:off x="2538972" y="4422541"/>
            <a:ext cx="3240242" cy="4065048"/>
            <a:chOff x="0" y="0"/>
            <a:chExt cx="853397" cy="107063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53397" cy="1070630"/>
            </a:xfrm>
            <a:custGeom>
              <a:avLst/>
              <a:gdLst/>
              <a:ahLst/>
              <a:cxnLst/>
              <a:rect l="l" t="t" r="r" b="b"/>
              <a:pathLst>
                <a:path w="853397" h="1070630">
                  <a:moveTo>
                    <a:pt x="121854" y="0"/>
                  </a:moveTo>
                  <a:lnTo>
                    <a:pt x="731543" y="0"/>
                  </a:lnTo>
                  <a:cubicBezTo>
                    <a:pt x="763860" y="0"/>
                    <a:pt x="794855" y="12838"/>
                    <a:pt x="817707" y="35690"/>
                  </a:cubicBezTo>
                  <a:cubicBezTo>
                    <a:pt x="840559" y="58542"/>
                    <a:pt x="853397" y="89537"/>
                    <a:pt x="853397" y="121854"/>
                  </a:cubicBezTo>
                  <a:lnTo>
                    <a:pt x="853397" y="948775"/>
                  </a:lnTo>
                  <a:cubicBezTo>
                    <a:pt x="853397" y="1016074"/>
                    <a:pt x="798841" y="1070630"/>
                    <a:pt x="731543" y="1070630"/>
                  </a:cubicBezTo>
                  <a:lnTo>
                    <a:pt x="121854" y="1070630"/>
                  </a:lnTo>
                  <a:cubicBezTo>
                    <a:pt x="54556" y="1070630"/>
                    <a:pt x="0" y="1016074"/>
                    <a:pt x="0" y="948775"/>
                  </a:cubicBezTo>
                  <a:lnTo>
                    <a:pt x="0" y="121854"/>
                  </a:lnTo>
                  <a:cubicBezTo>
                    <a:pt x="0" y="54556"/>
                    <a:pt x="54556" y="0"/>
                    <a:pt x="121854" y="0"/>
                  </a:cubicBezTo>
                  <a:close/>
                </a:path>
              </a:pathLst>
            </a:custGeom>
            <a:solidFill>
              <a:srgbClr val="ACB8C7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53397" cy="1108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967514" y="4422541"/>
            <a:ext cx="3240242" cy="4065048"/>
            <a:chOff x="0" y="0"/>
            <a:chExt cx="853397" cy="107063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53397" cy="1070630"/>
            </a:xfrm>
            <a:custGeom>
              <a:avLst/>
              <a:gdLst/>
              <a:ahLst/>
              <a:cxnLst/>
              <a:rect l="l" t="t" r="r" b="b"/>
              <a:pathLst>
                <a:path w="853397" h="1070630">
                  <a:moveTo>
                    <a:pt x="121854" y="0"/>
                  </a:moveTo>
                  <a:lnTo>
                    <a:pt x="731543" y="0"/>
                  </a:lnTo>
                  <a:cubicBezTo>
                    <a:pt x="763860" y="0"/>
                    <a:pt x="794855" y="12838"/>
                    <a:pt x="817707" y="35690"/>
                  </a:cubicBezTo>
                  <a:cubicBezTo>
                    <a:pt x="840559" y="58542"/>
                    <a:pt x="853397" y="89537"/>
                    <a:pt x="853397" y="121854"/>
                  </a:cubicBezTo>
                  <a:lnTo>
                    <a:pt x="853397" y="948775"/>
                  </a:lnTo>
                  <a:cubicBezTo>
                    <a:pt x="853397" y="1016074"/>
                    <a:pt x="798841" y="1070630"/>
                    <a:pt x="731543" y="1070630"/>
                  </a:cubicBezTo>
                  <a:lnTo>
                    <a:pt x="121854" y="1070630"/>
                  </a:lnTo>
                  <a:cubicBezTo>
                    <a:pt x="54556" y="1070630"/>
                    <a:pt x="0" y="1016074"/>
                    <a:pt x="0" y="948775"/>
                  </a:cubicBezTo>
                  <a:lnTo>
                    <a:pt x="0" y="121854"/>
                  </a:lnTo>
                  <a:cubicBezTo>
                    <a:pt x="0" y="54556"/>
                    <a:pt x="54556" y="0"/>
                    <a:pt x="121854" y="0"/>
                  </a:cubicBezTo>
                  <a:close/>
                </a:path>
              </a:pathLst>
            </a:custGeom>
            <a:solidFill>
              <a:srgbClr val="ACB8C7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53397" cy="1108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011337" y="3762185"/>
            <a:ext cx="4761290" cy="5885187"/>
            <a:chOff x="0" y="0"/>
            <a:chExt cx="1254002" cy="155000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54002" cy="1550008"/>
            </a:xfrm>
            <a:custGeom>
              <a:avLst/>
              <a:gdLst/>
              <a:ahLst/>
              <a:cxnLst/>
              <a:rect l="l" t="t" r="r" b="b"/>
              <a:pathLst>
                <a:path w="1254002" h="1550008">
                  <a:moveTo>
                    <a:pt x="82927" y="0"/>
                  </a:moveTo>
                  <a:lnTo>
                    <a:pt x="1171076" y="0"/>
                  </a:lnTo>
                  <a:cubicBezTo>
                    <a:pt x="1193069" y="0"/>
                    <a:pt x="1214162" y="8737"/>
                    <a:pt x="1229714" y="24289"/>
                  </a:cubicBezTo>
                  <a:cubicBezTo>
                    <a:pt x="1245266" y="39840"/>
                    <a:pt x="1254002" y="60933"/>
                    <a:pt x="1254002" y="82927"/>
                  </a:cubicBezTo>
                  <a:lnTo>
                    <a:pt x="1254002" y="1467081"/>
                  </a:lnTo>
                  <a:cubicBezTo>
                    <a:pt x="1254002" y="1512881"/>
                    <a:pt x="1216875" y="1550008"/>
                    <a:pt x="1171076" y="1550008"/>
                  </a:cubicBezTo>
                  <a:lnTo>
                    <a:pt x="82927" y="1550008"/>
                  </a:lnTo>
                  <a:cubicBezTo>
                    <a:pt x="37128" y="1550008"/>
                    <a:pt x="0" y="1512881"/>
                    <a:pt x="0" y="1467081"/>
                  </a:cubicBezTo>
                  <a:lnTo>
                    <a:pt x="0" y="82927"/>
                  </a:lnTo>
                  <a:cubicBezTo>
                    <a:pt x="0" y="37128"/>
                    <a:pt x="37128" y="0"/>
                    <a:pt x="8292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1F65">
                    <a:alpha val="100000"/>
                  </a:srgbClr>
                </a:gs>
                <a:gs pos="100000">
                  <a:srgbClr val="6895FD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254002" cy="15881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 flipH="1">
            <a:off x="3255300" y="4643074"/>
            <a:ext cx="1653443" cy="1811992"/>
          </a:xfrm>
          <a:custGeom>
            <a:avLst/>
            <a:gdLst/>
            <a:ahLst/>
            <a:cxnLst/>
            <a:rect l="l" t="t" r="r" b="b"/>
            <a:pathLst>
              <a:path w="1653443" h="1811992">
                <a:moveTo>
                  <a:pt x="1653443" y="0"/>
                </a:moveTo>
                <a:lnTo>
                  <a:pt x="0" y="0"/>
                </a:lnTo>
                <a:lnTo>
                  <a:pt x="0" y="1811991"/>
                </a:lnTo>
                <a:lnTo>
                  <a:pt x="1653443" y="1811991"/>
                </a:lnTo>
                <a:lnTo>
                  <a:pt x="165344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4" name="Freeform 14"/>
          <p:cNvSpPr/>
          <p:nvPr/>
        </p:nvSpPr>
        <p:spPr>
          <a:xfrm>
            <a:off x="8549811" y="4169708"/>
            <a:ext cx="1684343" cy="1715534"/>
          </a:xfrm>
          <a:custGeom>
            <a:avLst/>
            <a:gdLst/>
            <a:ahLst/>
            <a:cxnLst/>
            <a:rect l="l" t="t" r="r" b="b"/>
            <a:pathLst>
              <a:path w="1684343" h="1715534">
                <a:moveTo>
                  <a:pt x="0" y="0"/>
                </a:moveTo>
                <a:lnTo>
                  <a:pt x="1684343" y="0"/>
                </a:lnTo>
                <a:lnTo>
                  <a:pt x="1684343" y="1715535"/>
                </a:lnTo>
                <a:lnTo>
                  <a:pt x="0" y="17155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5" name="Freeform 15"/>
          <p:cNvSpPr/>
          <p:nvPr/>
        </p:nvSpPr>
        <p:spPr>
          <a:xfrm>
            <a:off x="13971418" y="4739531"/>
            <a:ext cx="1558920" cy="1715534"/>
          </a:xfrm>
          <a:custGeom>
            <a:avLst/>
            <a:gdLst/>
            <a:ahLst/>
            <a:cxnLst/>
            <a:rect l="l" t="t" r="r" b="b"/>
            <a:pathLst>
              <a:path w="1558920" h="1715534">
                <a:moveTo>
                  <a:pt x="0" y="0"/>
                </a:moveTo>
                <a:lnTo>
                  <a:pt x="1558919" y="0"/>
                </a:lnTo>
                <a:lnTo>
                  <a:pt x="1558919" y="1715534"/>
                </a:lnTo>
                <a:lnTo>
                  <a:pt x="0" y="17155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6" name="TextBox 16"/>
          <p:cNvSpPr txBox="1"/>
          <p:nvPr/>
        </p:nvSpPr>
        <p:spPr>
          <a:xfrm>
            <a:off x="620657" y="2045611"/>
            <a:ext cx="7529837" cy="563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3300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Pre-processing and Data cleaning: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71286" y="2653350"/>
            <a:ext cx="13951564" cy="563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33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reliability of the data is important for ensuring an accurate forecast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94174" y="6731290"/>
            <a:ext cx="7529837" cy="1144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3300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Integrity of </a:t>
            </a:r>
          </a:p>
          <a:p>
            <a:pPr algn="ctr">
              <a:lnSpc>
                <a:spcPts val="4621"/>
              </a:lnSpc>
            </a:pPr>
            <a:r>
              <a:rPr lang="en-US" sz="3300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Data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627063" y="6139799"/>
            <a:ext cx="7529837" cy="563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3300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Anomaly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822716" y="6731290"/>
            <a:ext cx="7529837" cy="1144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3300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Status of the</a:t>
            </a:r>
          </a:p>
          <a:p>
            <a:pPr algn="ctr">
              <a:lnSpc>
                <a:spcPts val="4621"/>
              </a:lnSpc>
            </a:pPr>
            <a:r>
              <a:rPr lang="en-US" sz="3300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ship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627063" y="7270394"/>
            <a:ext cx="7529837" cy="1725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33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Removing abnormal </a:t>
            </a:r>
          </a:p>
          <a:p>
            <a:pPr algn="ctr">
              <a:lnSpc>
                <a:spcPts val="4621"/>
              </a:lnSpc>
            </a:pPr>
            <a:r>
              <a:rPr lang="en-US" sz="33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spikes</a:t>
            </a:r>
          </a:p>
          <a:p>
            <a:pPr algn="ctr">
              <a:lnSpc>
                <a:spcPts val="4621"/>
              </a:lnSpc>
            </a:pPr>
            <a:endParaRPr lang="en-US" sz="33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6312489" y="150666"/>
            <a:ext cx="1732152" cy="62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15"/>
              </a:lnSpc>
            </a:pPr>
            <a:r>
              <a:rPr lang="en-US" sz="1225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CANDIDATA </a:t>
            </a:r>
          </a:p>
          <a:p>
            <a:pPr algn="ctr">
              <a:lnSpc>
                <a:spcPts val="1715"/>
              </a:lnSpc>
            </a:pPr>
            <a:r>
              <a:rPr lang="en-US" sz="12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Vincenza Siani</a:t>
            </a:r>
          </a:p>
          <a:p>
            <a:pPr algn="ctr">
              <a:lnSpc>
                <a:spcPts val="1715"/>
              </a:lnSpc>
            </a:pPr>
            <a:r>
              <a:rPr lang="en-US" sz="12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M62003043</a:t>
            </a:r>
          </a:p>
        </p:txBody>
      </p:sp>
      <p:sp>
        <p:nvSpPr>
          <p:cNvPr id="23" name="Freeform 23"/>
          <p:cNvSpPr/>
          <p:nvPr/>
        </p:nvSpPr>
        <p:spPr>
          <a:xfrm>
            <a:off x="175914" y="169716"/>
            <a:ext cx="2626631" cy="850372"/>
          </a:xfrm>
          <a:custGeom>
            <a:avLst/>
            <a:gdLst/>
            <a:ahLst/>
            <a:cxnLst/>
            <a:rect l="l" t="t" r="r" b="b"/>
            <a:pathLst>
              <a:path w="2626631" h="850372">
                <a:moveTo>
                  <a:pt x="0" y="0"/>
                </a:moveTo>
                <a:lnTo>
                  <a:pt x="2626631" y="0"/>
                </a:lnTo>
                <a:lnTo>
                  <a:pt x="2626631" y="850372"/>
                </a:lnTo>
                <a:lnTo>
                  <a:pt x="0" y="8503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4" name="TextBox 24"/>
          <p:cNvSpPr txBox="1"/>
          <p:nvPr/>
        </p:nvSpPr>
        <p:spPr>
          <a:xfrm>
            <a:off x="3393177" y="279635"/>
            <a:ext cx="11357700" cy="58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4000" b="1">
                <a:solidFill>
                  <a:srgbClr val="36E9FD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METHODOLOGY (1/4)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172845">
            <a:off x="6368285" y="-727739"/>
            <a:ext cx="14678668" cy="7392711"/>
          </a:xfrm>
          <a:custGeom>
            <a:avLst/>
            <a:gdLst/>
            <a:ahLst/>
            <a:cxnLst/>
            <a:rect l="l" t="t" r="r" b="b"/>
            <a:pathLst>
              <a:path w="14678668" h="7392711">
                <a:moveTo>
                  <a:pt x="0" y="0"/>
                </a:moveTo>
                <a:lnTo>
                  <a:pt x="14678668" y="0"/>
                </a:lnTo>
                <a:lnTo>
                  <a:pt x="14678668" y="7392711"/>
                </a:lnTo>
                <a:lnTo>
                  <a:pt x="0" y="73927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 rot="2172845">
            <a:off x="-3843661" y="7384212"/>
            <a:ext cx="14678668" cy="7392711"/>
          </a:xfrm>
          <a:custGeom>
            <a:avLst/>
            <a:gdLst/>
            <a:ahLst/>
            <a:cxnLst/>
            <a:rect l="l" t="t" r="r" b="b"/>
            <a:pathLst>
              <a:path w="14678668" h="7392711">
                <a:moveTo>
                  <a:pt x="0" y="0"/>
                </a:moveTo>
                <a:lnTo>
                  <a:pt x="14678668" y="0"/>
                </a:lnTo>
                <a:lnTo>
                  <a:pt x="14678668" y="7392711"/>
                </a:lnTo>
                <a:lnTo>
                  <a:pt x="0" y="73927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4" name="Group 4"/>
          <p:cNvGrpSpPr/>
          <p:nvPr/>
        </p:nvGrpSpPr>
        <p:grpSpPr>
          <a:xfrm>
            <a:off x="2538972" y="4422541"/>
            <a:ext cx="3240242" cy="4065048"/>
            <a:chOff x="0" y="0"/>
            <a:chExt cx="853397" cy="107063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53397" cy="1070630"/>
            </a:xfrm>
            <a:custGeom>
              <a:avLst/>
              <a:gdLst/>
              <a:ahLst/>
              <a:cxnLst/>
              <a:rect l="l" t="t" r="r" b="b"/>
              <a:pathLst>
                <a:path w="853397" h="1070630">
                  <a:moveTo>
                    <a:pt x="121854" y="0"/>
                  </a:moveTo>
                  <a:lnTo>
                    <a:pt x="731543" y="0"/>
                  </a:lnTo>
                  <a:cubicBezTo>
                    <a:pt x="763860" y="0"/>
                    <a:pt x="794855" y="12838"/>
                    <a:pt x="817707" y="35690"/>
                  </a:cubicBezTo>
                  <a:cubicBezTo>
                    <a:pt x="840559" y="58542"/>
                    <a:pt x="853397" y="89537"/>
                    <a:pt x="853397" y="121854"/>
                  </a:cubicBezTo>
                  <a:lnTo>
                    <a:pt x="853397" y="948775"/>
                  </a:lnTo>
                  <a:cubicBezTo>
                    <a:pt x="853397" y="1016074"/>
                    <a:pt x="798841" y="1070630"/>
                    <a:pt x="731543" y="1070630"/>
                  </a:cubicBezTo>
                  <a:lnTo>
                    <a:pt x="121854" y="1070630"/>
                  </a:lnTo>
                  <a:cubicBezTo>
                    <a:pt x="54556" y="1070630"/>
                    <a:pt x="0" y="1016074"/>
                    <a:pt x="0" y="948775"/>
                  </a:cubicBezTo>
                  <a:lnTo>
                    <a:pt x="0" y="121854"/>
                  </a:lnTo>
                  <a:cubicBezTo>
                    <a:pt x="0" y="54556"/>
                    <a:pt x="54556" y="0"/>
                    <a:pt x="121854" y="0"/>
                  </a:cubicBezTo>
                  <a:close/>
                </a:path>
              </a:pathLst>
            </a:custGeom>
            <a:solidFill>
              <a:srgbClr val="ACB8C7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853397" cy="1108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403852" y="3833535"/>
            <a:ext cx="4367565" cy="5717242"/>
            <a:chOff x="0" y="0"/>
            <a:chExt cx="1150305" cy="150577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50305" cy="1505776"/>
            </a:xfrm>
            <a:custGeom>
              <a:avLst/>
              <a:gdLst/>
              <a:ahLst/>
              <a:cxnLst/>
              <a:rect l="l" t="t" r="r" b="b"/>
              <a:pathLst>
                <a:path w="1150305" h="1505776">
                  <a:moveTo>
                    <a:pt x="90402" y="0"/>
                  </a:moveTo>
                  <a:lnTo>
                    <a:pt x="1059903" y="0"/>
                  </a:lnTo>
                  <a:cubicBezTo>
                    <a:pt x="1083879" y="0"/>
                    <a:pt x="1106873" y="9524"/>
                    <a:pt x="1123827" y="26478"/>
                  </a:cubicBezTo>
                  <a:cubicBezTo>
                    <a:pt x="1140781" y="43432"/>
                    <a:pt x="1150305" y="66426"/>
                    <a:pt x="1150305" y="90402"/>
                  </a:cubicBezTo>
                  <a:lnTo>
                    <a:pt x="1150305" y="1415373"/>
                  </a:lnTo>
                  <a:cubicBezTo>
                    <a:pt x="1150305" y="1439350"/>
                    <a:pt x="1140781" y="1462344"/>
                    <a:pt x="1123827" y="1479297"/>
                  </a:cubicBezTo>
                  <a:cubicBezTo>
                    <a:pt x="1106873" y="1496251"/>
                    <a:pt x="1083879" y="1505776"/>
                    <a:pt x="1059903" y="1505776"/>
                  </a:cubicBezTo>
                  <a:lnTo>
                    <a:pt x="90402" y="1505776"/>
                  </a:lnTo>
                  <a:cubicBezTo>
                    <a:pt x="66426" y="1505776"/>
                    <a:pt x="43432" y="1496251"/>
                    <a:pt x="26478" y="1479297"/>
                  </a:cubicBezTo>
                  <a:cubicBezTo>
                    <a:pt x="9524" y="1462344"/>
                    <a:pt x="0" y="1439350"/>
                    <a:pt x="0" y="1415373"/>
                  </a:cubicBezTo>
                  <a:lnTo>
                    <a:pt x="0" y="90402"/>
                  </a:lnTo>
                  <a:cubicBezTo>
                    <a:pt x="0" y="66426"/>
                    <a:pt x="9524" y="43432"/>
                    <a:pt x="26478" y="26478"/>
                  </a:cubicBezTo>
                  <a:cubicBezTo>
                    <a:pt x="43432" y="9524"/>
                    <a:pt x="66426" y="0"/>
                    <a:pt x="9040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1F65">
                    <a:alpha val="100000"/>
                  </a:srgbClr>
                </a:gs>
                <a:gs pos="100000">
                  <a:srgbClr val="6895FD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150305" cy="15438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523879" y="4422541"/>
            <a:ext cx="3240242" cy="4065048"/>
            <a:chOff x="0" y="0"/>
            <a:chExt cx="853397" cy="107063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53397" cy="1070630"/>
            </a:xfrm>
            <a:custGeom>
              <a:avLst/>
              <a:gdLst/>
              <a:ahLst/>
              <a:cxnLst/>
              <a:rect l="l" t="t" r="r" b="b"/>
              <a:pathLst>
                <a:path w="853397" h="1070630">
                  <a:moveTo>
                    <a:pt x="121854" y="0"/>
                  </a:moveTo>
                  <a:lnTo>
                    <a:pt x="731543" y="0"/>
                  </a:lnTo>
                  <a:cubicBezTo>
                    <a:pt x="763860" y="0"/>
                    <a:pt x="794855" y="12838"/>
                    <a:pt x="817707" y="35690"/>
                  </a:cubicBezTo>
                  <a:cubicBezTo>
                    <a:pt x="840559" y="58542"/>
                    <a:pt x="853397" y="89537"/>
                    <a:pt x="853397" y="121854"/>
                  </a:cubicBezTo>
                  <a:lnTo>
                    <a:pt x="853397" y="948775"/>
                  </a:lnTo>
                  <a:cubicBezTo>
                    <a:pt x="853397" y="1016074"/>
                    <a:pt x="798841" y="1070630"/>
                    <a:pt x="731543" y="1070630"/>
                  </a:cubicBezTo>
                  <a:lnTo>
                    <a:pt x="121854" y="1070630"/>
                  </a:lnTo>
                  <a:cubicBezTo>
                    <a:pt x="54556" y="1070630"/>
                    <a:pt x="0" y="1016074"/>
                    <a:pt x="0" y="948775"/>
                  </a:cubicBezTo>
                  <a:lnTo>
                    <a:pt x="0" y="121854"/>
                  </a:lnTo>
                  <a:cubicBezTo>
                    <a:pt x="0" y="54556"/>
                    <a:pt x="54556" y="0"/>
                    <a:pt x="121854" y="0"/>
                  </a:cubicBezTo>
                  <a:close/>
                </a:path>
              </a:pathLst>
            </a:custGeom>
            <a:solidFill>
              <a:srgbClr val="ACB8C7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53397" cy="1108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 flipH="1">
            <a:off x="3255300" y="4643074"/>
            <a:ext cx="1653443" cy="1811992"/>
          </a:xfrm>
          <a:custGeom>
            <a:avLst/>
            <a:gdLst/>
            <a:ahLst/>
            <a:cxnLst/>
            <a:rect l="l" t="t" r="r" b="b"/>
            <a:pathLst>
              <a:path w="1653443" h="1811992">
                <a:moveTo>
                  <a:pt x="1653443" y="0"/>
                </a:moveTo>
                <a:lnTo>
                  <a:pt x="0" y="0"/>
                </a:lnTo>
                <a:lnTo>
                  <a:pt x="0" y="1811991"/>
                </a:lnTo>
                <a:lnTo>
                  <a:pt x="1653443" y="1811991"/>
                </a:lnTo>
                <a:lnTo>
                  <a:pt x="165344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4" name="Freeform 14"/>
          <p:cNvSpPr/>
          <p:nvPr/>
        </p:nvSpPr>
        <p:spPr>
          <a:xfrm>
            <a:off x="8301829" y="4739531"/>
            <a:ext cx="1684343" cy="1715534"/>
          </a:xfrm>
          <a:custGeom>
            <a:avLst/>
            <a:gdLst/>
            <a:ahLst/>
            <a:cxnLst/>
            <a:rect l="l" t="t" r="r" b="b"/>
            <a:pathLst>
              <a:path w="1684343" h="1715534">
                <a:moveTo>
                  <a:pt x="0" y="0"/>
                </a:moveTo>
                <a:lnTo>
                  <a:pt x="1684342" y="0"/>
                </a:lnTo>
                <a:lnTo>
                  <a:pt x="1684342" y="1715534"/>
                </a:lnTo>
                <a:lnTo>
                  <a:pt x="0" y="17155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5" name="Freeform 15"/>
          <p:cNvSpPr/>
          <p:nvPr/>
        </p:nvSpPr>
        <p:spPr>
          <a:xfrm>
            <a:off x="13808175" y="4064135"/>
            <a:ext cx="1558920" cy="1715534"/>
          </a:xfrm>
          <a:custGeom>
            <a:avLst/>
            <a:gdLst/>
            <a:ahLst/>
            <a:cxnLst/>
            <a:rect l="l" t="t" r="r" b="b"/>
            <a:pathLst>
              <a:path w="1558920" h="1715534">
                <a:moveTo>
                  <a:pt x="0" y="0"/>
                </a:moveTo>
                <a:lnTo>
                  <a:pt x="1558920" y="0"/>
                </a:lnTo>
                <a:lnTo>
                  <a:pt x="1558920" y="1715535"/>
                </a:lnTo>
                <a:lnTo>
                  <a:pt x="0" y="17155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6" name="TextBox 16"/>
          <p:cNvSpPr txBox="1"/>
          <p:nvPr/>
        </p:nvSpPr>
        <p:spPr>
          <a:xfrm>
            <a:off x="620657" y="2045611"/>
            <a:ext cx="7529837" cy="563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3300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Pre-processing and Data cleaning: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71286" y="2653350"/>
            <a:ext cx="13951564" cy="563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33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reliability of the data is important for ensuring an accurate forecast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94174" y="6731290"/>
            <a:ext cx="7529837" cy="1144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3300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Integrity of </a:t>
            </a:r>
          </a:p>
          <a:p>
            <a:pPr algn="ctr">
              <a:lnSpc>
                <a:spcPts val="4621"/>
              </a:lnSpc>
            </a:pPr>
            <a:r>
              <a:rPr lang="en-US" sz="3300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Data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379081" y="7021803"/>
            <a:ext cx="7529837" cy="563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3300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Anomaly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822716" y="5849286"/>
            <a:ext cx="7529837" cy="1144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3300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Status of the</a:t>
            </a:r>
          </a:p>
          <a:p>
            <a:pPr algn="ctr">
              <a:lnSpc>
                <a:spcPts val="4621"/>
              </a:lnSpc>
            </a:pPr>
            <a:r>
              <a:rPr lang="en-US" sz="3300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ship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822716" y="7270394"/>
            <a:ext cx="7529837" cy="2306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33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Isolation of the </a:t>
            </a:r>
          </a:p>
          <a:p>
            <a:pPr algn="ctr">
              <a:lnSpc>
                <a:spcPts val="4621"/>
              </a:lnSpc>
            </a:pPr>
            <a:r>
              <a:rPr lang="en-US" sz="33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operating state </a:t>
            </a:r>
          </a:p>
          <a:p>
            <a:pPr algn="ctr">
              <a:lnSpc>
                <a:spcPts val="4621"/>
              </a:lnSpc>
            </a:pPr>
            <a:r>
              <a:rPr lang="en-US" sz="33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of interest</a:t>
            </a:r>
          </a:p>
          <a:p>
            <a:pPr algn="ctr">
              <a:lnSpc>
                <a:spcPts val="4621"/>
              </a:lnSpc>
            </a:pPr>
            <a:endParaRPr lang="en-US" sz="33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2" name="Freeform 22"/>
          <p:cNvSpPr/>
          <p:nvPr/>
        </p:nvSpPr>
        <p:spPr>
          <a:xfrm>
            <a:off x="175914" y="169716"/>
            <a:ext cx="2626631" cy="850372"/>
          </a:xfrm>
          <a:custGeom>
            <a:avLst/>
            <a:gdLst/>
            <a:ahLst/>
            <a:cxnLst/>
            <a:rect l="l" t="t" r="r" b="b"/>
            <a:pathLst>
              <a:path w="2626631" h="850372">
                <a:moveTo>
                  <a:pt x="0" y="0"/>
                </a:moveTo>
                <a:lnTo>
                  <a:pt x="2626631" y="0"/>
                </a:lnTo>
                <a:lnTo>
                  <a:pt x="2626631" y="850372"/>
                </a:lnTo>
                <a:lnTo>
                  <a:pt x="0" y="8503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3" name="TextBox 23"/>
          <p:cNvSpPr txBox="1"/>
          <p:nvPr/>
        </p:nvSpPr>
        <p:spPr>
          <a:xfrm>
            <a:off x="16312489" y="150666"/>
            <a:ext cx="1732152" cy="62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15"/>
              </a:lnSpc>
            </a:pPr>
            <a:r>
              <a:rPr lang="en-US" sz="1225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CANDIDATA </a:t>
            </a:r>
          </a:p>
          <a:p>
            <a:pPr algn="ctr">
              <a:lnSpc>
                <a:spcPts val="1715"/>
              </a:lnSpc>
            </a:pPr>
            <a:r>
              <a:rPr lang="en-US" sz="12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Vincenza Siani</a:t>
            </a:r>
          </a:p>
          <a:p>
            <a:pPr algn="ctr">
              <a:lnSpc>
                <a:spcPts val="1715"/>
              </a:lnSpc>
            </a:pPr>
            <a:r>
              <a:rPr lang="en-US" sz="12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M62003043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393177" y="279635"/>
            <a:ext cx="11357700" cy="58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4000" b="1">
                <a:solidFill>
                  <a:srgbClr val="36E9FD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METHODOLOGY (1/4)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2172845">
            <a:off x="-3843661" y="7384212"/>
            <a:ext cx="14678668" cy="7392711"/>
          </a:xfrm>
          <a:custGeom>
            <a:avLst/>
            <a:gdLst/>
            <a:ahLst/>
            <a:cxnLst/>
            <a:rect l="l" t="t" r="r" b="b"/>
            <a:pathLst>
              <a:path w="14678668" h="7392711">
                <a:moveTo>
                  <a:pt x="0" y="0"/>
                </a:moveTo>
                <a:lnTo>
                  <a:pt x="14678668" y="0"/>
                </a:lnTo>
                <a:lnTo>
                  <a:pt x="14678668" y="7392711"/>
                </a:lnTo>
                <a:lnTo>
                  <a:pt x="0" y="73927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175914" y="169716"/>
            <a:ext cx="2626631" cy="850372"/>
          </a:xfrm>
          <a:custGeom>
            <a:avLst/>
            <a:gdLst/>
            <a:ahLst/>
            <a:cxnLst/>
            <a:rect l="l" t="t" r="r" b="b"/>
            <a:pathLst>
              <a:path w="2626631" h="850372">
                <a:moveTo>
                  <a:pt x="0" y="0"/>
                </a:moveTo>
                <a:lnTo>
                  <a:pt x="2626631" y="0"/>
                </a:lnTo>
                <a:lnTo>
                  <a:pt x="2626631" y="850372"/>
                </a:lnTo>
                <a:lnTo>
                  <a:pt x="0" y="8503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5" name="Group 5"/>
          <p:cNvGrpSpPr/>
          <p:nvPr/>
        </p:nvGrpSpPr>
        <p:grpSpPr>
          <a:xfrm>
            <a:off x="6466976" y="1100415"/>
            <a:ext cx="5134005" cy="1972506"/>
            <a:chOff x="0" y="0"/>
            <a:chExt cx="1528322" cy="5871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28322" cy="587188"/>
            </a:xfrm>
            <a:custGeom>
              <a:avLst/>
              <a:gdLst/>
              <a:ahLst/>
              <a:cxnLst/>
              <a:rect l="l" t="t" r="r" b="b"/>
              <a:pathLst>
                <a:path w="1528322" h="587188">
                  <a:moveTo>
                    <a:pt x="1325122" y="0"/>
                  </a:moveTo>
                  <a:cubicBezTo>
                    <a:pt x="1437346" y="0"/>
                    <a:pt x="1528322" y="131446"/>
                    <a:pt x="1528322" y="293594"/>
                  </a:cubicBezTo>
                  <a:cubicBezTo>
                    <a:pt x="1528322" y="455741"/>
                    <a:pt x="1437346" y="587188"/>
                    <a:pt x="1325122" y="587188"/>
                  </a:cubicBezTo>
                  <a:lnTo>
                    <a:pt x="203200" y="587188"/>
                  </a:lnTo>
                  <a:cubicBezTo>
                    <a:pt x="90976" y="587188"/>
                    <a:pt x="0" y="455741"/>
                    <a:pt x="0" y="293594"/>
                  </a:cubicBezTo>
                  <a:cubicBezTo>
                    <a:pt x="0" y="13144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528322" cy="6252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3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49639" y="3623975"/>
            <a:ext cx="7342895" cy="5211492"/>
            <a:chOff x="0" y="0"/>
            <a:chExt cx="3199152" cy="187024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199151" cy="1870242"/>
            </a:xfrm>
            <a:custGeom>
              <a:avLst/>
              <a:gdLst/>
              <a:ahLst/>
              <a:cxnLst/>
              <a:rect l="l" t="t" r="r" b="b"/>
              <a:pathLst>
                <a:path w="3199151" h="1870242">
                  <a:moveTo>
                    <a:pt x="2995951" y="0"/>
                  </a:moveTo>
                  <a:cubicBezTo>
                    <a:pt x="3108176" y="0"/>
                    <a:pt x="3199151" y="418668"/>
                    <a:pt x="3199151" y="935121"/>
                  </a:cubicBezTo>
                  <a:cubicBezTo>
                    <a:pt x="3199151" y="1451574"/>
                    <a:pt x="3108176" y="1870242"/>
                    <a:pt x="2995951" y="1870242"/>
                  </a:cubicBezTo>
                  <a:lnTo>
                    <a:pt x="203200" y="1870242"/>
                  </a:lnTo>
                  <a:cubicBezTo>
                    <a:pt x="90976" y="1870242"/>
                    <a:pt x="0" y="1451574"/>
                    <a:pt x="0" y="935121"/>
                  </a:cubicBezTo>
                  <a:cubicBezTo>
                    <a:pt x="0" y="41866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2C2FC8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3199152" cy="19083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3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948738" y="3846619"/>
            <a:ext cx="6270166" cy="4799170"/>
          </a:xfrm>
          <a:custGeom>
            <a:avLst/>
            <a:gdLst/>
            <a:ahLst/>
            <a:cxnLst/>
            <a:rect l="l" t="t" r="r" b="b"/>
            <a:pathLst>
              <a:path w="7003534" h="4415426">
                <a:moveTo>
                  <a:pt x="0" y="0"/>
                </a:moveTo>
                <a:lnTo>
                  <a:pt x="7003534" y="0"/>
                </a:lnTo>
                <a:lnTo>
                  <a:pt x="7003534" y="4415426"/>
                </a:lnTo>
                <a:lnTo>
                  <a:pt x="0" y="44154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781" r="-11610" b="-11049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2" name="TextBox 12"/>
          <p:cNvSpPr txBox="1"/>
          <p:nvPr/>
        </p:nvSpPr>
        <p:spPr>
          <a:xfrm>
            <a:off x="16312489" y="150666"/>
            <a:ext cx="1732152" cy="62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15"/>
              </a:lnSpc>
            </a:pPr>
            <a:r>
              <a:rPr lang="en-US" sz="1225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CANDIDATA </a:t>
            </a:r>
          </a:p>
          <a:p>
            <a:pPr algn="ctr">
              <a:lnSpc>
                <a:spcPts val="1715"/>
              </a:lnSpc>
            </a:pPr>
            <a:r>
              <a:rPr lang="en-US" sz="12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Vincenza Siani</a:t>
            </a:r>
          </a:p>
          <a:p>
            <a:pPr algn="ctr">
              <a:lnSpc>
                <a:spcPts val="1715"/>
              </a:lnSpc>
            </a:pPr>
            <a:r>
              <a:rPr lang="en-US" sz="12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M62003043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393177" y="279635"/>
            <a:ext cx="11357700" cy="58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4000" b="1">
                <a:solidFill>
                  <a:srgbClr val="36E9FD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METHODOLOGY (2/4)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983436" y="1480889"/>
            <a:ext cx="4321130" cy="1144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3300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THE GOAL:</a:t>
            </a:r>
          </a:p>
          <a:p>
            <a:pPr algn="ctr">
              <a:lnSpc>
                <a:spcPts val="4621"/>
              </a:lnSpc>
            </a:pPr>
            <a:r>
              <a:rPr lang="en-US" sz="3300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Fuel Consumption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707772" y="3315035"/>
            <a:ext cx="10227992" cy="17207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GB" sz="3300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The Long Short Term Memory (LSTM) neural network is suitable since it leverages an internal sequential memory (Ct)</a:t>
            </a:r>
            <a:endParaRPr lang="en-US" sz="3300" b="1">
              <a:solidFill>
                <a:srgbClr val="FFFFFF"/>
              </a:solidFill>
              <a:latin typeface="Playfair Display Bold"/>
              <a:ea typeface="Playfair Display Bold"/>
              <a:cs typeface="Playfair Display Bold"/>
              <a:sym typeface="Playfair Display Bol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B819A7-9FE4-B737-292D-A1F0F7FD8D16}"/>
              </a:ext>
            </a:extLst>
          </p:cNvPr>
          <p:cNvSpPr txBox="1"/>
          <p:nvPr/>
        </p:nvSpPr>
        <p:spPr>
          <a:xfrm>
            <a:off x="7983284" y="5077494"/>
            <a:ext cx="8731369" cy="538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GB" sz="3300" b="1">
                <a:solidFill>
                  <a:srgbClr val="36E9FD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INPUT GATE:</a:t>
            </a:r>
            <a:endParaRPr lang="en-US" sz="3300" b="1">
              <a:solidFill>
                <a:srgbClr val="36E9FD"/>
              </a:solidFill>
              <a:latin typeface="Playfair Display Bold"/>
              <a:ea typeface="Playfair Display Bold"/>
              <a:cs typeface="Playfair Display Bold"/>
              <a:sym typeface="Playfair Display Bold"/>
            </a:endParaRPr>
          </a:p>
        </p:txBody>
      </p:sp>
      <p:sp>
        <p:nvSpPr>
          <p:cNvPr id="17" name="TextBox 15">
            <a:extLst>
              <a:ext uri="{FF2B5EF4-FFF2-40B4-BE49-F238E27FC236}">
                <a16:creationId xmlns:a16="http://schemas.microsoft.com/office/drawing/2014/main" id="{1E1256AC-C607-B9EC-6387-98BA30D64F3F}"/>
              </a:ext>
            </a:extLst>
          </p:cNvPr>
          <p:cNvSpPr txBox="1"/>
          <p:nvPr/>
        </p:nvSpPr>
        <p:spPr>
          <a:xfrm>
            <a:off x="8259444" y="6652323"/>
            <a:ext cx="8731369" cy="538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GB" sz="3300" b="1">
                <a:solidFill>
                  <a:srgbClr val="36E9FD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FORGET GATE:</a:t>
            </a:r>
            <a:endParaRPr lang="en-US" sz="3300" b="1">
              <a:solidFill>
                <a:srgbClr val="36E9FD"/>
              </a:solidFill>
              <a:latin typeface="Playfair Display Bold"/>
              <a:ea typeface="Playfair Display Bold"/>
              <a:cs typeface="Playfair Display Bold"/>
              <a:sym typeface="Playfair Display Bold"/>
            </a:endParaRP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09F97BB7-008C-BC5B-9E78-B02FAC5F2C5A}"/>
              </a:ext>
            </a:extLst>
          </p:cNvPr>
          <p:cNvSpPr txBox="1"/>
          <p:nvPr/>
        </p:nvSpPr>
        <p:spPr>
          <a:xfrm>
            <a:off x="8259443" y="8190942"/>
            <a:ext cx="8731369" cy="538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GB" sz="3300" b="1">
                <a:solidFill>
                  <a:srgbClr val="36E9FD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OUTPUT GATE:</a:t>
            </a:r>
            <a:endParaRPr lang="en-US" sz="3300" b="1">
              <a:solidFill>
                <a:srgbClr val="36E9FD"/>
              </a:solidFill>
              <a:latin typeface="Playfair Display Bold"/>
              <a:ea typeface="Playfair Display Bold"/>
              <a:cs typeface="Playfair Display Bold"/>
              <a:sym typeface="Playfair Display Bold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sellaDiTesto 18">
                <a:extLst>
                  <a:ext uri="{FF2B5EF4-FFF2-40B4-BE49-F238E27FC236}">
                    <a16:creationId xmlns:a16="http://schemas.microsoft.com/office/drawing/2014/main" id="{C76FBBAB-C88E-CD73-AB55-4E38CB993868}"/>
                  </a:ext>
                </a:extLst>
              </p:cNvPr>
              <p:cNvSpPr txBox="1"/>
              <p:nvPr/>
            </p:nvSpPr>
            <p:spPr>
              <a:xfrm>
                <a:off x="9847886" y="5754445"/>
                <a:ext cx="5105180" cy="5922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33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Playfair Display Bold"/>
                              <a:cs typeface="Playfair Display Bold"/>
                            </a:rPr>
                          </m:ctrlPr>
                        </m:sSubPr>
                        <m:e>
                          <m:r>
                            <a:rPr lang="it-IT" sz="33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Playfair Display Bold"/>
                              <a:cs typeface="Playfair Display Bold"/>
                            </a:rPr>
                            <m:t>𝑓</m:t>
                          </m:r>
                        </m:e>
                        <m:sub>
                          <m:r>
                            <a:rPr lang="it-IT" sz="33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Playfair Display Bold"/>
                              <a:cs typeface="Playfair Display Bold"/>
                            </a:rPr>
                            <m:t>𝑡</m:t>
                          </m:r>
                        </m:sub>
                      </m:sSub>
                      <m:r>
                        <a:rPr lang="it-IT" sz="33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Playfair Display Bold"/>
                          <a:cs typeface="Playfair Display Bold"/>
                        </a:rPr>
                        <m:t>=</m:t>
                      </m:r>
                      <m:r>
                        <a:rPr lang="it-IT" sz="33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Playfair Display Bold"/>
                          <a:cs typeface="Playfair Display Bold"/>
                        </a:rPr>
                        <m:t>𝜕</m:t>
                      </m:r>
                      <m:d>
                        <m:dPr>
                          <m:ctrlPr>
                            <a:rPr lang="it-IT" sz="33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Playfair Display Bold"/>
                              <a:cs typeface="Playfair Display Bold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33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Playfair Display Bold"/>
                                  <a:cs typeface="Playfair Display Bold"/>
                                </a:rPr>
                              </m:ctrlPr>
                            </m:sSubPr>
                            <m:e>
                              <m:r>
                                <a:rPr lang="it-IT" sz="3300" b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Playfair Display Bold"/>
                                  <a:cs typeface="Playfair Display Bold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it-IT" sz="3300" b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Playfair Display Bold"/>
                                  <a:cs typeface="Playfair Display Bold"/>
                                </a:rPr>
                                <m:t>𝑓</m:t>
                              </m:r>
                            </m:sub>
                          </m:sSub>
                          <m:r>
                            <a:rPr lang="it-IT" sz="33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Playfair Display Bold"/>
                              <a:cs typeface="Playfair Display Bold"/>
                            </a:rPr>
                            <m:t>∗</m:t>
                          </m:r>
                          <m:d>
                            <m:dPr>
                              <m:begChr m:val="⟦"/>
                              <m:endChr m:val="⟧"/>
                              <m:ctrlPr>
                                <a:rPr lang="it-IT" sz="33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Playfair Display Bold"/>
                                  <a:cs typeface="Playfair Display Bold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it-IT" sz="33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Playfair Display Bold"/>
                                      <a:cs typeface="Playfair Display Bold"/>
                                    </a:rPr>
                                  </m:ctrlPr>
                                </m:sSubPr>
                                <m:e>
                                  <m:r>
                                    <a:rPr lang="it-IT" sz="3300" b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Playfair Display Bold"/>
                                      <a:cs typeface="Playfair Display Bold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it-IT" sz="3300" b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Playfair Display Bold"/>
                                      <a:cs typeface="Playfair Display Bold"/>
                                    </a:rPr>
                                    <m:t>𝑡</m:t>
                                  </m:r>
                                  <m:r>
                                    <a:rPr lang="it-IT" sz="3300" b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Playfair Display Bold"/>
                                      <a:cs typeface="Playfair Display Bold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it-IT" sz="3300" b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Playfair Display Bold"/>
                                  <a:cs typeface="Playfair Display Bold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it-IT" sz="33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Playfair Display Bold"/>
                                      <a:cs typeface="Playfair Display Bold"/>
                                    </a:rPr>
                                  </m:ctrlPr>
                                </m:sSubPr>
                                <m:e>
                                  <m:r>
                                    <a:rPr lang="it-IT" sz="3300" b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Playfair Display Bold"/>
                                      <a:cs typeface="Playfair Display Bol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it-IT" sz="3300" b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Playfair Display Bold"/>
                                      <a:cs typeface="Playfair Display Bold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it-IT" sz="33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Playfair Display Bold"/>
                              <a:cs typeface="Playfair Display Bold"/>
                            </a:rPr>
                            <m:t>+</m:t>
                          </m:r>
                          <m:sSub>
                            <m:sSubPr>
                              <m:ctrlPr>
                                <a:rPr lang="it-IT" sz="33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Playfair Display Bold"/>
                                  <a:cs typeface="Playfair Display Bold"/>
                                </a:rPr>
                              </m:ctrlPr>
                            </m:sSubPr>
                            <m:e>
                              <m:r>
                                <a:rPr lang="it-IT" sz="3300" b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Playfair Display Bold"/>
                                  <a:cs typeface="Playfair Display Bold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it-IT" sz="3300" b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Playfair Display Bold"/>
                                  <a:cs typeface="Playfair Display Bold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it-IT" sz="3300" b="1">
                  <a:solidFill>
                    <a:srgbClr val="36E9FD"/>
                  </a:solidFill>
                  <a:latin typeface="Playfair Display Bold"/>
                  <a:ea typeface="Playfair Display Bold"/>
                  <a:cs typeface="Playfair Display Bold"/>
                </a:endParaRPr>
              </a:p>
            </p:txBody>
          </p:sp>
        </mc:Choice>
        <mc:Fallback xmlns="">
          <p:sp>
            <p:nvSpPr>
              <p:cNvPr id="19" name="CasellaDiTesto 18">
                <a:extLst>
                  <a:ext uri="{FF2B5EF4-FFF2-40B4-BE49-F238E27FC236}">
                    <a16:creationId xmlns:a16="http://schemas.microsoft.com/office/drawing/2014/main" id="{C76FBBAB-C88E-CD73-AB55-4E38CB9938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7886" y="5754445"/>
                <a:ext cx="5105180" cy="59227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Freeform 2">
            <a:extLst>
              <a:ext uri="{FF2B5EF4-FFF2-40B4-BE49-F238E27FC236}">
                <a16:creationId xmlns:a16="http://schemas.microsoft.com/office/drawing/2014/main" id="{8E2B2B20-0359-17F4-3EAA-DDCBD5F19D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2172845">
            <a:off x="6520685" y="-575339"/>
            <a:ext cx="14678668" cy="7392711"/>
          </a:xfrm>
          <a:custGeom>
            <a:avLst/>
            <a:gdLst/>
            <a:ahLst/>
            <a:cxnLst/>
            <a:rect l="l" t="t" r="r" b="b"/>
            <a:pathLst>
              <a:path w="14678668" h="7392711">
                <a:moveTo>
                  <a:pt x="0" y="0"/>
                </a:moveTo>
                <a:lnTo>
                  <a:pt x="14678668" y="0"/>
                </a:lnTo>
                <a:lnTo>
                  <a:pt x="14678668" y="7392711"/>
                </a:lnTo>
                <a:lnTo>
                  <a:pt x="0" y="73927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asellaDiTesto 21">
                <a:extLst>
                  <a:ext uri="{FF2B5EF4-FFF2-40B4-BE49-F238E27FC236}">
                    <a16:creationId xmlns:a16="http://schemas.microsoft.com/office/drawing/2014/main" id="{8B80E9AD-30C4-8D02-14C6-5E265C1CAB06}"/>
                  </a:ext>
                </a:extLst>
              </p:cNvPr>
              <p:cNvSpPr txBox="1"/>
              <p:nvPr/>
            </p:nvSpPr>
            <p:spPr>
              <a:xfrm>
                <a:off x="9923915" y="8929846"/>
                <a:ext cx="5152949" cy="5078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33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Playfair Display Bold"/>
                              <a:cs typeface="Playfair Display Bold"/>
                            </a:rPr>
                          </m:ctrlPr>
                        </m:sSubPr>
                        <m:e>
                          <m:r>
                            <a:rPr lang="it-IT" sz="33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Playfair Display Bold"/>
                              <a:cs typeface="Playfair Display Bold"/>
                            </a:rPr>
                            <m:t>𝑜</m:t>
                          </m:r>
                        </m:e>
                        <m:sub>
                          <m:r>
                            <a:rPr lang="it-IT" sz="33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Playfair Display Bold"/>
                              <a:cs typeface="Playfair Display Bold"/>
                            </a:rPr>
                            <m:t>𝑡</m:t>
                          </m:r>
                        </m:sub>
                      </m:sSub>
                      <m:r>
                        <a:rPr lang="it-IT" sz="33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Playfair Display Bold"/>
                          <a:cs typeface="Playfair Display Bold"/>
                        </a:rPr>
                        <m:t>=</m:t>
                      </m:r>
                      <m:r>
                        <a:rPr lang="it-IT" sz="33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Playfair Display Bold"/>
                          <a:cs typeface="Playfair Display Bold"/>
                        </a:rPr>
                        <m:t>𝜕</m:t>
                      </m:r>
                      <m:d>
                        <m:dPr>
                          <m:ctrlPr>
                            <a:rPr lang="it-IT" sz="33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Playfair Display Bold"/>
                              <a:cs typeface="Playfair Display Bold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33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Playfair Display Bold"/>
                                  <a:cs typeface="Playfair Display Bold"/>
                                </a:rPr>
                              </m:ctrlPr>
                            </m:sSubPr>
                            <m:e>
                              <m:r>
                                <a:rPr lang="it-IT" sz="3300" b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Playfair Display Bold"/>
                                  <a:cs typeface="Playfair Display Bold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it-IT" sz="3300" b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Playfair Display Bold"/>
                                  <a:cs typeface="Playfair Display Bold"/>
                                </a:rPr>
                                <m:t>𝑜</m:t>
                              </m:r>
                            </m:sub>
                          </m:sSub>
                          <m:r>
                            <a:rPr lang="it-IT" sz="33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Playfair Display Bold"/>
                              <a:cs typeface="Playfair Display Bold"/>
                            </a:rPr>
                            <m:t>∗</m:t>
                          </m:r>
                          <m:d>
                            <m:dPr>
                              <m:begChr m:val="⟦"/>
                              <m:endChr m:val="⟧"/>
                              <m:ctrlPr>
                                <a:rPr lang="it-IT" sz="33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Playfair Display Bold"/>
                                  <a:cs typeface="Playfair Display Bold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it-IT" sz="33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Playfair Display Bold"/>
                                      <a:cs typeface="Playfair Display Bold"/>
                                    </a:rPr>
                                  </m:ctrlPr>
                                </m:sSubPr>
                                <m:e>
                                  <m:r>
                                    <a:rPr lang="it-IT" sz="3300" b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Playfair Display Bold"/>
                                      <a:cs typeface="Playfair Display Bold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it-IT" sz="3300" b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Playfair Display Bold"/>
                                      <a:cs typeface="Playfair Display Bold"/>
                                    </a:rPr>
                                    <m:t>𝑡</m:t>
                                  </m:r>
                                  <m:r>
                                    <a:rPr lang="it-IT" sz="3300" b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Playfair Display Bold"/>
                                      <a:cs typeface="Playfair Display Bold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it-IT" sz="3300" b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Playfair Display Bold"/>
                                  <a:cs typeface="Playfair Display Bold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it-IT" sz="33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Playfair Display Bold"/>
                                      <a:cs typeface="Playfair Display Bold"/>
                                    </a:rPr>
                                  </m:ctrlPr>
                                </m:sSubPr>
                                <m:e>
                                  <m:r>
                                    <a:rPr lang="it-IT" sz="3300" b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Playfair Display Bold"/>
                                      <a:cs typeface="Playfair Display Bol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it-IT" sz="3300" b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Playfair Display Bold"/>
                                      <a:cs typeface="Playfair Display Bold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it-IT" sz="33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Playfair Display Bold"/>
                              <a:cs typeface="Playfair Display Bold"/>
                            </a:rPr>
                            <m:t>+</m:t>
                          </m:r>
                          <m:sSub>
                            <m:sSubPr>
                              <m:ctrlPr>
                                <a:rPr lang="it-IT" sz="33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Playfair Display Bold"/>
                                  <a:cs typeface="Playfair Display Bold"/>
                                </a:rPr>
                              </m:ctrlPr>
                            </m:sSubPr>
                            <m:e>
                              <m:r>
                                <a:rPr lang="it-IT" sz="3300" b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Playfair Display Bold"/>
                                  <a:cs typeface="Playfair Display Bold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it-IT" sz="3300" b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Playfair Display Bold"/>
                                  <a:cs typeface="Playfair Display Bold"/>
                                </a:rPr>
                                <m:t>𝑜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it-IT" sz="3300" b="1">
                  <a:solidFill>
                    <a:schemeClr val="bg1"/>
                  </a:solidFill>
                  <a:latin typeface="Playfair Display Bold"/>
                  <a:ea typeface="Playfair Display Bold"/>
                  <a:cs typeface="Playfair Display Bold"/>
                </a:endParaRPr>
              </a:p>
            </p:txBody>
          </p:sp>
        </mc:Choice>
        <mc:Fallback xmlns="">
          <p:sp>
            <p:nvSpPr>
              <p:cNvPr id="22" name="CasellaDiTesto 21">
                <a:extLst>
                  <a:ext uri="{FF2B5EF4-FFF2-40B4-BE49-F238E27FC236}">
                    <a16:creationId xmlns:a16="http://schemas.microsoft.com/office/drawing/2014/main" id="{8B80E9AD-30C4-8D02-14C6-5E265C1CAB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3915" y="8929846"/>
                <a:ext cx="5152949" cy="5078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asellaDiTesto 22">
                <a:extLst>
                  <a:ext uri="{FF2B5EF4-FFF2-40B4-BE49-F238E27FC236}">
                    <a16:creationId xmlns:a16="http://schemas.microsoft.com/office/drawing/2014/main" id="{7E9105E2-3D37-2222-3C6B-8845AB1C8A18}"/>
                  </a:ext>
                </a:extLst>
              </p:cNvPr>
              <p:cNvSpPr txBox="1"/>
              <p:nvPr/>
            </p:nvSpPr>
            <p:spPr>
              <a:xfrm>
                <a:off x="9804984" y="7482303"/>
                <a:ext cx="4972836" cy="5078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33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Playfair Display Bold"/>
                              <a:cs typeface="Playfair Display Bold"/>
                            </a:rPr>
                          </m:ctrlPr>
                        </m:sSubPr>
                        <m:e>
                          <m:r>
                            <a:rPr lang="it-IT" sz="33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Playfair Display Bold"/>
                              <a:cs typeface="Playfair Display Bold"/>
                            </a:rPr>
                            <m:t>𝑖</m:t>
                          </m:r>
                        </m:e>
                        <m:sub>
                          <m:r>
                            <a:rPr lang="it-IT" sz="33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Playfair Display Bold"/>
                              <a:cs typeface="Playfair Display Bold"/>
                            </a:rPr>
                            <m:t>𝑡</m:t>
                          </m:r>
                        </m:sub>
                      </m:sSub>
                      <m:r>
                        <a:rPr lang="it-IT" sz="33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Playfair Display Bold"/>
                          <a:cs typeface="Playfair Display Bold"/>
                        </a:rPr>
                        <m:t>=</m:t>
                      </m:r>
                      <m:r>
                        <a:rPr lang="it-IT" sz="33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Playfair Display Bold"/>
                          <a:cs typeface="Playfair Display Bold"/>
                        </a:rPr>
                        <m:t>𝜕</m:t>
                      </m:r>
                      <m:d>
                        <m:dPr>
                          <m:ctrlPr>
                            <a:rPr lang="it-IT" sz="33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Playfair Display Bold"/>
                              <a:cs typeface="Playfair Display Bold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33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Playfair Display Bold"/>
                                  <a:cs typeface="Playfair Display Bold"/>
                                </a:rPr>
                              </m:ctrlPr>
                            </m:sSubPr>
                            <m:e>
                              <m:r>
                                <a:rPr lang="it-IT" sz="3300" b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Playfair Display Bold"/>
                                  <a:cs typeface="Playfair Display Bold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it-IT" sz="3300" b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Playfair Display Bold"/>
                                  <a:cs typeface="Playfair Display Bold"/>
                                </a:rPr>
                                <m:t>𝑖</m:t>
                              </m:r>
                            </m:sub>
                          </m:sSub>
                          <m:r>
                            <a:rPr lang="it-IT" sz="33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Playfair Display Bold"/>
                              <a:cs typeface="Playfair Display Bold"/>
                            </a:rPr>
                            <m:t>∗</m:t>
                          </m:r>
                          <m:d>
                            <m:dPr>
                              <m:begChr m:val="⟦"/>
                              <m:endChr m:val="⟧"/>
                              <m:ctrlPr>
                                <a:rPr lang="it-IT" sz="33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Playfair Display Bold"/>
                                  <a:cs typeface="Playfair Display Bold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it-IT" sz="33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Playfair Display Bold"/>
                                      <a:cs typeface="Playfair Display Bold"/>
                                    </a:rPr>
                                  </m:ctrlPr>
                                </m:sSubPr>
                                <m:e>
                                  <m:r>
                                    <a:rPr lang="it-IT" sz="3300" b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Playfair Display Bold"/>
                                      <a:cs typeface="Playfair Display Bold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it-IT" sz="3300" b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Playfair Display Bold"/>
                                      <a:cs typeface="Playfair Display Bold"/>
                                    </a:rPr>
                                    <m:t>𝑡</m:t>
                                  </m:r>
                                  <m:r>
                                    <a:rPr lang="it-IT" sz="3300" b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Playfair Display Bold"/>
                                      <a:cs typeface="Playfair Display Bold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it-IT" sz="3300" b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Playfair Display Bold"/>
                                  <a:cs typeface="Playfair Display Bold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it-IT" sz="33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Playfair Display Bold"/>
                                      <a:cs typeface="Playfair Display Bold"/>
                                    </a:rPr>
                                  </m:ctrlPr>
                                </m:sSubPr>
                                <m:e>
                                  <m:r>
                                    <a:rPr lang="it-IT" sz="3300" b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Playfair Display Bold"/>
                                      <a:cs typeface="Playfair Display Bold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it-IT" sz="3300" b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Playfair Display Bold"/>
                                      <a:cs typeface="Playfair Display Bold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it-IT" sz="33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Playfair Display Bold"/>
                              <a:cs typeface="Playfair Display Bold"/>
                            </a:rPr>
                            <m:t>+</m:t>
                          </m:r>
                          <m:sSub>
                            <m:sSubPr>
                              <m:ctrlPr>
                                <a:rPr lang="it-IT" sz="33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Playfair Display Bold"/>
                                  <a:cs typeface="Playfair Display Bold"/>
                                </a:rPr>
                              </m:ctrlPr>
                            </m:sSubPr>
                            <m:e>
                              <m:r>
                                <a:rPr lang="it-IT" sz="3300" b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Playfair Display Bold"/>
                                  <a:cs typeface="Playfair Display Bold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it-IT" sz="3300" b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Playfair Display Bold"/>
                                  <a:cs typeface="Playfair Display Bold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it-IT" sz="3300" b="1">
                  <a:solidFill>
                    <a:schemeClr val="bg1"/>
                  </a:solidFill>
                  <a:latin typeface="Playfair Display Bold"/>
                  <a:ea typeface="Playfair Display Bold"/>
                  <a:cs typeface="Playfair Display Bold"/>
                </a:endParaRPr>
              </a:p>
            </p:txBody>
          </p:sp>
        </mc:Choice>
        <mc:Fallback xmlns="">
          <p:sp>
            <p:nvSpPr>
              <p:cNvPr id="23" name="CasellaDiTesto 22">
                <a:extLst>
                  <a:ext uri="{FF2B5EF4-FFF2-40B4-BE49-F238E27FC236}">
                    <a16:creationId xmlns:a16="http://schemas.microsoft.com/office/drawing/2014/main" id="{7E9105E2-3D37-2222-3C6B-8845AB1C8A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4984" y="7482303"/>
                <a:ext cx="4972836" cy="5078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5">
                <a:extLst>
                  <a:ext uri="{FF2B5EF4-FFF2-40B4-BE49-F238E27FC236}">
                    <a16:creationId xmlns:a16="http://schemas.microsoft.com/office/drawing/2014/main" id="{C26967C7-F66C-1058-F827-FE78A9564D27}"/>
                  </a:ext>
                </a:extLst>
              </p:cNvPr>
              <p:cNvSpPr txBox="1"/>
              <p:nvPr/>
            </p:nvSpPr>
            <p:spPr>
              <a:xfrm>
                <a:off x="762000" y="9722548"/>
                <a:ext cx="17045286" cy="500393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4621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Playfair Display Bold"/>
                          </a:rPr>
                        </m:ctrlPr>
                      </m:sSubPr>
                      <m:e>
                        <m:r>
                          <a:rPr lang="it-IT" sz="2000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Playfair Display Bold"/>
                          </a:rPr>
                          <m:t>𝐖</m:t>
                        </m:r>
                      </m:e>
                      <m:sub>
                        <m:r>
                          <a:rPr lang="it-IT" sz="2000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Playfair Display Bold"/>
                          </a:rPr>
                          <m:t>𝐤</m:t>
                        </m:r>
                      </m:sub>
                    </m:sSub>
                    <m:r>
                      <a:rPr lang="it-IT" sz="20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sym typeface="Playfair Display Bold"/>
                      </a:rPr>
                      <m:t>=</m:t>
                    </m:r>
                    <m:r>
                      <a:rPr lang="it-IT" sz="20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sym typeface="Playfair Display Bold"/>
                      </a:rPr>
                      <m:t>𝐖𝐞𝐢𝐠𝐡𝐭𝐬</m:t>
                    </m:r>
                    <m:r>
                      <a:rPr lang="it-IT" sz="20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sym typeface="Playfair Display Bold"/>
                      </a:rPr>
                      <m:t>;                       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Playfair Display Bold"/>
                          </a:rPr>
                        </m:ctrlPr>
                      </m:sSubPr>
                      <m:e>
                        <m:r>
                          <a:rPr lang="it-IT" sz="2000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Playfair Display Bold"/>
                          </a:rPr>
                          <m:t>𝐛</m:t>
                        </m:r>
                      </m:e>
                      <m:sub>
                        <m:r>
                          <a:rPr lang="it-IT" sz="2000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Playfair Display Bold"/>
                          </a:rPr>
                          <m:t>𝐤</m:t>
                        </m:r>
                      </m:sub>
                    </m:sSub>
                    <m:r>
                      <a:rPr lang="it-IT" sz="20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sym typeface="Playfair Display Bold"/>
                      </a:rPr>
                      <m:t>=</m:t>
                    </m:r>
                    <m:r>
                      <a:rPr lang="it-IT" sz="20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sym typeface="Playfair Display Bold"/>
                      </a:rPr>
                      <m:t>𝐁𝐢𝐚𝐬</m:t>
                    </m:r>
                    <m:r>
                      <a:rPr lang="it-IT" sz="20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sym typeface="Playfair Display Bold"/>
                      </a:rPr>
                      <m:t>;                       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Playfair Display Bold"/>
                          </a:rPr>
                        </m:ctrlPr>
                      </m:sSubPr>
                      <m:e>
                        <m:r>
                          <a:rPr lang="it-IT" sz="2000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Playfair Display Bold"/>
                          </a:rPr>
                          <m:t>𝐡</m:t>
                        </m:r>
                      </m:e>
                      <m:sub>
                        <m:r>
                          <a:rPr lang="it-IT" sz="2000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Playfair Display Bold"/>
                          </a:rPr>
                          <m:t>𝐭</m:t>
                        </m:r>
                        <m:r>
                          <a:rPr lang="it-IT" sz="2000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Playfair Display Bold"/>
                          </a:rPr>
                          <m:t>−</m:t>
                        </m:r>
                        <m:r>
                          <a:rPr lang="it-IT" sz="2000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Playfair Display Bold"/>
                          </a:rPr>
                          <m:t>𝟏</m:t>
                        </m:r>
                      </m:sub>
                    </m:sSub>
                    <m:r>
                      <a:rPr lang="it-IT" sz="20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sym typeface="Playfair Display Bold"/>
                      </a:rPr>
                      <m:t>=</m:t>
                    </m:r>
                    <m:r>
                      <a:rPr lang="it-IT" sz="20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sym typeface="Playfair Display Bold"/>
                      </a:rPr>
                      <m:t>𝐒𝐡𝐨𝐫𝐭</m:t>
                    </m:r>
                    <m:r>
                      <a:rPr lang="it-IT" sz="20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sym typeface="Playfair Display Bold"/>
                      </a:rPr>
                      <m:t>−</m:t>
                    </m:r>
                    <m:r>
                      <a:rPr lang="it-IT" sz="20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sym typeface="Playfair Display Bold"/>
                      </a:rPr>
                      <m:t>𝐓𝐞𝐫𝐦</m:t>
                    </m:r>
                    <m:r>
                      <a:rPr lang="it-IT" sz="20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sym typeface="Playfair Display Bold"/>
                      </a:rPr>
                      <m:t> </m:t>
                    </m:r>
                    <m:r>
                      <a:rPr lang="it-IT" sz="20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sym typeface="Playfair Display Bold"/>
                      </a:rPr>
                      <m:t>𝐦𝐞𝐦𝐨𝐫𝐲</m:t>
                    </m:r>
                    <m:r>
                      <a:rPr lang="it-IT" sz="20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sym typeface="Playfair Display Bold"/>
                      </a:rPr>
                      <m:t>;                    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Playfair Display Bold"/>
                          </a:rPr>
                        </m:ctrlPr>
                      </m:sSubPr>
                      <m:e>
                        <m:r>
                          <a:rPr lang="it-IT" sz="2000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Playfair Display Bold"/>
                          </a:rPr>
                          <m:t>𝐱</m:t>
                        </m:r>
                      </m:e>
                      <m:sub>
                        <m:r>
                          <a:rPr lang="it-IT" sz="2000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Playfair Display Bold"/>
                          </a:rPr>
                          <m:t>𝐭</m:t>
                        </m:r>
                      </m:sub>
                    </m:sSub>
                    <m:r>
                      <a:rPr lang="it-IT" sz="20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sym typeface="Playfair Display Bold"/>
                      </a:rPr>
                      <m:t>=</m:t>
                    </m:r>
                    <m:r>
                      <a:rPr lang="it-IT" sz="20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sym typeface="Playfair Display Bold"/>
                      </a:rPr>
                      <m:t>𝐈𝐧𝐩𝐮𝐭</m:t>
                    </m:r>
                    <m:r>
                      <a:rPr lang="it-IT" sz="20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sym typeface="Playfair Display Bold"/>
                      </a:rPr>
                      <m:t> </m:t>
                    </m:r>
                    <m:r>
                      <a:rPr lang="it-IT" sz="20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sym typeface="Playfair Display Bold"/>
                      </a:rPr>
                      <m:t>𝐯𝐞𝐜𝐭𝐨𝐫</m:t>
                    </m:r>
                    <m:r>
                      <a:rPr lang="it-IT" sz="20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sym typeface="Playfair Display Bold"/>
                      </a:rPr>
                      <m:t>;               </m:t>
                    </m:r>
                    <m:r>
                      <a:rPr lang="it-IT" sz="20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Playfair Display Bold"/>
                      </a:rPr>
                      <m:t>𝛛</m:t>
                    </m:r>
                    <m:r>
                      <a:rPr lang="it-IT" sz="2000" b="1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Playfair Display Bold"/>
                      </a:rPr>
                      <m:t>=</m:t>
                    </m:r>
                  </m:oMath>
                </a14:m>
                <a:r>
                  <a:rPr lang="en-US" sz="2000" b="1">
                    <a:solidFill>
                      <a:schemeClr val="bg1"/>
                    </a:solidFill>
                    <a:latin typeface="Playfair Display Bold"/>
                    <a:ea typeface="Playfair Display Bold"/>
                    <a:cs typeface="Playfair Display Bold"/>
                    <a:sym typeface="Playfair Display Bold"/>
                  </a:rPr>
                  <a:t>Sigmoid Activation function</a:t>
                </a:r>
              </a:p>
            </p:txBody>
          </p:sp>
        </mc:Choice>
        <mc:Fallback xmlns="">
          <p:sp>
            <p:nvSpPr>
              <p:cNvPr id="2" name="TextBox 15">
                <a:extLst>
                  <a:ext uri="{FF2B5EF4-FFF2-40B4-BE49-F238E27FC236}">
                    <a16:creationId xmlns:a16="http://schemas.microsoft.com/office/drawing/2014/main" id="{C26967C7-F66C-1058-F827-FE78A9564D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9722548"/>
                <a:ext cx="17045286" cy="500393"/>
              </a:xfrm>
              <a:prstGeom prst="rect">
                <a:avLst/>
              </a:prstGeom>
              <a:blipFill>
                <a:blip r:embed="rId8"/>
                <a:stretch>
                  <a:fillRect l="-179" r="-572" b="-304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/>
      <p:bldP spid="15" grpId="0"/>
      <p:bldP spid="16" grpId="0"/>
      <p:bldP spid="17" grpId="0"/>
      <p:bldP spid="18" grpId="0"/>
      <p:bldP spid="19" grpId="0"/>
      <p:bldP spid="22" grpId="0"/>
      <p:bldP spid="23" grpId="0"/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172845">
            <a:off x="6368285" y="-727739"/>
            <a:ext cx="14678668" cy="7392711"/>
          </a:xfrm>
          <a:custGeom>
            <a:avLst/>
            <a:gdLst/>
            <a:ahLst/>
            <a:cxnLst/>
            <a:rect l="l" t="t" r="r" b="b"/>
            <a:pathLst>
              <a:path w="14678668" h="7392711">
                <a:moveTo>
                  <a:pt x="0" y="0"/>
                </a:moveTo>
                <a:lnTo>
                  <a:pt x="14678668" y="0"/>
                </a:lnTo>
                <a:lnTo>
                  <a:pt x="14678668" y="7392711"/>
                </a:lnTo>
                <a:lnTo>
                  <a:pt x="0" y="73927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 rot="2172845">
            <a:off x="-3843661" y="7384212"/>
            <a:ext cx="14678668" cy="7392711"/>
          </a:xfrm>
          <a:custGeom>
            <a:avLst/>
            <a:gdLst/>
            <a:ahLst/>
            <a:cxnLst/>
            <a:rect l="l" t="t" r="r" b="b"/>
            <a:pathLst>
              <a:path w="14678668" h="7392711">
                <a:moveTo>
                  <a:pt x="0" y="0"/>
                </a:moveTo>
                <a:lnTo>
                  <a:pt x="14678668" y="0"/>
                </a:lnTo>
                <a:lnTo>
                  <a:pt x="14678668" y="7392711"/>
                </a:lnTo>
                <a:lnTo>
                  <a:pt x="0" y="73927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175914" y="169716"/>
            <a:ext cx="2626631" cy="850372"/>
          </a:xfrm>
          <a:custGeom>
            <a:avLst/>
            <a:gdLst/>
            <a:ahLst/>
            <a:cxnLst/>
            <a:rect l="l" t="t" r="r" b="b"/>
            <a:pathLst>
              <a:path w="2626631" h="850372">
                <a:moveTo>
                  <a:pt x="0" y="0"/>
                </a:moveTo>
                <a:lnTo>
                  <a:pt x="2626631" y="0"/>
                </a:lnTo>
                <a:lnTo>
                  <a:pt x="2626631" y="850372"/>
                </a:lnTo>
                <a:lnTo>
                  <a:pt x="0" y="8503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TextBox 5"/>
          <p:cNvSpPr txBox="1"/>
          <p:nvPr/>
        </p:nvSpPr>
        <p:spPr>
          <a:xfrm>
            <a:off x="16312489" y="150666"/>
            <a:ext cx="1732152" cy="62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15"/>
              </a:lnSpc>
            </a:pPr>
            <a:r>
              <a:rPr lang="en-US" sz="1225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CANDIDATA </a:t>
            </a:r>
          </a:p>
          <a:p>
            <a:pPr algn="ctr">
              <a:lnSpc>
                <a:spcPts val="1715"/>
              </a:lnSpc>
            </a:pPr>
            <a:r>
              <a:rPr lang="en-US" sz="12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Vincenza Siani</a:t>
            </a:r>
          </a:p>
          <a:p>
            <a:pPr algn="ctr">
              <a:lnSpc>
                <a:spcPts val="1715"/>
              </a:lnSpc>
            </a:pPr>
            <a:r>
              <a:rPr lang="en-US" sz="12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M62003043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93177" y="279635"/>
            <a:ext cx="11357700" cy="58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4000" b="1">
                <a:solidFill>
                  <a:srgbClr val="36E9FD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METHODOLOGY (2/4)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14400" y="2052650"/>
            <a:ext cx="7834792" cy="1199917"/>
            <a:chOff x="0" y="0"/>
            <a:chExt cx="2292778" cy="4559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92778" cy="455965"/>
            </a:xfrm>
            <a:custGeom>
              <a:avLst/>
              <a:gdLst/>
              <a:ahLst/>
              <a:cxnLst/>
              <a:rect l="l" t="t" r="r" b="b"/>
              <a:pathLst>
                <a:path w="2292778" h="455965">
                  <a:moveTo>
                    <a:pt x="0" y="0"/>
                  </a:moveTo>
                  <a:lnTo>
                    <a:pt x="2292778" y="0"/>
                  </a:lnTo>
                  <a:lnTo>
                    <a:pt x="2292778" y="455965"/>
                  </a:lnTo>
                  <a:lnTo>
                    <a:pt x="0" y="455965"/>
                  </a:lnTo>
                  <a:close/>
                </a:path>
              </a:pathLst>
            </a:custGeom>
            <a:gradFill rotWithShape="1">
              <a:gsLst>
                <a:gs pos="0">
                  <a:srgbClr val="31AFCB">
                    <a:alpha val="40500"/>
                  </a:srgbClr>
                </a:gs>
                <a:gs pos="50000">
                  <a:srgbClr val="4071EE">
                    <a:alpha val="84000"/>
                  </a:srgbClr>
                </a:gs>
                <a:gs pos="100000">
                  <a:srgbClr val="000F70">
                    <a:alpha val="22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292778" cy="5131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48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528876" y="1957959"/>
            <a:ext cx="6357486" cy="1188251"/>
            <a:chOff x="0" y="0"/>
            <a:chExt cx="2292778" cy="35831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92778" cy="358318"/>
            </a:xfrm>
            <a:custGeom>
              <a:avLst/>
              <a:gdLst/>
              <a:ahLst/>
              <a:cxnLst/>
              <a:rect l="l" t="t" r="r" b="b"/>
              <a:pathLst>
                <a:path w="2292778" h="358318">
                  <a:moveTo>
                    <a:pt x="0" y="0"/>
                  </a:moveTo>
                  <a:lnTo>
                    <a:pt x="2292778" y="0"/>
                  </a:lnTo>
                  <a:lnTo>
                    <a:pt x="2292778" y="358318"/>
                  </a:lnTo>
                  <a:lnTo>
                    <a:pt x="0" y="358318"/>
                  </a:lnTo>
                  <a:close/>
                </a:path>
              </a:pathLst>
            </a:custGeom>
            <a:gradFill rotWithShape="1">
              <a:gsLst>
                <a:gs pos="0">
                  <a:srgbClr val="31AFCB">
                    <a:alpha val="40500"/>
                  </a:srgbClr>
                </a:gs>
                <a:gs pos="50000">
                  <a:srgbClr val="4071EE">
                    <a:alpha val="84000"/>
                  </a:srgbClr>
                </a:gs>
                <a:gs pos="100000">
                  <a:srgbClr val="000F70">
                    <a:alpha val="22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292778" cy="41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48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840854" y="3984780"/>
            <a:ext cx="5650613" cy="1301275"/>
            <a:chOff x="0" y="0"/>
            <a:chExt cx="2292778" cy="57481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92778" cy="574814"/>
            </a:xfrm>
            <a:custGeom>
              <a:avLst/>
              <a:gdLst/>
              <a:ahLst/>
              <a:cxnLst/>
              <a:rect l="l" t="t" r="r" b="b"/>
              <a:pathLst>
                <a:path w="2292778" h="574814">
                  <a:moveTo>
                    <a:pt x="0" y="0"/>
                  </a:moveTo>
                  <a:lnTo>
                    <a:pt x="2292778" y="0"/>
                  </a:lnTo>
                  <a:lnTo>
                    <a:pt x="2292778" y="574814"/>
                  </a:lnTo>
                  <a:lnTo>
                    <a:pt x="0" y="574814"/>
                  </a:lnTo>
                  <a:close/>
                </a:path>
              </a:pathLst>
            </a:custGeom>
            <a:gradFill rotWithShape="1">
              <a:gsLst>
                <a:gs pos="0">
                  <a:srgbClr val="31AFCB">
                    <a:alpha val="40500"/>
                  </a:srgbClr>
                </a:gs>
                <a:gs pos="50000">
                  <a:srgbClr val="4071EE">
                    <a:alpha val="84000"/>
                  </a:srgbClr>
                </a:gs>
                <a:gs pos="100000">
                  <a:srgbClr val="000F70">
                    <a:alpha val="22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292778" cy="6319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48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04738" y="2240704"/>
            <a:ext cx="781849" cy="781849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8EB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433379" y="2374952"/>
            <a:ext cx="524566" cy="524566"/>
          </a:xfrm>
          <a:custGeom>
            <a:avLst/>
            <a:gdLst/>
            <a:ahLst/>
            <a:cxnLst/>
            <a:rect l="l" t="t" r="r" b="b"/>
            <a:pathLst>
              <a:path w="524566" h="524566">
                <a:moveTo>
                  <a:pt x="0" y="0"/>
                </a:moveTo>
                <a:lnTo>
                  <a:pt x="524566" y="0"/>
                </a:lnTo>
                <a:lnTo>
                  <a:pt x="524566" y="524566"/>
                </a:lnTo>
                <a:lnTo>
                  <a:pt x="0" y="5245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0" name="TextBox 20"/>
          <p:cNvSpPr txBox="1"/>
          <p:nvPr/>
        </p:nvSpPr>
        <p:spPr>
          <a:xfrm>
            <a:off x="6966399" y="4136104"/>
            <a:ext cx="5439005" cy="9035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36"/>
              </a:lnSpc>
              <a:spcBef>
                <a:spcPct val="0"/>
              </a:spcBef>
            </a:pPr>
            <a:r>
              <a:rPr lang="en-US" sz="1300" b="1" dirty="0" err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weather_vars</a:t>
            </a:r>
            <a:r>
              <a:rPr lang="en-US" sz="1300" b="1" dirty="0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 = [WIND SPEED, WAVE HEIGHT ,  WAVE PERIOD, SWELL HEIGHT, SWELL PERIOD,</a:t>
            </a:r>
            <a:endParaRPr lang="en-US" sz="1311" b="1" dirty="0">
              <a:solidFill>
                <a:srgbClr val="FFFFFF"/>
              </a:solidFill>
              <a:latin typeface="Playfair Display Bold"/>
              <a:ea typeface="Playfair Display Bold"/>
              <a:cs typeface="Playfair Display Bold"/>
              <a:sym typeface="Playfair Display Bold"/>
            </a:endParaRPr>
          </a:p>
          <a:p>
            <a:pPr algn="ctr">
              <a:lnSpc>
                <a:spcPts val="1836"/>
              </a:lnSpc>
              <a:spcBef>
                <a:spcPct val="0"/>
              </a:spcBef>
            </a:pPr>
            <a:r>
              <a:rPr lang="en-US" sz="1311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WAVEH SPEED, WIND DIR.,  AIR TEMP.]</a:t>
            </a:r>
          </a:p>
          <a:p>
            <a:pPr algn="ctr">
              <a:lnSpc>
                <a:spcPts val="1836"/>
              </a:lnSpc>
              <a:spcBef>
                <a:spcPct val="0"/>
              </a:spcBef>
            </a:pPr>
            <a:endParaRPr lang="en-US" sz="1311" b="1">
              <a:solidFill>
                <a:srgbClr val="FFFFFF"/>
              </a:solidFill>
              <a:latin typeface="Playfair Display Bold"/>
              <a:ea typeface="Playfair Display Bold"/>
              <a:cs typeface="Playfair Display Bold"/>
              <a:sym typeface="Playfair Display Bold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9805726" y="2052650"/>
            <a:ext cx="917841" cy="970526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8EB2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279827" y="4249391"/>
            <a:ext cx="794663" cy="794663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8EB2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6439814" y="4448942"/>
            <a:ext cx="490676" cy="490676"/>
          </a:xfrm>
          <a:custGeom>
            <a:avLst/>
            <a:gdLst/>
            <a:ahLst/>
            <a:cxnLst/>
            <a:rect l="l" t="t" r="r" b="b"/>
            <a:pathLst>
              <a:path w="490676" h="490676">
                <a:moveTo>
                  <a:pt x="0" y="0"/>
                </a:moveTo>
                <a:lnTo>
                  <a:pt x="490675" y="0"/>
                </a:lnTo>
                <a:lnTo>
                  <a:pt x="490675" y="490675"/>
                </a:lnTo>
                <a:lnTo>
                  <a:pt x="0" y="4906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8" name="Freeform 28"/>
          <p:cNvSpPr/>
          <p:nvPr/>
        </p:nvSpPr>
        <p:spPr>
          <a:xfrm>
            <a:off x="10089987" y="2274399"/>
            <a:ext cx="349318" cy="604166"/>
          </a:xfrm>
          <a:custGeom>
            <a:avLst/>
            <a:gdLst/>
            <a:ahLst/>
            <a:cxnLst/>
            <a:rect l="l" t="t" r="r" b="b"/>
            <a:pathLst>
              <a:path w="349318" h="604166">
                <a:moveTo>
                  <a:pt x="0" y="0"/>
                </a:moveTo>
                <a:lnTo>
                  <a:pt x="349318" y="0"/>
                </a:lnTo>
                <a:lnTo>
                  <a:pt x="349318" y="604166"/>
                </a:lnTo>
                <a:lnTo>
                  <a:pt x="0" y="6041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29" name="TextBox 29"/>
          <p:cNvSpPr txBox="1"/>
          <p:nvPr/>
        </p:nvSpPr>
        <p:spPr>
          <a:xfrm>
            <a:off x="1000463" y="2415099"/>
            <a:ext cx="7443929" cy="2573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13"/>
              </a:lnSpc>
              <a:spcBef>
                <a:spcPct val="0"/>
              </a:spcBef>
            </a:pPr>
            <a:r>
              <a:rPr lang="en-US" sz="1580" b="1" err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navigation_vars</a:t>
            </a:r>
            <a:r>
              <a:rPr lang="en-US" sz="1580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= [SOG,  STW, DRAFT AFT, DRAFT FOR, HEADING, MILES]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585410" y="2286515"/>
            <a:ext cx="4870706" cy="558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49"/>
              </a:lnSpc>
              <a:spcBef>
                <a:spcPct val="0"/>
              </a:spcBef>
            </a:pPr>
            <a:r>
              <a:rPr lang="en-US" sz="1600" b="1" dirty="0" err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power_vars</a:t>
            </a:r>
            <a:r>
              <a:rPr lang="en-US" sz="1600" b="1" dirty="0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= [SHA POW 1, SHA POW 2, </a:t>
            </a:r>
          </a:p>
          <a:p>
            <a:pPr algn="ctr">
              <a:lnSpc>
                <a:spcPts val="2249"/>
              </a:lnSpc>
              <a:spcBef>
                <a:spcPct val="0"/>
              </a:spcBef>
            </a:pPr>
            <a:r>
              <a:rPr lang="en-US" sz="1600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                              SHG POW 1, SHG POW 2]</a:t>
            </a:r>
            <a:endParaRPr lang="en-US" sz="1600" b="1">
              <a:solidFill>
                <a:srgbClr val="FFFFFF"/>
              </a:solidFill>
              <a:latin typeface="Playfair Display Bold"/>
              <a:ea typeface="Playfair Display Bold"/>
              <a:cs typeface="Playfair Display Bold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3010640" y="888930"/>
            <a:ext cx="12122775" cy="563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33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selected variables fall into three categories: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340743" y="6029325"/>
            <a:ext cx="15118586" cy="1144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33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For the operation of the LSTM network, the </a:t>
            </a:r>
            <a:r>
              <a:rPr lang="en-US" sz="3300" b="1">
                <a:solidFill>
                  <a:srgbClr val="36E9F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hyperparameters</a:t>
            </a:r>
            <a:r>
              <a:rPr lang="en-US" sz="33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were </a:t>
            </a:r>
            <a:r>
              <a:rPr lang="en-US" sz="3300" err="1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optimised</a:t>
            </a:r>
            <a:r>
              <a:rPr lang="en-US" sz="33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using Improved Grey Wolf </a:t>
            </a:r>
            <a:r>
              <a:rPr lang="en-US" sz="3300" err="1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Optimisation</a:t>
            </a:r>
            <a:r>
              <a:rPr lang="en-US" sz="33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(IGWO):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89229" y="7634391"/>
            <a:ext cx="15118586" cy="2306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33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-Batch size </a:t>
            </a:r>
          </a:p>
          <a:p>
            <a:pPr algn="ctr">
              <a:lnSpc>
                <a:spcPts val="4621"/>
              </a:lnSpc>
            </a:pPr>
            <a:r>
              <a:rPr lang="en-US" sz="33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-Epochs </a:t>
            </a:r>
          </a:p>
          <a:p>
            <a:pPr algn="ctr">
              <a:lnSpc>
                <a:spcPts val="4621"/>
              </a:lnSpc>
            </a:pPr>
            <a:r>
              <a:rPr lang="en-US" sz="33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-Number of neurons </a:t>
            </a:r>
          </a:p>
          <a:p>
            <a:pPr algn="ctr">
              <a:lnSpc>
                <a:spcPts val="4621"/>
              </a:lnSpc>
            </a:pPr>
            <a:r>
              <a:rPr lang="en-US" sz="33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-Dropout rate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/>
      <p:bldP spid="24" grpId="0" animBg="1"/>
      <p:bldP spid="28" grpId="0" animBg="1"/>
      <p:bldP spid="29" grpId="0"/>
      <p:bldP spid="30" grpId="0"/>
      <p:bldP spid="32" grpId="0"/>
      <p:bldP spid="3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172845">
            <a:off x="6368285" y="-727739"/>
            <a:ext cx="14678668" cy="7392711"/>
          </a:xfrm>
          <a:custGeom>
            <a:avLst/>
            <a:gdLst/>
            <a:ahLst/>
            <a:cxnLst/>
            <a:rect l="l" t="t" r="r" b="b"/>
            <a:pathLst>
              <a:path w="14678668" h="7392711">
                <a:moveTo>
                  <a:pt x="0" y="0"/>
                </a:moveTo>
                <a:lnTo>
                  <a:pt x="14678668" y="0"/>
                </a:lnTo>
                <a:lnTo>
                  <a:pt x="14678668" y="7392711"/>
                </a:lnTo>
                <a:lnTo>
                  <a:pt x="0" y="73927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 rot="2172845">
            <a:off x="-3843661" y="7384212"/>
            <a:ext cx="14678668" cy="7392711"/>
          </a:xfrm>
          <a:custGeom>
            <a:avLst/>
            <a:gdLst/>
            <a:ahLst/>
            <a:cxnLst/>
            <a:rect l="l" t="t" r="r" b="b"/>
            <a:pathLst>
              <a:path w="14678668" h="7392711">
                <a:moveTo>
                  <a:pt x="0" y="0"/>
                </a:moveTo>
                <a:lnTo>
                  <a:pt x="14678668" y="0"/>
                </a:lnTo>
                <a:lnTo>
                  <a:pt x="14678668" y="7392711"/>
                </a:lnTo>
                <a:lnTo>
                  <a:pt x="0" y="73927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175914" y="169716"/>
            <a:ext cx="2626631" cy="850372"/>
          </a:xfrm>
          <a:custGeom>
            <a:avLst/>
            <a:gdLst/>
            <a:ahLst/>
            <a:cxnLst/>
            <a:rect l="l" t="t" r="r" b="b"/>
            <a:pathLst>
              <a:path w="2626631" h="850372">
                <a:moveTo>
                  <a:pt x="0" y="0"/>
                </a:moveTo>
                <a:lnTo>
                  <a:pt x="2626631" y="0"/>
                </a:lnTo>
                <a:lnTo>
                  <a:pt x="2626631" y="850372"/>
                </a:lnTo>
                <a:lnTo>
                  <a:pt x="0" y="8503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TextBox 5"/>
          <p:cNvSpPr txBox="1"/>
          <p:nvPr/>
        </p:nvSpPr>
        <p:spPr>
          <a:xfrm>
            <a:off x="16312489" y="150666"/>
            <a:ext cx="1732152" cy="62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15"/>
              </a:lnSpc>
            </a:pPr>
            <a:r>
              <a:rPr lang="en-US" sz="1225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CANDIDATA </a:t>
            </a:r>
          </a:p>
          <a:p>
            <a:pPr algn="ctr">
              <a:lnSpc>
                <a:spcPts val="1715"/>
              </a:lnSpc>
            </a:pPr>
            <a:r>
              <a:rPr lang="en-US" sz="12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Vincenza Siani</a:t>
            </a:r>
          </a:p>
          <a:p>
            <a:pPr algn="ctr">
              <a:lnSpc>
                <a:spcPts val="1715"/>
              </a:lnSpc>
            </a:pPr>
            <a:r>
              <a:rPr lang="en-US" sz="12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M62003043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93177" y="279635"/>
            <a:ext cx="11357700" cy="58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4000" b="1">
                <a:solidFill>
                  <a:srgbClr val="36E9FD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METHODOLOGY (2/4)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63200" y="1256480"/>
            <a:ext cx="13863945" cy="1144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GB" sz="33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accuracy of the forecast is measured by the Coefficient of Determination:</a:t>
            </a:r>
            <a:endParaRPr lang="en-US" sz="3300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230463" y="4236432"/>
            <a:ext cx="11633440" cy="1144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33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error metrics selected are </a:t>
            </a:r>
            <a:r>
              <a:rPr lang="en-US" sz="3300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Mean Absolute Error</a:t>
            </a:r>
            <a:r>
              <a:rPr lang="en-US" sz="33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and </a:t>
            </a:r>
            <a:r>
              <a:rPr lang="en-US" sz="3300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Mean</a:t>
            </a:r>
            <a:r>
              <a:rPr lang="en-US" sz="33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lang="en-US" sz="3300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Absolute Percentage Error</a:t>
            </a:r>
            <a:r>
              <a:rPr lang="en-US" sz="33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EF336232-9974-FA8E-4EF5-5902C77A48E5}"/>
                  </a:ext>
                </a:extLst>
              </p:cNvPr>
              <p:cNvSpPr txBox="1"/>
              <p:nvPr/>
            </p:nvSpPr>
            <p:spPr>
              <a:xfrm>
                <a:off x="6660248" y="2811634"/>
                <a:ext cx="4773871" cy="11869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sz="3300" b="1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Playfair Display Bold"/>
                              <a:cs typeface="Playfair Display Bold"/>
                            </a:rPr>
                          </m:ctrlPr>
                        </m:sSupPr>
                        <m:e>
                          <m:r>
                            <a:rPr lang="it-IT" sz="3300" b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Playfair Display Bold"/>
                              <a:cs typeface="Playfair Display Bold"/>
                            </a:rPr>
                            <m:t>𝑅</m:t>
                          </m:r>
                        </m:e>
                        <m:sup>
                          <m:r>
                            <a:rPr lang="it-IT" sz="3300" b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Playfair Display Bold"/>
                              <a:cs typeface="Playfair Display Bold"/>
                            </a:rPr>
                            <m:t>2 </m:t>
                          </m:r>
                        </m:sup>
                      </m:sSup>
                      <m:r>
                        <a:rPr lang="it-IT" sz="3300" b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Playfair Display Bold"/>
                          <a:cs typeface="Playfair Display Bold"/>
                        </a:rPr>
                        <m:t>=1 − </m:t>
                      </m:r>
                      <m:f>
                        <m:fPr>
                          <m:ctrlPr>
                            <a:rPr lang="it-IT" sz="3300" b="1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Playfair Display Bold"/>
                              <a:cs typeface="Playfair Display Bold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it-IT" sz="3300" b="1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it-IT" sz="3300" b="1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it-IT" sz="3300" b="1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it-IT" sz="3300" b="1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it-IT" sz="3300" b="1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it-IT" sz="3300" b="1" i="1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it-IT" sz="3300" b="1" i="1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it-IT" sz="3300" b="1" i="1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it-IT" sz="3300" b="1" i="1" smtClean="0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  <m:sub>
                                          <m:r>
                                            <a:rPr lang="it-IT" sz="3300" b="1" i="1" smtClean="0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  <m:r>
                                        <a:rPr lang="it-IT" sz="3300" b="1" i="1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it-IT" sz="3300" b="1" i="1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it-IT" sz="3300" b="1" i="1" smtClean="0">
                                                  <a:solidFill>
                                                    <a:srgbClr val="FFFF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it-IT" sz="3300" b="1" i="1" smtClean="0">
                                                  <a:solidFill>
                                                    <a:srgbClr val="FFFF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𝒚</m:t>
                                              </m:r>
                                            </m:e>
                                            <m:sub>
                                              <m:r>
                                                <a:rPr lang="it-IT" sz="3300" b="1" i="1" smtClean="0">
                                                  <a:solidFill>
                                                    <a:srgbClr val="FFFF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𝒊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it-IT" sz="3300" b="1" i="1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it-IT" sz="3300" b="1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it-IT" sz="3300" b="1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it-IT" sz="3300" b="1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it-IT" sz="3300" b="1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it-IT" sz="3300" b="1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it-IT" sz="3300" b="1" i="1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it-IT" sz="3300" b="1" i="1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it-IT" sz="3300" b="1" i="1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it-IT" sz="3300" b="1" i="1" smtClean="0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  <m:sub>
                                          <m:r>
                                            <a:rPr lang="it-IT" sz="3300" b="1" i="1" smtClean="0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  <m:r>
                                        <a:rPr lang="it-IT" sz="3300" b="1" i="1">
                                          <a:solidFill>
                                            <a:srgbClr val="FFFF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it-IT" sz="3300" b="1" i="1" smtClean="0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it-IT" sz="3300" b="1" i="1" smtClean="0">
                                              <a:solidFill>
                                                <a:srgbClr val="FFFF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it-IT" sz="3300" b="1" i="1" smtClean="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it-IT" sz="3300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</a:endParaRPr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EF336232-9974-FA8E-4EF5-5902C77A48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48" y="2811634"/>
                <a:ext cx="4773871" cy="11869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3EE20399-9A92-7124-60C1-9FEBDF14A673}"/>
                  </a:ext>
                </a:extLst>
              </p:cNvPr>
              <p:cNvSpPr txBox="1"/>
              <p:nvPr/>
            </p:nvSpPr>
            <p:spPr>
              <a:xfrm>
                <a:off x="7696200" y="5966316"/>
                <a:ext cx="4152932" cy="7310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it-IT" sz="3300" b="1">
                    <a:solidFill>
                      <a:srgbClr val="FFFFFF"/>
                    </a:solidFill>
                    <a:latin typeface="Playfair Display Bold"/>
                    <a:ea typeface="Playfair Display Bold"/>
                    <a:cs typeface="Playfair Display Bold"/>
                  </a:rPr>
                  <a:t>MAE </a:t>
                </a:r>
                <a14:m>
                  <m:oMath xmlns:m="http://schemas.openxmlformats.org/officeDocument/2006/math">
                    <m:r>
                      <a:rPr lang="it-IT" sz="3300" b="1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Playfair Display Bold"/>
                        <a:cs typeface="Playfair Display Bold"/>
                      </a:rPr>
                      <m:t>= </m:t>
                    </m:r>
                    <m:f>
                      <m:fPr>
                        <m:ctrlPr>
                          <a:rPr lang="it-IT" sz="3300" b="1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Playfair Display Bold"/>
                            <a:cs typeface="Playfair Display Bold"/>
                          </a:rPr>
                        </m:ctrlPr>
                      </m:fPr>
                      <m:num>
                        <m:r>
                          <a:rPr lang="it-IT" sz="3300" b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Playfair Display Bold"/>
                            <a:cs typeface="Playfair Display Bold"/>
                          </a:rPr>
                          <m:t>1</m:t>
                        </m:r>
                      </m:num>
                      <m:den>
                        <m:r>
                          <a:rPr lang="it-IT" sz="3300" b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Playfair Display Bold"/>
                            <a:cs typeface="Playfair Display Bold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it-IT" sz="3300" b="1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Playfair Display Bold"/>
                            <a:cs typeface="Playfair Display Bold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it-IT" sz="3300" b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Playfair Display Bold"/>
                            <a:cs typeface="Playfair Display Bold"/>
                          </a:rPr>
                          <m:t>𝑖</m:t>
                        </m:r>
                        <m:r>
                          <a:rPr lang="it-IT" sz="3300" b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Playfair Display Bold"/>
                            <a:cs typeface="Playfair Display Bold"/>
                          </a:rPr>
                          <m:t>=1</m:t>
                        </m:r>
                      </m:sub>
                      <m:sup>
                        <m:r>
                          <a:rPr lang="it-IT" sz="3300" b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Playfair Display Bold"/>
                            <a:cs typeface="Playfair Display Bold"/>
                          </a:rPr>
                          <m:t>𝑁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it-IT" sz="33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  <a:ea typeface="Playfair Display Bold"/>
                                <a:cs typeface="Playfair Display Bold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it-IT" sz="3300" b="1" i="1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  <a:ea typeface="Playfair Display Bold"/>
                                    <a:cs typeface="Playfair Display Bold"/>
                                  </a:rPr>
                                </m:ctrlPr>
                              </m:sSubPr>
                              <m:e>
                                <m:r>
                                  <a:rPr lang="it-IT" sz="3300" b="1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  <a:ea typeface="Playfair Display Bold"/>
                                    <a:cs typeface="Playfair Display Bold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it-IT" sz="3300" b="1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  <a:ea typeface="Playfair Display Bold"/>
                                    <a:cs typeface="Playfair Display Bold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it-IT" sz="3300" b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  <a:ea typeface="Playfair Display Bold"/>
                                <a:cs typeface="Playfair Display Bold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it-IT" sz="3300" b="1" i="1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  <a:ea typeface="Playfair Display Bold"/>
                                    <a:cs typeface="Playfair Display Bold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it-IT" sz="3300" b="1" i="1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  <a:ea typeface="Playfair Display Bold"/>
                                        <a:cs typeface="Playfair Display Bold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3300" b="1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  <a:ea typeface="Playfair Display Bold"/>
                                        <a:cs typeface="Playfair Display Bold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it-IT" sz="3300" b="1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  <a:ea typeface="Playfair Display Bold"/>
                                        <a:cs typeface="Playfair Display Bold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acc>
                          </m:e>
                        </m:d>
                      </m:e>
                    </m:nary>
                  </m:oMath>
                </a14:m>
                <a:endParaRPr lang="it-IT" sz="3300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</a:endParaRPr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3EE20399-9A92-7124-60C1-9FEBDF14A6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6200" y="5966316"/>
                <a:ext cx="4152932" cy="731098"/>
              </a:xfrm>
              <a:prstGeom prst="rect">
                <a:avLst/>
              </a:prstGeom>
              <a:blipFill>
                <a:blip r:embed="rId5"/>
                <a:stretch>
                  <a:fillRect l="-6167" t="-6667" b="-15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8103B678-32AD-5431-F4D7-4307985B36EA}"/>
                  </a:ext>
                </a:extLst>
              </p:cNvPr>
              <p:cNvSpPr txBox="1"/>
              <p:nvPr/>
            </p:nvSpPr>
            <p:spPr>
              <a:xfrm>
                <a:off x="7762116" y="7199055"/>
                <a:ext cx="4087016" cy="808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it-IT" sz="3300" b="1">
                    <a:solidFill>
                      <a:srgbClr val="FFFFFF"/>
                    </a:solidFill>
                    <a:latin typeface="Playfair Display Bold"/>
                    <a:ea typeface="Playfair Display Bold"/>
                    <a:cs typeface="Playfair Display Bold"/>
                  </a:rPr>
                  <a:t>MAPE </a:t>
                </a:r>
                <a14:m>
                  <m:oMath xmlns:m="http://schemas.openxmlformats.org/officeDocument/2006/math">
                    <m:r>
                      <a:rPr lang="it-IT" sz="3300" b="1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Playfair Display Bold"/>
                        <a:cs typeface="Playfair Display Bold"/>
                      </a:rPr>
                      <m:t>= </m:t>
                    </m:r>
                    <m:f>
                      <m:fPr>
                        <m:ctrlPr>
                          <a:rPr lang="it-IT" sz="3300" b="1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Playfair Display Bold"/>
                            <a:cs typeface="Playfair Display Bold"/>
                          </a:rPr>
                        </m:ctrlPr>
                      </m:fPr>
                      <m:num>
                        <m:r>
                          <a:rPr lang="it-IT" sz="3300" b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Playfair Display Bold"/>
                            <a:cs typeface="Playfair Display Bold"/>
                          </a:rPr>
                          <m:t>1</m:t>
                        </m:r>
                      </m:num>
                      <m:den>
                        <m:r>
                          <a:rPr lang="it-IT" sz="3300" b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Playfair Display Bold"/>
                            <a:cs typeface="Playfair Display Bold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it-IT" sz="3300" b="1" i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Playfair Display Bold"/>
                            <a:cs typeface="Playfair Display Bold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it-IT" sz="3300" b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Playfair Display Bold"/>
                            <a:cs typeface="Playfair Display Bold"/>
                          </a:rPr>
                          <m:t>𝑖</m:t>
                        </m:r>
                        <m:r>
                          <a:rPr lang="it-IT" sz="3300" b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Playfair Display Bold"/>
                            <a:cs typeface="Playfair Display Bold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it-IT" sz="3300" b="1" i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Playfair Display Bold"/>
                            <a:cs typeface="Playfair Display Bold"/>
                          </a:rPr>
                          <m:t>𝟏</m:t>
                        </m:r>
                      </m:sub>
                      <m:sup>
                        <m:r>
                          <a:rPr lang="it-IT" sz="3300" b="1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Playfair Display Bold"/>
                            <a:cs typeface="Playfair Display Bold"/>
                          </a:rPr>
                          <m:t>𝑁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it-IT" sz="3300" b="1" i="1">
                                <a:solidFill>
                                  <a:srgbClr val="FFFFFF"/>
                                </a:solidFill>
                                <a:latin typeface="Cambria Math" panose="02040503050406030204" pitchFamily="18" charset="0"/>
                                <a:ea typeface="Playfair Display Bold"/>
                                <a:cs typeface="Playfair Display Bold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it-IT" sz="3300" b="1" i="1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  <a:ea typeface="Playfair Display Bold"/>
                                    <a:cs typeface="Playfair Display Bold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it-IT" sz="3300" b="1" i="1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  <a:ea typeface="Playfair Display Bold"/>
                                        <a:cs typeface="Playfair Display Bold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3300" b="1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  <a:ea typeface="Playfair Display Bold"/>
                                        <a:cs typeface="Playfair Display Bold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it-IT" sz="3300" b="1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  <a:ea typeface="Playfair Display Bold"/>
                                        <a:cs typeface="Playfair Display Bold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it-IT" sz="3300" b="1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  <a:ea typeface="Playfair Display Bold"/>
                                    <a:cs typeface="Playfair Display Bold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it-IT" sz="3300" b="1" i="1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  <a:ea typeface="Playfair Display Bold"/>
                                        <a:cs typeface="Playfair Display Bold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it-IT" sz="3300" b="1" i="1">
                                            <a:solidFill>
                                              <a:srgbClr val="FFFFFF"/>
                                            </a:solidFill>
                                            <a:latin typeface="Cambria Math" panose="02040503050406030204" pitchFamily="18" charset="0"/>
                                            <a:ea typeface="Playfair Display Bold"/>
                                            <a:cs typeface="Playfair Display Bold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sz="3300" b="1">
                                            <a:solidFill>
                                              <a:srgbClr val="FFFFFF"/>
                                            </a:solidFill>
                                            <a:latin typeface="Cambria Math" panose="02040503050406030204" pitchFamily="18" charset="0"/>
                                            <a:ea typeface="Playfair Display Bold"/>
                                            <a:cs typeface="Playfair Display Bold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it-IT" sz="3300" b="1">
                                            <a:solidFill>
                                              <a:srgbClr val="FFFFFF"/>
                                            </a:solidFill>
                                            <a:latin typeface="Cambria Math" panose="02040503050406030204" pitchFamily="18" charset="0"/>
                                            <a:ea typeface="Playfair Display Bold"/>
                                            <a:cs typeface="Playfair Display Bold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acc>
                              </m:num>
                              <m:den>
                                <m:sSub>
                                  <m:sSubPr>
                                    <m:ctrlPr>
                                      <a:rPr lang="it-IT" sz="3300" b="1" i="1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  <a:ea typeface="Playfair Display Bold"/>
                                        <a:cs typeface="Playfair Display Bold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3300" b="1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  <a:ea typeface="Playfair Display Bold"/>
                                        <a:cs typeface="Playfair Display Bold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it-IT" sz="3300" b="1">
                                        <a:solidFill>
                                          <a:srgbClr val="FFFFFF"/>
                                        </a:solidFill>
                                        <a:latin typeface="Cambria Math" panose="02040503050406030204" pitchFamily="18" charset="0"/>
                                        <a:ea typeface="Playfair Display Bold"/>
                                        <a:cs typeface="Playfair Display Bold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nary>
                  </m:oMath>
                </a14:m>
                <a:endParaRPr lang="it-IT" sz="3300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</a:endParaRPr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8103B678-32AD-5431-F4D7-4307985B3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2116" y="7199055"/>
                <a:ext cx="4087016" cy="808555"/>
              </a:xfrm>
              <a:prstGeom prst="rect">
                <a:avLst/>
              </a:prstGeom>
              <a:blipFill>
                <a:blip r:embed="rId6"/>
                <a:stretch>
                  <a:fillRect l="-6259" t="-1504" b="-82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sellaDiTesto 18">
                <a:extLst>
                  <a:ext uri="{FF2B5EF4-FFF2-40B4-BE49-F238E27FC236}">
                    <a16:creationId xmlns:a16="http://schemas.microsoft.com/office/drawing/2014/main" id="{D4404725-204F-CDE0-18E6-179A17B5505F}"/>
                  </a:ext>
                </a:extLst>
              </p:cNvPr>
              <p:cNvSpPr txBox="1"/>
              <p:nvPr/>
            </p:nvSpPr>
            <p:spPr>
              <a:xfrm>
                <a:off x="454872" y="9676728"/>
                <a:ext cx="587660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it-IT" sz="2000" b="1">
                    <a:solidFill>
                      <a:srgbClr val="FFFFFF"/>
                    </a:solidFill>
                    <a:latin typeface="Playfair Display Bold"/>
                    <a:ea typeface="Playfair Display Bold"/>
                    <a:cs typeface="Playfair Display Bold"/>
                  </a:rPr>
                  <a:t>N </a:t>
                </a:r>
                <a14:m>
                  <m:oMath xmlns:m="http://schemas.openxmlformats.org/officeDocument/2006/math">
                    <m:r>
                      <a:rPr lang="it-IT" sz="2000" b="1">
                        <a:solidFill>
                          <a:srgbClr val="FFFFFF"/>
                        </a:solidFill>
                        <a:latin typeface="Cambria Math" panose="02040503050406030204" pitchFamily="18" charset="0"/>
                        <a:ea typeface="Playfair Display Bold"/>
                        <a:cs typeface="Playfair Display Bold"/>
                      </a:rPr>
                      <m:t>=</m:t>
                    </m:r>
                  </m:oMath>
                </a14:m>
                <a:r>
                  <a:rPr lang="it-IT" sz="2000" b="1">
                    <a:solidFill>
                      <a:srgbClr val="FFFFFF"/>
                    </a:solidFill>
                    <a:latin typeface="Playfair Display Bold"/>
                    <a:ea typeface="Playfair Display Bold"/>
                    <a:cs typeface="Playfair Display Bold"/>
                  </a:rPr>
                  <a:t> </a:t>
                </a:r>
                <a:r>
                  <a:rPr lang="en-GB" sz="2000" b="1">
                    <a:solidFill>
                      <a:srgbClr val="FFFFFF"/>
                    </a:solidFill>
                    <a:latin typeface="Playfair Display Bold"/>
                    <a:ea typeface="Playfair Display Bold"/>
                    <a:cs typeface="Playfair Display Bold"/>
                  </a:rPr>
                  <a:t>Total number of samples observed in the Test</a:t>
                </a:r>
                <a:endParaRPr lang="it-IT" sz="2000" b="1">
                  <a:solidFill>
                    <a:srgbClr val="FFFFFF"/>
                  </a:solidFill>
                  <a:latin typeface="Playfair Display Bold"/>
                  <a:ea typeface="Playfair Display Bold"/>
                  <a:cs typeface="Playfair Display Bold"/>
                </a:endParaRPr>
              </a:p>
            </p:txBody>
          </p:sp>
        </mc:Choice>
        <mc:Fallback xmlns="">
          <p:sp>
            <p:nvSpPr>
              <p:cNvPr id="19" name="CasellaDiTesto 18">
                <a:extLst>
                  <a:ext uri="{FF2B5EF4-FFF2-40B4-BE49-F238E27FC236}">
                    <a16:creationId xmlns:a16="http://schemas.microsoft.com/office/drawing/2014/main" id="{D4404725-204F-CDE0-18E6-179A17B55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872" y="9676728"/>
                <a:ext cx="5876609" cy="307777"/>
              </a:xfrm>
              <a:prstGeom prst="rect">
                <a:avLst/>
              </a:prstGeom>
              <a:blipFill>
                <a:blip r:embed="rId7"/>
                <a:stretch>
                  <a:fillRect l="-2282" t="-23529" r="-2075" b="-50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asellaDiTesto 21">
                <a:extLst>
                  <a:ext uri="{FF2B5EF4-FFF2-40B4-BE49-F238E27FC236}">
                    <a16:creationId xmlns:a16="http://schemas.microsoft.com/office/drawing/2014/main" id="{15196C80-F9CE-5139-567A-D82FF7C493C5}"/>
                  </a:ext>
                </a:extLst>
              </p:cNvPr>
              <p:cNvSpPr txBox="1"/>
              <p:nvPr/>
            </p:nvSpPr>
            <p:spPr>
              <a:xfrm>
                <a:off x="6914419" y="9669108"/>
                <a:ext cx="486774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  <m:sub>
                          <m:r>
                            <a:rPr lang="it-IT" sz="2000" b="1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𝐢</m:t>
                          </m:r>
                        </m:sub>
                      </m:sSub>
                      <m:r>
                        <a:rPr lang="it-IT" sz="20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20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𝐏𝐫𝐞𝐝𝐢𝐜𝐭𝐞𝐝</m:t>
                      </m:r>
                      <m:r>
                        <a:rPr lang="it-IT" sz="20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20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𝐅𝐮𝐞𝐥</m:t>
                      </m:r>
                      <m:r>
                        <a:rPr lang="it-IT" sz="20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20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𝐂𝐨𝐧𝐬𝐮𝐦𝐩𝐭𝐢𝐨𝐧</m:t>
                      </m:r>
                      <m:r>
                        <a:rPr lang="it-IT" sz="20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20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𝐯𝐚𝐥𝐮𝐫𝐞</m:t>
                      </m:r>
                    </m:oMath>
                  </m:oMathPara>
                </a14:m>
                <a:endParaRPr lang="it-IT" sz="2000" b="1">
                  <a:solidFill>
                    <a:schemeClr val="bg1"/>
                  </a:solidFill>
                  <a:latin typeface="Playfair Display Bold" panose="00000800000000000000" charset="0"/>
                </a:endParaRPr>
              </a:p>
            </p:txBody>
          </p:sp>
        </mc:Choice>
        <mc:Fallback xmlns="">
          <p:sp>
            <p:nvSpPr>
              <p:cNvPr id="22" name="CasellaDiTesto 21">
                <a:extLst>
                  <a:ext uri="{FF2B5EF4-FFF2-40B4-BE49-F238E27FC236}">
                    <a16:creationId xmlns:a16="http://schemas.microsoft.com/office/drawing/2014/main" id="{15196C80-F9CE-5139-567A-D82FF7C493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4419" y="9669108"/>
                <a:ext cx="4867743" cy="307777"/>
              </a:xfrm>
              <a:prstGeom prst="rect">
                <a:avLst/>
              </a:prstGeom>
              <a:blipFill>
                <a:blip r:embed="rId8"/>
                <a:stretch>
                  <a:fillRect l="-751" r="-1001" b="-37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asellaDiTesto 22">
                <a:extLst>
                  <a:ext uri="{FF2B5EF4-FFF2-40B4-BE49-F238E27FC236}">
                    <a16:creationId xmlns:a16="http://schemas.microsoft.com/office/drawing/2014/main" id="{06F60E88-CE41-40D5-29DF-AC8BCBF8AC58}"/>
                  </a:ext>
                </a:extLst>
              </p:cNvPr>
              <p:cNvSpPr txBox="1"/>
              <p:nvPr/>
            </p:nvSpPr>
            <p:spPr>
              <a:xfrm>
                <a:off x="12587401" y="9669108"/>
                <a:ext cx="436100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it-IT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it-IT" sz="20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0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it-IT" sz="20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acc>
                      <m:r>
                        <a:rPr lang="it-IT" sz="20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20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𝐑𝐞𝐚𝐥</m:t>
                      </m:r>
                      <m:r>
                        <a:rPr lang="it-IT" sz="20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20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𝐅𝐮𝐞𝐥</m:t>
                      </m:r>
                      <m:r>
                        <a:rPr lang="it-IT" sz="20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20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𝐂𝐨𝐧𝐬𝐮𝐦𝐩𝐭𝐢𝐨𝐧</m:t>
                      </m:r>
                      <m:r>
                        <a:rPr lang="it-IT" sz="20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20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𝐯𝐚𝐥𝐮𝐫𝐞</m:t>
                      </m:r>
                    </m:oMath>
                  </m:oMathPara>
                </a14:m>
                <a:endParaRPr lang="it-IT" sz="2000" b="1">
                  <a:solidFill>
                    <a:schemeClr val="bg1"/>
                  </a:solidFill>
                  <a:latin typeface="Playfair Display Bold" panose="00000800000000000000" charset="0"/>
                </a:endParaRPr>
              </a:p>
            </p:txBody>
          </p:sp>
        </mc:Choice>
        <mc:Fallback xmlns="">
          <p:sp>
            <p:nvSpPr>
              <p:cNvPr id="23" name="CasellaDiTesto 22">
                <a:extLst>
                  <a:ext uri="{FF2B5EF4-FFF2-40B4-BE49-F238E27FC236}">
                    <a16:creationId xmlns:a16="http://schemas.microsoft.com/office/drawing/2014/main" id="{06F60E88-CE41-40D5-29DF-AC8BCBF8AC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7401" y="9669108"/>
                <a:ext cx="4361001" cy="307777"/>
              </a:xfrm>
              <a:prstGeom prst="rect">
                <a:avLst/>
              </a:prstGeom>
              <a:blipFill>
                <a:blip r:embed="rId9"/>
                <a:stretch>
                  <a:fillRect t="-19608" b="-37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9" grpId="0"/>
      <p:bldP spid="22" grpId="0"/>
      <p:bldP spid="2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172845">
            <a:off x="6368285" y="-727739"/>
            <a:ext cx="14678668" cy="7392711"/>
          </a:xfrm>
          <a:custGeom>
            <a:avLst/>
            <a:gdLst/>
            <a:ahLst/>
            <a:cxnLst/>
            <a:rect l="l" t="t" r="r" b="b"/>
            <a:pathLst>
              <a:path w="14678668" h="7392711">
                <a:moveTo>
                  <a:pt x="0" y="0"/>
                </a:moveTo>
                <a:lnTo>
                  <a:pt x="14678668" y="0"/>
                </a:lnTo>
                <a:lnTo>
                  <a:pt x="14678668" y="7392711"/>
                </a:lnTo>
                <a:lnTo>
                  <a:pt x="0" y="73927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 rot="2172845">
            <a:off x="-3843661" y="7384212"/>
            <a:ext cx="14678668" cy="7392711"/>
          </a:xfrm>
          <a:custGeom>
            <a:avLst/>
            <a:gdLst/>
            <a:ahLst/>
            <a:cxnLst/>
            <a:rect l="l" t="t" r="r" b="b"/>
            <a:pathLst>
              <a:path w="14678668" h="7392711">
                <a:moveTo>
                  <a:pt x="0" y="0"/>
                </a:moveTo>
                <a:lnTo>
                  <a:pt x="14678668" y="0"/>
                </a:lnTo>
                <a:lnTo>
                  <a:pt x="14678668" y="7392711"/>
                </a:lnTo>
                <a:lnTo>
                  <a:pt x="0" y="73927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4" name="Group 4"/>
          <p:cNvGrpSpPr/>
          <p:nvPr/>
        </p:nvGrpSpPr>
        <p:grpSpPr>
          <a:xfrm>
            <a:off x="3808780" y="1201176"/>
            <a:ext cx="10318903" cy="1344385"/>
            <a:chOff x="0" y="0"/>
            <a:chExt cx="4695375" cy="138310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695375" cy="1383107"/>
            </a:xfrm>
            <a:custGeom>
              <a:avLst/>
              <a:gdLst/>
              <a:ahLst/>
              <a:cxnLst/>
              <a:rect l="l" t="t" r="r" b="b"/>
              <a:pathLst>
                <a:path w="4695375" h="1383107">
                  <a:moveTo>
                    <a:pt x="4492175" y="0"/>
                  </a:moveTo>
                  <a:cubicBezTo>
                    <a:pt x="4604399" y="0"/>
                    <a:pt x="4695375" y="309619"/>
                    <a:pt x="4695375" y="691553"/>
                  </a:cubicBezTo>
                  <a:cubicBezTo>
                    <a:pt x="4695375" y="1073488"/>
                    <a:pt x="4604399" y="1383107"/>
                    <a:pt x="4492175" y="1383107"/>
                  </a:cubicBezTo>
                  <a:lnTo>
                    <a:pt x="203200" y="1383107"/>
                  </a:lnTo>
                  <a:cubicBezTo>
                    <a:pt x="90976" y="1383107"/>
                    <a:pt x="0" y="1073488"/>
                    <a:pt x="0" y="691553"/>
                  </a:cubicBezTo>
                  <a:cubicBezTo>
                    <a:pt x="0" y="309619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695375" cy="14212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3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418380" y="1300156"/>
            <a:ext cx="9365579" cy="11280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3300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Benchmark Analysis: Regression Least Squares - Partial Least Squares (LS-PLS)</a:t>
            </a:r>
          </a:p>
        </p:txBody>
      </p:sp>
      <p:sp>
        <p:nvSpPr>
          <p:cNvPr id="8" name="Freeform 8"/>
          <p:cNvSpPr/>
          <p:nvPr/>
        </p:nvSpPr>
        <p:spPr>
          <a:xfrm>
            <a:off x="175914" y="169716"/>
            <a:ext cx="2626631" cy="850372"/>
          </a:xfrm>
          <a:custGeom>
            <a:avLst/>
            <a:gdLst/>
            <a:ahLst/>
            <a:cxnLst/>
            <a:rect l="l" t="t" r="r" b="b"/>
            <a:pathLst>
              <a:path w="2626631" h="850372">
                <a:moveTo>
                  <a:pt x="0" y="0"/>
                </a:moveTo>
                <a:lnTo>
                  <a:pt x="2626631" y="0"/>
                </a:lnTo>
                <a:lnTo>
                  <a:pt x="2626631" y="850372"/>
                </a:lnTo>
                <a:lnTo>
                  <a:pt x="0" y="8503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9" name="TextBox 9"/>
          <p:cNvSpPr txBox="1"/>
          <p:nvPr/>
        </p:nvSpPr>
        <p:spPr>
          <a:xfrm>
            <a:off x="16312489" y="150666"/>
            <a:ext cx="1732152" cy="62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15"/>
              </a:lnSpc>
            </a:pPr>
            <a:r>
              <a:rPr lang="en-US" sz="1225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CANDIDATA </a:t>
            </a:r>
          </a:p>
          <a:p>
            <a:pPr algn="ctr">
              <a:lnSpc>
                <a:spcPts val="1715"/>
              </a:lnSpc>
            </a:pPr>
            <a:r>
              <a:rPr lang="en-US" sz="12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Vincenza Siani</a:t>
            </a:r>
          </a:p>
          <a:p>
            <a:pPr algn="ctr">
              <a:lnSpc>
                <a:spcPts val="1715"/>
              </a:lnSpc>
            </a:pPr>
            <a:r>
              <a:rPr lang="en-US" sz="12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M62003043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393177" y="279635"/>
            <a:ext cx="11357700" cy="58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4000" b="1">
                <a:solidFill>
                  <a:srgbClr val="36E9FD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METHODOLOGY (3/4)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2"/>
              <p:cNvSpPr txBox="1"/>
              <p:nvPr/>
            </p:nvSpPr>
            <p:spPr>
              <a:xfrm>
                <a:off x="541667" y="4985777"/>
                <a:ext cx="17116863" cy="1717906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lvl="0" algn="ctr">
                  <a:lnSpc>
                    <a:spcPts val="4621"/>
                  </a:lnSpc>
                  <a:spcBef>
                    <a:spcPct val="0"/>
                  </a:spcBef>
                </a:pPr>
                <a:r>
                  <a:rPr lang="en-GB" sz="3300">
                    <a:solidFill>
                      <a:srgbClr val="FFFFFF"/>
                    </a:solidFill>
                    <a:latin typeface="Playfair Display"/>
                    <a:ea typeface="Playfair Display"/>
                    <a:cs typeface="Playfair Display"/>
                    <a:sym typeface="Playfair Display"/>
                  </a:rPr>
                  <a:t>The model calculates the consumption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sz="330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sym typeface="Playfair Display"/>
                          </a:rPr>
                        </m:ctrlPr>
                      </m:accPr>
                      <m:e>
                        <m:r>
                          <a:rPr lang="it-IT" sz="3300" b="0" i="1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sym typeface="Playfair Display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GB" sz="3300">
                    <a:solidFill>
                      <a:srgbClr val="FFFFFF"/>
                    </a:solidFill>
                    <a:latin typeface="Playfair Display"/>
                    <a:ea typeface="Playfair Display"/>
                    <a:cs typeface="Playfair Display"/>
                    <a:sym typeface="Playfair Display"/>
                  </a:rPr>
                  <a:t> by separating the strong kinematic predictor x (the velocity) from the environmental matrix Z, which is orthogonalized to manage the collinearity</a:t>
                </a:r>
                <a:endParaRPr lang="en-US" sz="3300" u="none" strike="noStrike">
                  <a:solidFill>
                    <a:srgbClr val="FFFFFF"/>
                  </a:solidFill>
                  <a:latin typeface="Playfair Display"/>
                  <a:ea typeface="Playfair Display"/>
                  <a:cs typeface="Playfair Display"/>
                  <a:sym typeface="Playfair Display"/>
                </a:endParaRPr>
              </a:p>
            </p:txBody>
          </p:sp>
        </mc:Choice>
        <mc:Fallback xmlns="">
          <p:sp>
            <p:nvSpPr>
              <p:cNvPr id="12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667" y="4985777"/>
                <a:ext cx="17116863" cy="1717906"/>
              </a:xfrm>
              <a:prstGeom prst="rect">
                <a:avLst/>
              </a:prstGeom>
              <a:blipFill>
                <a:blip r:embed="rId4"/>
                <a:stretch>
                  <a:fillRect t="-6028" r="-178" b="-13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4">
            <a:extLst>
              <a:ext uri="{FF2B5EF4-FFF2-40B4-BE49-F238E27FC236}">
                <a16:creationId xmlns:a16="http://schemas.microsoft.com/office/drawing/2014/main" id="{5F3031B3-37E9-FBD4-AC7F-F209704F4ADB}"/>
              </a:ext>
            </a:extLst>
          </p:cNvPr>
          <p:cNvGrpSpPr/>
          <p:nvPr/>
        </p:nvGrpSpPr>
        <p:grpSpPr>
          <a:xfrm>
            <a:off x="-3733800" y="1580004"/>
            <a:ext cx="3191475" cy="3191475"/>
            <a:chOff x="0" y="0"/>
            <a:chExt cx="4255300" cy="4255300"/>
          </a:xfrm>
        </p:grpSpPr>
        <p:grpSp>
          <p:nvGrpSpPr>
            <p:cNvPr id="14" name="Group 5">
              <a:extLst>
                <a:ext uri="{FF2B5EF4-FFF2-40B4-BE49-F238E27FC236}">
                  <a16:creationId xmlns:a16="http://schemas.microsoft.com/office/drawing/2014/main" id="{BB4CD3B4-AF39-DC5C-119A-E309637151DB}"/>
                </a:ext>
              </a:extLst>
            </p:cNvPr>
            <p:cNvGrpSpPr/>
            <p:nvPr/>
          </p:nvGrpSpPr>
          <p:grpSpPr>
            <a:xfrm>
              <a:off x="0" y="0"/>
              <a:ext cx="4255300" cy="4255300"/>
              <a:chOff x="0" y="0"/>
              <a:chExt cx="812800" cy="812800"/>
            </a:xfrm>
          </p:grpSpPr>
          <p:sp>
            <p:nvSpPr>
              <p:cNvPr id="16" name="Freeform 6">
                <a:extLst>
                  <a:ext uri="{FF2B5EF4-FFF2-40B4-BE49-F238E27FC236}">
                    <a16:creationId xmlns:a16="http://schemas.microsoft.com/office/drawing/2014/main" id="{69472D69-E8FA-0943-446D-8455BB5D4589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84A9FF">
                      <a:alpha val="100000"/>
                    </a:srgbClr>
                  </a:gs>
                  <a:gs pos="100000">
                    <a:srgbClr val="F5F8FF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17" name="TextBox 7">
                <a:extLst>
                  <a:ext uri="{FF2B5EF4-FFF2-40B4-BE49-F238E27FC236}">
                    <a16:creationId xmlns:a16="http://schemas.microsoft.com/office/drawing/2014/main" id="{553CF99D-6A7B-F37F-6FB5-B8E5AC776745}"/>
                  </a:ext>
                </a:extLst>
              </p:cNvPr>
              <p:cNvSpPr txBox="1"/>
              <p:nvPr/>
            </p:nvSpPr>
            <p:spPr>
              <a:xfrm>
                <a:off x="76200" y="0"/>
                <a:ext cx="660400" cy="736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503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11E18794-22BE-3EBE-91D9-FA2CF86966A6}"/>
                </a:ext>
              </a:extLst>
            </p:cNvPr>
            <p:cNvSpPr/>
            <p:nvPr/>
          </p:nvSpPr>
          <p:spPr>
            <a:xfrm>
              <a:off x="419479" y="1017603"/>
              <a:ext cx="3419434" cy="2556027"/>
            </a:xfrm>
            <a:custGeom>
              <a:avLst/>
              <a:gdLst/>
              <a:ahLst/>
              <a:cxnLst/>
              <a:rect l="l" t="t" r="r" b="b"/>
              <a:pathLst>
                <a:path w="3419434" h="2556027">
                  <a:moveTo>
                    <a:pt x="0" y="0"/>
                  </a:moveTo>
                  <a:lnTo>
                    <a:pt x="3419434" y="0"/>
                  </a:lnTo>
                  <a:lnTo>
                    <a:pt x="3419434" y="2556027"/>
                  </a:lnTo>
                  <a:lnTo>
                    <a:pt x="0" y="2556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sellaDiTesto 18">
                <a:extLst>
                  <a:ext uri="{FF2B5EF4-FFF2-40B4-BE49-F238E27FC236}">
                    <a16:creationId xmlns:a16="http://schemas.microsoft.com/office/drawing/2014/main" id="{CB54ECE7-032E-47B1-8A5B-1D15091CCF96}"/>
                  </a:ext>
                </a:extLst>
              </p:cNvPr>
              <p:cNvSpPr txBox="1"/>
              <p:nvPr/>
            </p:nvSpPr>
            <p:spPr>
              <a:xfrm>
                <a:off x="7537456" y="7521846"/>
                <a:ext cx="2842060" cy="5357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33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Playfair Display"/>
                              <a:cs typeface="Playfair Display"/>
                            </a:rPr>
                          </m:ctrlPr>
                        </m:sSubPr>
                        <m:e>
                          <m:r>
                            <a:rPr lang="it-IT" sz="33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Playfair Display"/>
                              <a:cs typeface="Playfair Display"/>
                            </a:rPr>
                            <m:t>𝑍</m:t>
                          </m:r>
                        </m:e>
                        <m:sub>
                          <m:r>
                            <a:rPr lang="it-IT" sz="33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Playfair Display"/>
                              <a:cs typeface="Playfair Display"/>
                            </a:rPr>
                            <m:t>𝑜𝑟𝑡h</m:t>
                          </m:r>
                        </m:sub>
                      </m:sSub>
                      <m:r>
                        <a:rPr lang="it-IT" sz="33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Playfair Display"/>
                          <a:cs typeface="Playfair Display"/>
                        </a:rPr>
                        <m:t>=</m:t>
                      </m:r>
                      <m:r>
                        <a:rPr lang="it-IT" sz="33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Playfair Display"/>
                          <a:cs typeface="Playfair Display"/>
                        </a:rPr>
                        <m:t>𝑍</m:t>
                      </m:r>
                      <m:r>
                        <a:rPr lang="it-IT" sz="33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Playfair Display"/>
                          <a:cs typeface="Playfair Display"/>
                        </a:rPr>
                        <m:t> −</m:t>
                      </m:r>
                      <m:r>
                        <a:rPr lang="it-IT" sz="330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Playfair Display"/>
                          <a:cs typeface="Playfair Display"/>
                        </a:rPr>
                        <m:t>𝑥</m:t>
                      </m:r>
                      <m:acc>
                        <m:accPr>
                          <m:chr m:val="̂"/>
                          <m:ctrlPr>
                            <a:rPr lang="it-IT" sz="33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Playfair Display"/>
                              <a:cs typeface="Playfair Display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l-GR" sz="33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Playfair Display"/>
                              <a:cs typeface="Playfair Display"/>
                            </a:rPr>
                            <m:t>δ</m:t>
                          </m:r>
                        </m:e>
                      </m:acc>
                    </m:oMath>
                  </m:oMathPara>
                </a14:m>
                <a:endParaRPr lang="it-IT" sz="3300">
                  <a:solidFill>
                    <a:srgbClr val="FFFFFF"/>
                  </a:solidFill>
                  <a:latin typeface="Playfair Display"/>
                  <a:ea typeface="Playfair Display"/>
                  <a:cs typeface="Playfair Display"/>
                </a:endParaRPr>
              </a:p>
            </p:txBody>
          </p:sp>
        </mc:Choice>
        <mc:Fallback xmlns="">
          <p:sp>
            <p:nvSpPr>
              <p:cNvPr id="19" name="CasellaDiTesto 18">
                <a:extLst>
                  <a:ext uri="{FF2B5EF4-FFF2-40B4-BE49-F238E27FC236}">
                    <a16:creationId xmlns:a16="http://schemas.microsoft.com/office/drawing/2014/main" id="{CB54ECE7-032E-47B1-8A5B-1D15091CCF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7456" y="7521846"/>
                <a:ext cx="2842060" cy="53578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1F552FBE-8060-7D0F-8C6B-9C38E59493C0}"/>
              </a:ext>
            </a:extLst>
          </p:cNvPr>
          <p:cNvSpPr txBox="1"/>
          <p:nvPr/>
        </p:nvSpPr>
        <p:spPr>
          <a:xfrm>
            <a:off x="8147538" y="6564923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it-IT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9B2C7EB-9C5A-00AA-1A38-01AF0CECC49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24550" y="3365727"/>
            <a:ext cx="6286500" cy="140017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  <p:bldP spid="1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172845">
            <a:off x="6368285" y="-727739"/>
            <a:ext cx="14678668" cy="7392711"/>
          </a:xfrm>
          <a:custGeom>
            <a:avLst/>
            <a:gdLst/>
            <a:ahLst/>
            <a:cxnLst/>
            <a:rect l="l" t="t" r="r" b="b"/>
            <a:pathLst>
              <a:path w="14678668" h="7392711">
                <a:moveTo>
                  <a:pt x="0" y="0"/>
                </a:moveTo>
                <a:lnTo>
                  <a:pt x="14678668" y="0"/>
                </a:lnTo>
                <a:lnTo>
                  <a:pt x="14678668" y="7392711"/>
                </a:lnTo>
                <a:lnTo>
                  <a:pt x="0" y="73927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 rot="2172845">
            <a:off x="-3843661" y="7384212"/>
            <a:ext cx="14678668" cy="7392711"/>
          </a:xfrm>
          <a:custGeom>
            <a:avLst/>
            <a:gdLst/>
            <a:ahLst/>
            <a:cxnLst/>
            <a:rect l="l" t="t" r="r" b="b"/>
            <a:pathLst>
              <a:path w="14678668" h="7392711">
                <a:moveTo>
                  <a:pt x="0" y="0"/>
                </a:moveTo>
                <a:lnTo>
                  <a:pt x="14678668" y="0"/>
                </a:lnTo>
                <a:lnTo>
                  <a:pt x="14678668" y="7392711"/>
                </a:lnTo>
                <a:lnTo>
                  <a:pt x="0" y="73927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4" name="Group 4"/>
          <p:cNvGrpSpPr/>
          <p:nvPr/>
        </p:nvGrpSpPr>
        <p:grpSpPr>
          <a:xfrm>
            <a:off x="1028700" y="1317384"/>
            <a:ext cx="3191475" cy="3191475"/>
            <a:chOff x="0" y="0"/>
            <a:chExt cx="4255300" cy="4255300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4255300" cy="4255300"/>
              <a:chOff x="0" y="0"/>
              <a:chExt cx="812800" cy="8128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84A9FF">
                      <a:alpha val="100000"/>
                    </a:srgbClr>
                  </a:gs>
                  <a:gs pos="100000">
                    <a:srgbClr val="F5F8FF">
                      <a:alpha val="100000"/>
                    </a:srgbClr>
                  </a:gs>
                </a:gsLst>
                <a:lin ang="5400000"/>
              </a:gradFill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76200" y="0"/>
                <a:ext cx="660400" cy="736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503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8" name="Freeform 8"/>
            <p:cNvSpPr/>
            <p:nvPr/>
          </p:nvSpPr>
          <p:spPr>
            <a:xfrm>
              <a:off x="419479" y="1017603"/>
              <a:ext cx="3419434" cy="2556027"/>
            </a:xfrm>
            <a:custGeom>
              <a:avLst/>
              <a:gdLst/>
              <a:ahLst/>
              <a:cxnLst/>
              <a:rect l="l" t="t" r="r" b="b"/>
              <a:pathLst>
                <a:path w="3419434" h="2556027">
                  <a:moveTo>
                    <a:pt x="0" y="0"/>
                  </a:moveTo>
                  <a:lnTo>
                    <a:pt x="3419434" y="0"/>
                  </a:lnTo>
                  <a:lnTo>
                    <a:pt x="3419434" y="2556027"/>
                  </a:lnTo>
                  <a:lnTo>
                    <a:pt x="0" y="2556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9" name="Freeform 9"/>
          <p:cNvSpPr/>
          <p:nvPr/>
        </p:nvSpPr>
        <p:spPr>
          <a:xfrm>
            <a:off x="175914" y="169716"/>
            <a:ext cx="2626631" cy="850372"/>
          </a:xfrm>
          <a:custGeom>
            <a:avLst/>
            <a:gdLst/>
            <a:ahLst/>
            <a:cxnLst/>
            <a:rect l="l" t="t" r="r" b="b"/>
            <a:pathLst>
              <a:path w="2626631" h="850372">
                <a:moveTo>
                  <a:pt x="0" y="0"/>
                </a:moveTo>
                <a:lnTo>
                  <a:pt x="2626631" y="0"/>
                </a:lnTo>
                <a:lnTo>
                  <a:pt x="2626631" y="850372"/>
                </a:lnTo>
                <a:lnTo>
                  <a:pt x="0" y="8503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1" name="TextBox 11"/>
          <p:cNvSpPr txBox="1"/>
          <p:nvPr/>
        </p:nvSpPr>
        <p:spPr>
          <a:xfrm>
            <a:off x="16312489" y="150666"/>
            <a:ext cx="1732152" cy="62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15"/>
              </a:lnSpc>
            </a:pPr>
            <a:r>
              <a:rPr lang="en-US" sz="1225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CANDIDATA </a:t>
            </a:r>
          </a:p>
          <a:p>
            <a:pPr algn="ctr">
              <a:lnSpc>
                <a:spcPts val="1715"/>
              </a:lnSpc>
            </a:pPr>
            <a:r>
              <a:rPr lang="en-US" sz="12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Vincenza Siani</a:t>
            </a:r>
          </a:p>
          <a:p>
            <a:pPr algn="ctr">
              <a:lnSpc>
                <a:spcPts val="1715"/>
              </a:lnSpc>
            </a:pPr>
            <a:r>
              <a:rPr lang="en-US" sz="12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M62003043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393177" y="279635"/>
            <a:ext cx="11357700" cy="589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4000" b="1">
                <a:solidFill>
                  <a:srgbClr val="36E9FD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METHODOLOGY (4/4)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86562" y="1330737"/>
            <a:ext cx="12152905" cy="2307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3300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The dataset was generated in accordance with </a:t>
            </a:r>
          </a:p>
          <a:p>
            <a:pPr marL="457200" indent="-457200" algn="ctr">
              <a:lnSpc>
                <a:spcPts val="4621"/>
              </a:lnSpc>
              <a:buFontTx/>
              <a:buChar char="-"/>
            </a:pPr>
            <a:r>
              <a:rPr lang="en-US" sz="3300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the </a:t>
            </a:r>
            <a:r>
              <a:rPr lang="en-US" sz="3300" b="1">
                <a:solidFill>
                  <a:srgbClr val="36E9FD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principles of physics</a:t>
            </a:r>
            <a:r>
              <a:rPr lang="en-US" sz="3300" b="1">
                <a:solidFill>
                  <a:schemeClr val="bg1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;</a:t>
            </a:r>
            <a:r>
              <a:rPr lang="en-US" sz="3300" b="1">
                <a:solidFill>
                  <a:srgbClr val="36E9FD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 </a:t>
            </a:r>
          </a:p>
          <a:p>
            <a:pPr marL="457200" indent="-457200" algn="ctr">
              <a:lnSpc>
                <a:spcPts val="4621"/>
              </a:lnSpc>
              <a:buFontTx/>
              <a:buChar char="-"/>
            </a:pPr>
            <a:r>
              <a:rPr lang="en-US" sz="3300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the principles of </a:t>
            </a:r>
            <a:r>
              <a:rPr lang="en-US" sz="3300" b="1">
                <a:solidFill>
                  <a:srgbClr val="36E9FD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cause and effect</a:t>
            </a:r>
            <a:r>
              <a:rPr lang="en-US" sz="3300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. </a:t>
            </a:r>
          </a:p>
          <a:p>
            <a:pPr algn="ctr">
              <a:lnSpc>
                <a:spcPts val="4621"/>
              </a:lnSpc>
            </a:pPr>
            <a:endParaRPr lang="en-US" sz="3300" b="1">
              <a:solidFill>
                <a:srgbClr val="FFFFFF"/>
              </a:solidFill>
              <a:latin typeface="Playfair Display Bold"/>
              <a:ea typeface="Playfair Display Bold"/>
              <a:cs typeface="Playfair Display Bold"/>
              <a:sym typeface="Playfair Display Bold"/>
            </a:endParaRPr>
          </a:p>
        </p:txBody>
      </p:sp>
      <p:grpSp>
        <p:nvGrpSpPr>
          <p:cNvPr id="34" name="Group 34"/>
          <p:cNvGrpSpPr/>
          <p:nvPr/>
        </p:nvGrpSpPr>
        <p:grpSpPr>
          <a:xfrm>
            <a:off x="3732601" y="8603398"/>
            <a:ext cx="2762096" cy="976298"/>
            <a:chOff x="0" y="0"/>
            <a:chExt cx="625467" cy="22107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25467" cy="221079"/>
            </a:xfrm>
            <a:custGeom>
              <a:avLst/>
              <a:gdLst/>
              <a:ahLst/>
              <a:cxnLst/>
              <a:rect l="l" t="t" r="r" b="b"/>
              <a:pathLst>
                <a:path w="625467" h="221079">
                  <a:moveTo>
                    <a:pt x="28467" y="0"/>
                  </a:moveTo>
                  <a:lnTo>
                    <a:pt x="597000" y="0"/>
                  </a:lnTo>
                  <a:cubicBezTo>
                    <a:pt x="604550" y="0"/>
                    <a:pt x="611790" y="2999"/>
                    <a:pt x="617129" y="8338"/>
                  </a:cubicBezTo>
                  <a:cubicBezTo>
                    <a:pt x="622468" y="13676"/>
                    <a:pt x="625467" y="20917"/>
                    <a:pt x="625467" y="28467"/>
                  </a:cubicBezTo>
                  <a:lnTo>
                    <a:pt x="625467" y="192612"/>
                  </a:lnTo>
                  <a:cubicBezTo>
                    <a:pt x="625467" y="200162"/>
                    <a:pt x="622468" y="207403"/>
                    <a:pt x="617129" y="212741"/>
                  </a:cubicBezTo>
                  <a:cubicBezTo>
                    <a:pt x="611790" y="218080"/>
                    <a:pt x="604550" y="221079"/>
                    <a:pt x="597000" y="221079"/>
                  </a:cubicBezTo>
                  <a:lnTo>
                    <a:pt x="28467" y="221079"/>
                  </a:lnTo>
                  <a:cubicBezTo>
                    <a:pt x="20917" y="221079"/>
                    <a:pt x="13676" y="218080"/>
                    <a:pt x="8338" y="212741"/>
                  </a:cubicBezTo>
                  <a:cubicBezTo>
                    <a:pt x="2999" y="207403"/>
                    <a:pt x="0" y="200162"/>
                    <a:pt x="0" y="192612"/>
                  </a:cubicBezTo>
                  <a:lnTo>
                    <a:pt x="0" y="28467"/>
                  </a:lnTo>
                  <a:cubicBezTo>
                    <a:pt x="0" y="20917"/>
                    <a:pt x="2999" y="13676"/>
                    <a:pt x="8338" y="8338"/>
                  </a:cubicBezTo>
                  <a:cubicBezTo>
                    <a:pt x="13676" y="2999"/>
                    <a:pt x="20917" y="0"/>
                    <a:pt x="2846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23C6">
                    <a:alpha val="39500"/>
                  </a:srgbClr>
                </a:gs>
                <a:gs pos="25000">
                  <a:srgbClr val="0023C6">
                    <a:alpha val="40000"/>
                  </a:srgbClr>
                </a:gs>
                <a:gs pos="50000">
                  <a:srgbClr val="0023C6">
                    <a:alpha val="40000"/>
                  </a:srgbClr>
                </a:gs>
                <a:gs pos="75000">
                  <a:srgbClr val="0023C6">
                    <a:alpha val="40000"/>
                  </a:srgbClr>
                </a:gs>
                <a:gs pos="100000">
                  <a:srgbClr val="0023C6">
                    <a:alpha val="40000"/>
                  </a:srgbClr>
                </a:gs>
              </a:gsLst>
              <a:path path="circle">
                <a:fillToRect l="50000" t="50000" r="50000" b="50000"/>
              </a:path>
            </a:gradFill>
          </p:spPr>
          <p:txBody>
            <a:bodyPr/>
            <a:lstStyle/>
            <a:p>
              <a:endParaRPr lang="it-IT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28575"/>
              <a:ext cx="625467" cy="2496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981536" y="8603398"/>
            <a:ext cx="2762096" cy="976298"/>
            <a:chOff x="0" y="0"/>
            <a:chExt cx="625467" cy="22107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625467" cy="221079"/>
            </a:xfrm>
            <a:custGeom>
              <a:avLst/>
              <a:gdLst/>
              <a:ahLst/>
              <a:cxnLst/>
              <a:rect l="l" t="t" r="r" b="b"/>
              <a:pathLst>
                <a:path w="625467" h="221079">
                  <a:moveTo>
                    <a:pt x="28467" y="0"/>
                  </a:moveTo>
                  <a:lnTo>
                    <a:pt x="597000" y="0"/>
                  </a:lnTo>
                  <a:cubicBezTo>
                    <a:pt x="604550" y="0"/>
                    <a:pt x="611790" y="2999"/>
                    <a:pt x="617129" y="8338"/>
                  </a:cubicBezTo>
                  <a:cubicBezTo>
                    <a:pt x="622468" y="13676"/>
                    <a:pt x="625467" y="20917"/>
                    <a:pt x="625467" y="28467"/>
                  </a:cubicBezTo>
                  <a:lnTo>
                    <a:pt x="625467" y="192612"/>
                  </a:lnTo>
                  <a:cubicBezTo>
                    <a:pt x="625467" y="200162"/>
                    <a:pt x="622468" y="207403"/>
                    <a:pt x="617129" y="212741"/>
                  </a:cubicBezTo>
                  <a:cubicBezTo>
                    <a:pt x="611790" y="218080"/>
                    <a:pt x="604550" y="221079"/>
                    <a:pt x="597000" y="221079"/>
                  </a:cubicBezTo>
                  <a:lnTo>
                    <a:pt x="28467" y="221079"/>
                  </a:lnTo>
                  <a:cubicBezTo>
                    <a:pt x="20917" y="221079"/>
                    <a:pt x="13676" y="218080"/>
                    <a:pt x="8338" y="212741"/>
                  </a:cubicBezTo>
                  <a:cubicBezTo>
                    <a:pt x="2999" y="207403"/>
                    <a:pt x="0" y="200162"/>
                    <a:pt x="0" y="192612"/>
                  </a:cubicBezTo>
                  <a:lnTo>
                    <a:pt x="0" y="28467"/>
                  </a:lnTo>
                  <a:cubicBezTo>
                    <a:pt x="0" y="20917"/>
                    <a:pt x="2999" y="13676"/>
                    <a:pt x="8338" y="8338"/>
                  </a:cubicBezTo>
                  <a:cubicBezTo>
                    <a:pt x="13676" y="2999"/>
                    <a:pt x="20917" y="0"/>
                    <a:pt x="2846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23C6">
                    <a:alpha val="39500"/>
                  </a:srgbClr>
                </a:gs>
                <a:gs pos="25000">
                  <a:srgbClr val="0023C6">
                    <a:alpha val="40000"/>
                  </a:srgbClr>
                </a:gs>
                <a:gs pos="50000">
                  <a:srgbClr val="0023C6">
                    <a:alpha val="40000"/>
                  </a:srgbClr>
                </a:gs>
                <a:gs pos="75000">
                  <a:srgbClr val="0023C6">
                    <a:alpha val="40000"/>
                  </a:srgbClr>
                </a:gs>
                <a:gs pos="100000">
                  <a:srgbClr val="0023C6">
                    <a:alpha val="40000"/>
                  </a:srgbClr>
                </a:gs>
              </a:gsLst>
              <a:path path="circle">
                <a:fillToRect l="50000" t="50000" r="50000" b="50000"/>
              </a:path>
            </a:gradFill>
          </p:spPr>
          <p:txBody>
            <a:bodyPr/>
            <a:lstStyle/>
            <a:p>
              <a:endParaRPr lang="it-IT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28575"/>
              <a:ext cx="625467" cy="2496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0230471" y="8603398"/>
            <a:ext cx="3319251" cy="976298"/>
            <a:chOff x="0" y="0"/>
            <a:chExt cx="751632" cy="22107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751632" cy="221079"/>
            </a:xfrm>
            <a:custGeom>
              <a:avLst/>
              <a:gdLst/>
              <a:ahLst/>
              <a:cxnLst/>
              <a:rect l="l" t="t" r="r" b="b"/>
              <a:pathLst>
                <a:path w="751632" h="221079">
                  <a:moveTo>
                    <a:pt x="23689" y="0"/>
                  </a:moveTo>
                  <a:lnTo>
                    <a:pt x="727944" y="0"/>
                  </a:lnTo>
                  <a:cubicBezTo>
                    <a:pt x="741027" y="0"/>
                    <a:pt x="751632" y="10606"/>
                    <a:pt x="751632" y="23689"/>
                  </a:cubicBezTo>
                  <a:lnTo>
                    <a:pt x="751632" y="197390"/>
                  </a:lnTo>
                  <a:cubicBezTo>
                    <a:pt x="751632" y="210473"/>
                    <a:pt x="741027" y="221079"/>
                    <a:pt x="727944" y="221079"/>
                  </a:cubicBezTo>
                  <a:lnTo>
                    <a:pt x="23689" y="221079"/>
                  </a:lnTo>
                  <a:cubicBezTo>
                    <a:pt x="10606" y="221079"/>
                    <a:pt x="0" y="210473"/>
                    <a:pt x="0" y="197390"/>
                  </a:cubicBezTo>
                  <a:lnTo>
                    <a:pt x="0" y="23689"/>
                  </a:lnTo>
                  <a:cubicBezTo>
                    <a:pt x="0" y="10606"/>
                    <a:pt x="10606" y="0"/>
                    <a:pt x="2368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23C6">
                    <a:alpha val="39500"/>
                  </a:srgbClr>
                </a:gs>
                <a:gs pos="25000">
                  <a:srgbClr val="0023C6">
                    <a:alpha val="40000"/>
                  </a:srgbClr>
                </a:gs>
                <a:gs pos="50000">
                  <a:srgbClr val="0023C6">
                    <a:alpha val="40000"/>
                  </a:srgbClr>
                </a:gs>
                <a:gs pos="75000">
                  <a:srgbClr val="0023C6">
                    <a:alpha val="40000"/>
                  </a:srgbClr>
                </a:gs>
                <a:gs pos="100000">
                  <a:srgbClr val="0023C6">
                    <a:alpha val="40000"/>
                  </a:srgbClr>
                </a:gs>
              </a:gsLst>
              <a:path path="circle">
                <a:fillToRect l="50000" t="50000" r="50000" b="50000"/>
              </a:path>
            </a:gradFill>
          </p:spPr>
          <p:txBody>
            <a:bodyPr/>
            <a:lstStyle/>
            <a:p>
              <a:endParaRPr lang="it-IT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28575"/>
              <a:ext cx="751632" cy="2496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147153" y="6965451"/>
            <a:ext cx="1436761" cy="1436761"/>
            <a:chOff x="0" y="0"/>
            <a:chExt cx="812800" cy="8128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395268" y="6965451"/>
            <a:ext cx="1436761" cy="1436761"/>
            <a:chOff x="0" y="0"/>
            <a:chExt cx="812800" cy="8128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644204" y="6965451"/>
            <a:ext cx="1436761" cy="1436761"/>
            <a:chOff x="0" y="0"/>
            <a:chExt cx="812800" cy="8128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0893139" y="6965451"/>
            <a:ext cx="1436761" cy="1436761"/>
            <a:chOff x="0" y="0"/>
            <a:chExt cx="812800" cy="8128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57" name="Freeform 57"/>
          <p:cNvSpPr/>
          <p:nvPr/>
        </p:nvSpPr>
        <p:spPr>
          <a:xfrm>
            <a:off x="4711914" y="7246395"/>
            <a:ext cx="803470" cy="924495"/>
          </a:xfrm>
          <a:custGeom>
            <a:avLst/>
            <a:gdLst/>
            <a:ahLst/>
            <a:cxnLst/>
            <a:rect l="l" t="t" r="r" b="b"/>
            <a:pathLst>
              <a:path w="803470" h="924495">
                <a:moveTo>
                  <a:pt x="0" y="0"/>
                </a:moveTo>
                <a:lnTo>
                  <a:pt x="803470" y="0"/>
                </a:lnTo>
                <a:lnTo>
                  <a:pt x="803470" y="924496"/>
                </a:lnTo>
                <a:lnTo>
                  <a:pt x="0" y="9244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8" name="Freeform 58"/>
          <p:cNvSpPr/>
          <p:nvPr/>
        </p:nvSpPr>
        <p:spPr>
          <a:xfrm>
            <a:off x="1491905" y="7284869"/>
            <a:ext cx="747256" cy="747256"/>
          </a:xfrm>
          <a:custGeom>
            <a:avLst/>
            <a:gdLst/>
            <a:ahLst/>
            <a:cxnLst/>
            <a:rect l="l" t="t" r="r" b="b"/>
            <a:pathLst>
              <a:path w="747256" h="747256">
                <a:moveTo>
                  <a:pt x="0" y="0"/>
                </a:moveTo>
                <a:lnTo>
                  <a:pt x="747256" y="0"/>
                </a:lnTo>
                <a:lnTo>
                  <a:pt x="747256" y="747256"/>
                </a:lnTo>
                <a:lnTo>
                  <a:pt x="0" y="747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9" name="Freeform 59"/>
          <p:cNvSpPr/>
          <p:nvPr/>
        </p:nvSpPr>
        <p:spPr>
          <a:xfrm>
            <a:off x="7855203" y="7399379"/>
            <a:ext cx="912237" cy="568904"/>
          </a:xfrm>
          <a:custGeom>
            <a:avLst/>
            <a:gdLst/>
            <a:ahLst/>
            <a:cxnLst/>
            <a:rect l="l" t="t" r="r" b="b"/>
            <a:pathLst>
              <a:path w="912237" h="568904">
                <a:moveTo>
                  <a:pt x="0" y="0"/>
                </a:moveTo>
                <a:lnTo>
                  <a:pt x="912237" y="0"/>
                </a:lnTo>
                <a:lnTo>
                  <a:pt x="912237" y="568904"/>
                </a:lnTo>
                <a:lnTo>
                  <a:pt x="0" y="5689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67" name="Group 67"/>
          <p:cNvGrpSpPr/>
          <p:nvPr/>
        </p:nvGrpSpPr>
        <p:grpSpPr>
          <a:xfrm>
            <a:off x="13920183" y="8603398"/>
            <a:ext cx="3319251" cy="976298"/>
            <a:chOff x="0" y="0"/>
            <a:chExt cx="751632" cy="221079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751632" cy="221079"/>
            </a:xfrm>
            <a:custGeom>
              <a:avLst/>
              <a:gdLst/>
              <a:ahLst/>
              <a:cxnLst/>
              <a:rect l="l" t="t" r="r" b="b"/>
              <a:pathLst>
                <a:path w="751632" h="221079">
                  <a:moveTo>
                    <a:pt x="23689" y="0"/>
                  </a:moveTo>
                  <a:lnTo>
                    <a:pt x="727944" y="0"/>
                  </a:lnTo>
                  <a:cubicBezTo>
                    <a:pt x="741027" y="0"/>
                    <a:pt x="751632" y="10606"/>
                    <a:pt x="751632" y="23689"/>
                  </a:cubicBezTo>
                  <a:lnTo>
                    <a:pt x="751632" y="197390"/>
                  </a:lnTo>
                  <a:cubicBezTo>
                    <a:pt x="751632" y="210473"/>
                    <a:pt x="741027" y="221079"/>
                    <a:pt x="727944" y="221079"/>
                  </a:cubicBezTo>
                  <a:lnTo>
                    <a:pt x="23689" y="221079"/>
                  </a:lnTo>
                  <a:cubicBezTo>
                    <a:pt x="10606" y="221079"/>
                    <a:pt x="0" y="210473"/>
                    <a:pt x="0" y="197390"/>
                  </a:cubicBezTo>
                  <a:lnTo>
                    <a:pt x="0" y="23689"/>
                  </a:lnTo>
                  <a:cubicBezTo>
                    <a:pt x="0" y="10606"/>
                    <a:pt x="10606" y="0"/>
                    <a:pt x="2368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23C6">
                    <a:alpha val="39500"/>
                  </a:srgbClr>
                </a:gs>
                <a:gs pos="25000">
                  <a:srgbClr val="0023C6">
                    <a:alpha val="40000"/>
                  </a:srgbClr>
                </a:gs>
                <a:gs pos="50000">
                  <a:srgbClr val="0023C6">
                    <a:alpha val="40000"/>
                  </a:srgbClr>
                </a:gs>
                <a:gs pos="75000">
                  <a:srgbClr val="0023C6">
                    <a:alpha val="40000"/>
                  </a:srgbClr>
                </a:gs>
                <a:gs pos="100000">
                  <a:srgbClr val="0023C6">
                    <a:alpha val="40000"/>
                  </a:srgbClr>
                </a:gs>
              </a:gsLst>
              <a:path path="circle">
                <a:fillToRect l="50000" t="50000" r="50000" b="50000"/>
              </a:path>
            </a:gradFill>
          </p:spPr>
          <p:txBody>
            <a:bodyPr/>
            <a:lstStyle/>
            <a:p>
              <a:endParaRPr lang="it-IT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0" y="-28575"/>
              <a:ext cx="751632" cy="2496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4621650" y="6797770"/>
            <a:ext cx="1436761" cy="1436761"/>
            <a:chOff x="0" y="0"/>
            <a:chExt cx="812800" cy="81280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73" name="Freeform 73"/>
          <p:cNvSpPr/>
          <p:nvPr/>
        </p:nvSpPr>
        <p:spPr>
          <a:xfrm>
            <a:off x="15196514" y="7007278"/>
            <a:ext cx="406628" cy="1054932"/>
          </a:xfrm>
          <a:custGeom>
            <a:avLst/>
            <a:gdLst/>
            <a:ahLst/>
            <a:cxnLst/>
            <a:rect l="l" t="t" r="r" b="b"/>
            <a:pathLst>
              <a:path w="406628" h="1054932">
                <a:moveTo>
                  <a:pt x="0" y="0"/>
                </a:moveTo>
                <a:lnTo>
                  <a:pt x="406628" y="0"/>
                </a:lnTo>
                <a:lnTo>
                  <a:pt x="406628" y="1054932"/>
                </a:lnTo>
                <a:lnTo>
                  <a:pt x="0" y="10549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74" name="Freeform 74"/>
          <p:cNvSpPr/>
          <p:nvPr/>
        </p:nvSpPr>
        <p:spPr>
          <a:xfrm>
            <a:off x="11118903" y="7191215"/>
            <a:ext cx="985233" cy="985233"/>
          </a:xfrm>
          <a:custGeom>
            <a:avLst/>
            <a:gdLst/>
            <a:ahLst/>
            <a:cxnLst/>
            <a:rect l="l" t="t" r="r" b="b"/>
            <a:pathLst>
              <a:path w="985233" h="985233">
                <a:moveTo>
                  <a:pt x="0" y="0"/>
                </a:moveTo>
                <a:lnTo>
                  <a:pt x="985232" y="0"/>
                </a:lnTo>
                <a:lnTo>
                  <a:pt x="985232" y="985232"/>
                </a:lnTo>
                <a:lnTo>
                  <a:pt x="0" y="9852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80" name="TextBox 80"/>
          <p:cNvSpPr txBox="1"/>
          <p:nvPr/>
        </p:nvSpPr>
        <p:spPr>
          <a:xfrm>
            <a:off x="3944136" y="8937134"/>
            <a:ext cx="2324654" cy="361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2"/>
              </a:lnSpc>
            </a:pPr>
            <a:r>
              <a:rPr lang="en-US" sz="2725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DRAFT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7148994" y="8926086"/>
            <a:ext cx="2324654" cy="361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2"/>
              </a:lnSpc>
            </a:pPr>
            <a:r>
              <a:rPr lang="en-US" sz="2725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SPEED</a:t>
            </a:r>
          </a:p>
        </p:txBody>
      </p:sp>
      <p:grpSp>
        <p:nvGrpSpPr>
          <p:cNvPr id="88" name="Group 34">
            <a:extLst>
              <a:ext uri="{FF2B5EF4-FFF2-40B4-BE49-F238E27FC236}">
                <a16:creationId xmlns:a16="http://schemas.microsoft.com/office/drawing/2014/main" id="{8B7502B8-BD5A-8A64-EA4C-5E29EEF9AC7C}"/>
              </a:ext>
            </a:extLst>
          </p:cNvPr>
          <p:cNvGrpSpPr/>
          <p:nvPr/>
        </p:nvGrpSpPr>
        <p:grpSpPr>
          <a:xfrm>
            <a:off x="543531" y="8591523"/>
            <a:ext cx="2762096" cy="976298"/>
            <a:chOff x="0" y="0"/>
            <a:chExt cx="625467" cy="221079"/>
          </a:xfrm>
        </p:grpSpPr>
        <p:sp>
          <p:nvSpPr>
            <p:cNvPr id="89" name="Freeform 35">
              <a:extLst>
                <a:ext uri="{FF2B5EF4-FFF2-40B4-BE49-F238E27FC236}">
                  <a16:creationId xmlns:a16="http://schemas.microsoft.com/office/drawing/2014/main" id="{F1933981-F49F-F9EE-2BD0-935DE51F162E}"/>
                </a:ext>
              </a:extLst>
            </p:cNvPr>
            <p:cNvSpPr/>
            <p:nvPr/>
          </p:nvSpPr>
          <p:spPr>
            <a:xfrm>
              <a:off x="0" y="0"/>
              <a:ext cx="625467" cy="221079"/>
            </a:xfrm>
            <a:custGeom>
              <a:avLst/>
              <a:gdLst/>
              <a:ahLst/>
              <a:cxnLst/>
              <a:rect l="l" t="t" r="r" b="b"/>
              <a:pathLst>
                <a:path w="625467" h="221079">
                  <a:moveTo>
                    <a:pt x="28467" y="0"/>
                  </a:moveTo>
                  <a:lnTo>
                    <a:pt x="597000" y="0"/>
                  </a:lnTo>
                  <a:cubicBezTo>
                    <a:pt x="604550" y="0"/>
                    <a:pt x="611790" y="2999"/>
                    <a:pt x="617129" y="8338"/>
                  </a:cubicBezTo>
                  <a:cubicBezTo>
                    <a:pt x="622468" y="13676"/>
                    <a:pt x="625467" y="20917"/>
                    <a:pt x="625467" y="28467"/>
                  </a:cubicBezTo>
                  <a:lnTo>
                    <a:pt x="625467" y="192612"/>
                  </a:lnTo>
                  <a:cubicBezTo>
                    <a:pt x="625467" y="200162"/>
                    <a:pt x="622468" y="207403"/>
                    <a:pt x="617129" y="212741"/>
                  </a:cubicBezTo>
                  <a:cubicBezTo>
                    <a:pt x="611790" y="218080"/>
                    <a:pt x="604550" y="221079"/>
                    <a:pt x="597000" y="221079"/>
                  </a:cubicBezTo>
                  <a:lnTo>
                    <a:pt x="28467" y="221079"/>
                  </a:lnTo>
                  <a:cubicBezTo>
                    <a:pt x="20917" y="221079"/>
                    <a:pt x="13676" y="218080"/>
                    <a:pt x="8338" y="212741"/>
                  </a:cubicBezTo>
                  <a:cubicBezTo>
                    <a:pt x="2999" y="207403"/>
                    <a:pt x="0" y="200162"/>
                    <a:pt x="0" y="192612"/>
                  </a:cubicBezTo>
                  <a:lnTo>
                    <a:pt x="0" y="28467"/>
                  </a:lnTo>
                  <a:cubicBezTo>
                    <a:pt x="0" y="20917"/>
                    <a:pt x="2999" y="13676"/>
                    <a:pt x="8338" y="8338"/>
                  </a:cubicBezTo>
                  <a:cubicBezTo>
                    <a:pt x="13676" y="2999"/>
                    <a:pt x="20917" y="0"/>
                    <a:pt x="2846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23C6">
                    <a:alpha val="39500"/>
                  </a:srgbClr>
                </a:gs>
                <a:gs pos="25000">
                  <a:srgbClr val="0023C6">
                    <a:alpha val="40000"/>
                  </a:srgbClr>
                </a:gs>
                <a:gs pos="50000">
                  <a:srgbClr val="0023C6">
                    <a:alpha val="40000"/>
                  </a:srgbClr>
                </a:gs>
                <a:gs pos="75000">
                  <a:srgbClr val="0023C6">
                    <a:alpha val="40000"/>
                  </a:srgbClr>
                </a:gs>
                <a:gs pos="100000">
                  <a:srgbClr val="0023C6">
                    <a:alpha val="40000"/>
                  </a:srgbClr>
                </a:gs>
              </a:gsLst>
              <a:path path="circle">
                <a:fillToRect l="50000" t="50000" r="50000" b="50000"/>
              </a:path>
            </a:gradFill>
          </p:spPr>
          <p:txBody>
            <a:bodyPr/>
            <a:lstStyle/>
            <a:p>
              <a:endParaRPr lang="it-IT"/>
            </a:p>
          </p:txBody>
        </p:sp>
        <p:sp>
          <p:nvSpPr>
            <p:cNvPr id="90" name="TextBox 36">
              <a:extLst>
                <a:ext uri="{FF2B5EF4-FFF2-40B4-BE49-F238E27FC236}">
                  <a16:creationId xmlns:a16="http://schemas.microsoft.com/office/drawing/2014/main" id="{55D766F8-B4FE-AC1D-2EB8-935579328425}"/>
                </a:ext>
              </a:extLst>
            </p:cNvPr>
            <p:cNvSpPr txBox="1"/>
            <p:nvPr/>
          </p:nvSpPr>
          <p:spPr>
            <a:xfrm>
              <a:off x="0" y="-28575"/>
              <a:ext cx="625467" cy="2496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5" name="TextBox 85"/>
          <p:cNvSpPr txBox="1"/>
          <p:nvPr/>
        </p:nvSpPr>
        <p:spPr>
          <a:xfrm>
            <a:off x="10667320" y="8926086"/>
            <a:ext cx="2324654" cy="361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2"/>
              </a:lnSpc>
            </a:pPr>
            <a:r>
              <a:rPr lang="en-US" sz="2725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HEADING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4455629" y="8776999"/>
            <a:ext cx="2324654" cy="361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2"/>
              </a:lnSpc>
            </a:pPr>
            <a:r>
              <a:rPr lang="en-US" sz="2725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POWER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625113" y="8990167"/>
            <a:ext cx="2324654" cy="361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2"/>
              </a:lnSpc>
            </a:pPr>
            <a:r>
              <a:rPr lang="en-US" sz="2725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METEO</a:t>
            </a:r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364BBEC2-52C6-E6C6-39B7-58277ED79721}"/>
              </a:ext>
            </a:extLst>
          </p:cNvPr>
          <p:cNvSpPr txBox="1"/>
          <p:nvPr/>
        </p:nvSpPr>
        <p:spPr>
          <a:xfrm>
            <a:off x="3896106" y="3120787"/>
            <a:ext cx="12152905" cy="3487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GB" sz="3300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When planning future trips, you will know:
Port names
Duration
Miles
Average speed
Draft</a:t>
            </a:r>
            <a:endParaRPr lang="en-US" sz="3300" b="1">
              <a:solidFill>
                <a:srgbClr val="FFFFFF"/>
              </a:solidFill>
              <a:latin typeface="Playfair Display Bold"/>
              <a:ea typeface="Playfair Display Bold"/>
              <a:cs typeface="Playfair Display Bold"/>
              <a:sym typeface="Playfair Display Bold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172845">
            <a:off x="6368285" y="-727739"/>
            <a:ext cx="14678668" cy="7392711"/>
          </a:xfrm>
          <a:custGeom>
            <a:avLst/>
            <a:gdLst/>
            <a:ahLst/>
            <a:cxnLst/>
            <a:rect l="l" t="t" r="r" b="b"/>
            <a:pathLst>
              <a:path w="14678668" h="7392711">
                <a:moveTo>
                  <a:pt x="0" y="0"/>
                </a:moveTo>
                <a:lnTo>
                  <a:pt x="14678668" y="0"/>
                </a:lnTo>
                <a:lnTo>
                  <a:pt x="14678668" y="7392711"/>
                </a:lnTo>
                <a:lnTo>
                  <a:pt x="0" y="73927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 rot="2172845">
            <a:off x="-3843661" y="7384212"/>
            <a:ext cx="14678668" cy="7392711"/>
          </a:xfrm>
          <a:custGeom>
            <a:avLst/>
            <a:gdLst/>
            <a:ahLst/>
            <a:cxnLst/>
            <a:rect l="l" t="t" r="r" b="b"/>
            <a:pathLst>
              <a:path w="14678668" h="7392711">
                <a:moveTo>
                  <a:pt x="0" y="0"/>
                </a:moveTo>
                <a:lnTo>
                  <a:pt x="14678668" y="0"/>
                </a:lnTo>
                <a:lnTo>
                  <a:pt x="14678668" y="7392711"/>
                </a:lnTo>
                <a:lnTo>
                  <a:pt x="0" y="73927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-214153" y="4136882"/>
            <a:ext cx="6873591" cy="5709567"/>
          </a:xfrm>
          <a:custGeom>
            <a:avLst/>
            <a:gdLst/>
            <a:ahLst/>
            <a:cxnLst/>
            <a:rect l="l" t="t" r="r" b="b"/>
            <a:pathLst>
              <a:path w="6873591" h="5709567">
                <a:moveTo>
                  <a:pt x="0" y="0"/>
                </a:moveTo>
                <a:lnTo>
                  <a:pt x="6873591" y="0"/>
                </a:lnTo>
                <a:lnTo>
                  <a:pt x="6873591" y="5709568"/>
                </a:lnTo>
                <a:lnTo>
                  <a:pt x="0" y="57095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1000"/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175914" y="169716"/>
            <a:ext cx="2626631" cy="850372"/>
          </a:xfrm>
          <a:custGeom>
            <a:avLst/>
            <a:gdLst/>
            <a:ahLst/>
            <a:cxnLst/>
            <a:rect l="l" t="t" r="r" b="b"/>
            <a:pathLst>
              <a:path w="2626631" h="850372">
                <a:moveTo>
                  <a:pt x="0" y="0"/>
                </a:moveTo>
                <a:lnTo>
                  <a:pt x="2626631" y="0"/>
                </a:lnTo>
                <a:lnTo>
                  <a:pt x="2626631" y="850372"/>
                </a:lnTo>
                <a:lnTo>
                  <a:pt x="0" y="8503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6" name="Group 6"/>
          <p:cNvGrpSpPr/>
          <p:nvPr/>
        </p:nvGrpSpPr>
        <p:grpSpPr>
          <a:xfrm>
            <a:off x="4710706" y="5289679"/>
            <a:ext cx="9496996" cy="1559430"/>
            <a:chOff x="0" y="0"/>
            <a:chExt cx="2349480" cy="58718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49480" cy="587188"/>
            </a:xfrm>
            <a:custGeom>
              <a:avLst/>
              <a:gdLst/>
              <a:ahLst/>
              <a:cxnLst/>
              <a:rect l="l" t="t" r="r" b="b"/>
              <a:pathLst>
                <a:path w="2349480" h="587188">
                  <a:moveTo>
                    <a:pt x="2146280" y="0"/>
                  </a:moveTo>
                  <a:cubicBezTo>
                    <a:pt x="2258504" y="0"/>
                    <a:pt x="2349480" y="131446"/>
                    <a:pt x="2349480" y="293594"/>
                  </a:cubicBezTo>
                  <a:cubicBezTo>
                    <a:pt x="2349480" y="455741"/>
                    <a:pt x="2258504" y="587188"/>
                    <a:pt x="2146280" y="587188"/>
                  </a:cubicBezTo>
                  <a:lnTo>
                    <a:pt x="203200" y="587188"/>
                  </a:lnTo>
                  <a:cubicBezTo>
                    <a:pt x="90976" y="587188"/>
                    <a:pt x="0" y="455741"/>
                    <a:pt x="0" y="293594"/>
                  </a:cubicBezTo>
                  <a:cubicBezTo>
                    <a:pt x="0" y="13144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349480" cy="6252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3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5853717" y="1049957"/>
            <a:ext cx="6580565" cy="2880461"/>
          </a:xfrm>
          <a:custGeom>
            <a:avLst/>
            <a:gdLst/>
            <a:ahLst/>
            <a:cxnLst/>
            <a:rect l="l" t="t" r="r" b="b"/>
            <a:pathLst>
              <a:path w="6580565" h="2880461">
                <a:moveTo>
                  <a:pt x="0" y="0"/>
                </a:moveTo>
                <a:lnTo>
                  <a:pt x="6580566" y="0"/>
                </a:lnTo>
                <a:lnTo>
                  <a:pt x="6580566" y="2880462"/>
                </a:lnTo>
                <a:lnTo>
                  <a:pt x="0" y="28804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5957" t="-48005" r="-16953" b="-45095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0" name="TextBox 10"/>
          <p:cNvSpPr txBox="1"/>
          <p:nvPr/>
        </p:nvSpPr>
        <p:spPr>
          <a:xfrm>
            <a:off x="3465150" y="279635"/>
            <a:ext cx="11357700" cy="563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3300" b="1">
                <a:solidFill>
                  <a:srgbClr val="36E9FD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CASE STUDY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22951" y="4341927"/>
            <a:ext cx="15242095" cy="538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33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Shipping company’s portal for two RoPax vessels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312489" y="150666"/>
            <a:ext cx="1732152" cy="62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15"/>
              </a:lnSpc>
            </a:pPr>
            <a:r>
              <a:rPr lang="en-US" sz="1225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CANDIDATA </a:t>
            </a:r>
          </a:p>
          <a:p>
            <a:pPr algn="ctr">
              <a:lnSpc>
                <a:spcPts val="1715"/>
              </a:lnSpc>
            </a:pPr>
            <a:r>
              <a:rPr lang="en-US" sz="12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Vincenza Siani</a:t>
            </a:r>
          </a:p>
          <a:p>
            <a:pPr algn="ctr">
              <a:lnSpc>
                <a:spcPts val="1715"/>
              </a:lnSpc>
            </a:pPr>
            <a:r>
              <a:rPr lang="en-US" sz="12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M62003043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73302" y="5477508"/>
            <a:ext cx="7681942" cy="11280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33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selected data covers the period from 17 March 2024 to 12 December 2026</a:t>
            </a: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4B6D4797-6F1A-D9BE-64A8-F9A0AD65FE0F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1704" y="5731293"/>
            <a:ext cx="5715000" cy="57150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9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9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172845">
            <a:off x="6368285" y="-727739"/>
            <a:ext cx="14678668" cy="7392711"/>
          </a:xfrm>
          <a:custGeom>
            <a:avLst/>
            <a:gdLst/>
            <a:ahLst/>
            <a:cxnLst/>
            <a:rect l="l" t="t" r="r" b="b"/>
            <a:pathLst>
              <a:path w="14678668" h="7392711">
                <a:moveTo>
                  <a:pt x="0" y="0"/>
                </a:moveTo>
                <a:lnTo>
                  <a:pt x="14678668" y="0"/>
                </a:lnTo>
                <a:lnTo>
                  <a:pt x="14678668" y="7392711"/>
                </a:lnTo>
                <a:lnTo>
                  <a:pt x="0" y="73927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>
            <a:off x="175914" y="169716"/>
            <a:ext cx="2626631" cy="850372"/>
          </a:xfrm>
          <a:custGeom>
            <a:avLst/>
            <a:gdLst/>
            <a:ahLst/>
            <a:cxnLst/>
            <a:rect l="l" t="t" r="r" b="b"/>
            <a:pathLst>
              <a:path w="2626631" h="850372">
                <a:moveTo>
                  <a:pt x="0" y="0"/>
                </a:moveTo>
                <a:lnTo>
                  <a:pt x="2626631" y="0"/>
                </a:lnTo>
                <a:lnTo>
                  <a:pt x="2626631" y="850372"/>
                </a:lnTo>
                <a:lnTo>
                  <a:pt x="0" y="8503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TextBox 4"/>
          <p:cNvSpPr txBox="1"/>
          <p:nvPr/>
        </p:nvSpPr>
        <p:spPr>
          <a:xfrm>
            <a:off x="2257102" y="1242708"/>
            <a:ext cx="14004686" cy="1144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33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Historical Dataset contains data sampled at 15-minute intervals in the rows and featuring the selected variables in the columns;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465150" y="279635"/>
            <a:ext cx="11357700" cy="563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3300" b="1">
                <a:solidFill>
                  <a:srgbClr val="36E9FD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CASE STUDY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312489" y="150666"/>
            <a:ext cx="1732152" cy="62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15"/>
              </a:lnSpc>
            </a:pPr>
            <a:r>
              <a:rPr lang="en-US" sz="1225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CANDIDATA </a:t>
            </a:r>
          </a:p>
          <a:p>
            <a:pPr algn="ctr">
              <a:lnSpc>
                <a:spcPts val="1715"/>
              </a:lnSpc>
            </a:pPr>
            <a:r>
              <a:rPr lang="en-US" sz="12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Vincenza Siani</a:t>
            </a:r>
          </a:p>
          <a:p>
            <a:pPr algn="ctr">
              <a:lnSpc>
                <a:spcPts val="1715"/>
              </a:lnSpc>
            </a:pPr>
            <a:r>
              <a:rPr lang="en-US" sz="12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M62003043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465150" y="2901942"/>
            <a:ext cx="12565748" cy="563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33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historical dataset is divided into three sets: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563" y="2731944"/>
            <a:ext cx="5894982" cy="6993420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6032361" y="4372924"/>
            <a:ext cx="4986306" cy="1989940"/>
            <a:chOff x="0" y="0"/>
            <a:chExt cx="1313266" cy="52409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13266" cy="524099"/>
            </a:xfrm>
            <a:custGeom>
              <a:avLst/>
              <a:gdLst/>
              <a:ahLst/>
              <a:cxnLst/>
              <a:rect l="l" t="t" r="r" b="b"/>
              <a:pathLst>
                <a:path w="1313266" h="524099">
                  <a:moveTo>
                    <a:pt x="79184" y="0"/>
                  </a:moveTo>
                  <a:lnTo>
                    <a:pt x="1234081" y="0"/>
                  </a:lnTo>
                  <a:cubicBezTo>
                    <a:pt x="1255082" y="0"/>
                    <a:pt x="1275223" y="8343"/>
                    <a:pt x="1290073" y="23193"/>
                  </a:cubicBezTo>
                  <a:cubicBezTo>
                    <a:pt x="1304923" y="38043"/>
                    <a:pt x="1313266" y="58183"/>
                    <a:pt x="1313266" y="79184"/>
                  </a:cubicBezTo>
                  <a:lnTo>
                    <a:pt x="1313266" y="444915"/>
                  </a:lnTo>
                  <a:cubicBezTo>
                    <a:pt x="1313266" y="465916"/>
                    <a:pt x="1304923" y="486057"/>
                    <a:pt x="1290073" y="500907"/>
                  </a:cubicBezTo>
                  <a:cubicBezTo>
                    <a:pt x="1275223" y="515757"/>
                    <a:pt x="1255082" y="524099"/>
                    <a:pt x="1234081" y="524099"/>
                  </a:cubicBezTo>
                  <a:lnTo>
                    <a:pt x="79184" y="524099"/>
                  </a:lnTo>
                  <a:cubicBezTo>
                    <a:pt x="58183" y="524099"/>
                    <a:pt x="38043" y="515757"/>
                    <a:pt x="23193" y="500907"/>
                  </a:cubicBezTo>
                  <a:cubicBezTo>
                    <a:pt x="8343" y="486057"/>
                    <a:pt x="0" y="465916"/>
                    <a:pt x="0" y="444915"/>
                  </a:cubicBezTo>
                  <a:lnTo>
                    <a:pt x="0" y="79184"/>
                  </a:lnTo>
                  <a:cubicBezTo>
                    <a:pt x="0" y="58183"/>
                    <a:pt x="8343" y="38043"/>
                    <a:pt x="23193" y="23193"/>
                  </a:cubicBezTo>
                  <a:cubicBezTo>
                    <a:pt x="38043" y="8343"/>
                    <a:pt x="58183" y="0"/>
                    <a:pt x="79184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313266" cy="5526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471847" y="4046825"/>
            <a:ext cx="4208285" cy="625662"/>
            <a:chOff x="0" y="0"/>
            <a:chExt cx="2733502" cy="406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733502" cy="406400"/>
            </a:xfrm>
            <a:custGeom>
              <a:avLst/>
              <a:gdLst/>
              <a:ahLst/>
              <a:cxnLst/>
              <a:rect l="l" t="t" r="r" b="b"/>
              <a:pathLst>
                <a:path w="2733502" h="406400">
                  <a:moveTo>
                    <a:pt x="2530302" y="0"/>
                  </a:moveTo>
                  <a:cubicBezTo>
                    <a:pt x="2642526" y="0"/>
                    <a:pt x="2733502" y="90976"/>
                    <a:pt x="2733502" y="203200"/>
                  </a:cubicBezTo>
                  <a:cubicBezTo>
                    <a:pt x="2733502" y="315424"/>
                    <a:pt x="2642526" y="406400"/>
                    <a:pt x="253030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733502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3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6827340" y="4144958"/>
            <a:ext cx="7135149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TRAIN SET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457020" y="4917933"/>
            <a:ext cx="4222121" cy="1198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Data fed into the network to teach it the relationships between inputs and outputs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1711337" y="4139559"/>
            <a:ext cx="4986306" cy="1989940"/>
            <a:chOff x="0" y="0"/>
            <a:chExt cx="1313266" cy="52409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13266" cy="524099"/>
            </a:xfrm>
            <a:custGeom>
              <a:avLst/>
              <a:gdLst/>
              <a:ahLst/>
              <a:cxnLst/>
              <a:rect l="l" t="t" r="r" b="b"/>
              <a:pathLst>
                <a:path w="1313266" h="524099">
                  <a:moveTo>
                    <a:pt x="79184" y="0"/>
                  </a:moveTo>
                  <a:lnTo>
                    <a:pt x="1234081" y="0"/>
                  </a:lnTo>
                  <a:cubicBezTo>
                    <a:pt x="1255082" y="0"/>
                    <a:pt x="1275223" y="8343"/>
                    <a:pt x="1290073" y="23193"/>
                  </a:cubicBezTo>
                  <a:cubicBezTo>
                    <a:pt x="1304923" y="38043"/>
                    <a:pt x="1313266" y="58183"/>
                    <a:pt x="1313266" y="79184"/>
                  </a:cubicBezTo>
                  <a:lnTo>
                    <a:pt x="1313266" y="444915"/>
                  </a:lnTo>
                  <a:cubicBezTo>
                    <a:pt x="1313266" y="465916"/>
                    <a:pt x="1304923" y="486057"/>
                    <a:pt x="1290073" y="500907"/>
                  </a:cubicBezTo>
                  <a:cubicBezTo>
                    <a:pt x="1275223" y="515757"/>
                    <a:pt x="1255082" y="524099"/>
                    <a:pt x="1234081" y="524099"/>
                  </a:cubicBezTo>
                  <a:lnTo>
                    <a:pt x="79184" y="524099"/>
                  </a:lnTo>
                  <a:cubicBezTo>
                    <a:pt x="58183" y="524099"/>
                    <a:pt x="38043" y="515757"/>
                    <a:pt x="23193" y="500907"/>
                  </a:cubicBezTo>
                  <a:cubicBezTo>
                    <a:pt x="8343" y="486057"/>
                    <a:pt x="0" y="465916"/>
                    <a:pt x="0" y="444915"/>
                  </a:cubicBezTo>
                  <a:lnTo>
                    <a:pt x="0" y="79184"/>
                  </a:lnTo>
                  <a:cubicBezTo>
                    <a:pt x="0" y="58183"/>
                    <a:pt x="8343" y="38043"/>
                    <a:pt x="23193" y="23193"/>
                  </a:cubicBezTo>
                  <a:cubicBezTo>
                    <a:pt x="38043" y="8343"/>
                    <a:pt x="58183" y="0"/>
                    <a:pt x="79184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1313266" cy="5526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413466" y="3722454"/>
            <a:ext cx="4208285" cy="625662"/>
            <a:chOff x="0" y="0"/>
            <a:chExt cx="2733502" cy="4064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733502" cy="406400"/>
            </a:xfrm>
            <a:custGeom>
              <a:avLst/>
              <a:gdLst/>
              <a:ahLst/>
              <a:cxnLst/>
              <a:rect l="l" t="t" r="r" b="b"/>
              <a:pathLst>
                <a:path w="2733502" h="406400">
                  <a:moveTo>
                    <a:pt x="2530302" y="0"/>
                  </a:moveTo>
                  <a:cubicBezTo>
                    <a:pt x="2642526" y="0"/>
                    <a:pt x="2733502" y="90976"/>
                    <a:pt x="2733502" y="203200"/>
                  </a:cubicBezTo>
                  <a:cubicBezTo>
                    <a:pt x="2733502" y="315424"/>
                    <a:pt x="2642526" y="406400"/>
                    <a:pt x="253030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2733502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3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238297" y="7469284"/>
            <a:ext cx="4986306" cy="1989940"/>
            <a:chOff x="0" y="0"/>
            <a:chExt cx="1313266" cy="52409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313266" cy="524099"/>
            </a:xfrm>
            <a:custGeom>
              <a:avLst/>
              <a:gdLst/>
              <a:ahLst/>
              <a:cxnLst/>
              <a:rect l="l" t="t" r="r" b="b"/>
              <a:pathLst>
                <a:path w="1313266" h="524099">
                  <a:moveTo>
                    <a:pt x="79184" y="0"/>
                  </a:moveTo>
                  <a:lnTo>
                    <a:pt x="1234081" y="0"/>
                  </a:lnTo>
                  <a:cubicBezTo>
                    <a:pt x="1255082" y="0"/>
                    <a:pt x="1275223" y="8343"/>
                    <a:pt x="1290073" y="23193"/>
                  </a:cubicBezTo>
                  <a:cubicBezTo>
                    <a:pt x="1304923" y="38043"/>
                    <a:pt x="1313266" y="58183"/>
                    <a:pt x="1313266" y="79184"/>
                  </a:cubicBezTo>
                  <a:lnTo>
                    <a:pt x="1313266" y="444915"/>
                  </a:lnTo>
                  <a:cubicBezTo>
                    <a:pt x="1313266" y="465916"/>
                    <a:pt x="1304923" y="486057"/>
                    <a:pt x="1290073" y="500907"/>
                  </a:cubicBezTo>
                  <a:cubicBezTo>
                    <a:pt x="1275223" y="515757"/>
                    <a:pt x="1255082" y="524099"/>
                    <a:pt x="1234081" y="524099"/>
                  </a:cubicBezTo>
                  <a:lnTo>
                    <a:pt x="79184" y="524099"/>
                  </a:lnTo>
                  <a:cubicBezTo>
                    <a:pt x="58183" y="524099"/>
                    <a:pt x="38043" y="515757"/>
                    <a:pt x="23193" y="500907"/>
                  </a:cubicBezTo>
                  <a:cubicBezTo>
                    <a:pt x="8343" y="486057"/>
                    <a:pt x="0" y="465916"/>
                    <a:pt x="0" y="444915"/>
                  </a:cubicBezTo>
                  <a:lnTo>
                    <a:pt x="0" y="79184"/>
                  </a:lnTo>
                  <a:cubicBezTo>
                    <a:pt x="0" y="58183"/>
                    <a:pt x="8343" y="38043"/>
                    <a:pt x="23193" y="23193"/>
                  </a:cubicBezTo>
                  <a:cubicBezTo>
                    <a:pt x="38043" y="8343"/>
                    <a:pt x="58183" y="0"/>
                    <a:pt x="79184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1313266" cy="5526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155399" y="7235532"/>
            <a:ext cx="4208285" cy="625662"/>
            <a:chOff x="0" y="0"/>
            <a:chExt cx="2733502" cy="4064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733502" cy="406400"/>
            </a:xfrm>
            <a:custGeom>
              <a:avLst/>
              <a:gdLst/>
              <a:ahLst/>
              <a:cxnLst/>
              <a:rect l="l" t="t" r="r" b="b"/>
              <a:pathLst>
                <a:path w="2733502" h="406400">
                  <a:moveTo>
                    <a:pt x="2530302" y="0"/>
                  </a:moveTo>
                  <a:cubicBezTo>
                    <a:pt x="2642526" y="0"/>
                    <a:pt x="2733502" y="90976"/>
                    <a:pt x="2733502" y="203200"/>
                  </a:cubicBezTo>
                  <a:cubicBezTo>
                    <a:pt x="2733502" y="315424"/>
                    <a:pt x="2642526" y="406400"/>
                    <a:pt x="253030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2733502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3"/>
                </a:lnSpc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2768960" y="3820587"/>
            <a:ext cx="7135149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VALIDATION SET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887201" y="4533878"/>
            <a:ext cx="4481414" cy="11988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Train the network in parallel with the train set to guide early stopping and prevent overfitting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510892" y="7333666"/>
            <a:ext cx="7135149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TEST SET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885553" y="8093499"/>
            <a:ext cx="4222121" cy="798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It enabled the accuracy of the model to be assessed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5" grpId="0"/>
      <p:bldP spid="16" grpId="0"/>
      <p:bldP spid="32" grpId="0"/>
      <p:bldP spid="33" grpId="0"/>
      <p:bldP spid="34" grpId="0"/>
      <p:bldP spid="3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172845">
            <a:off x="6368285" y="-727739"/>
            <a:ext cx="14678668" cy="7392711"/>
          </a:xfrm>
          <a:custGeom>
            <a:avLst/>
            <a:gdLst/>
            <a:ahLst/>
            <a:cxnLst/>
            <a:rect l="l" t="t" r="r" b="b"/>
            <a:pathLst>
              <a:path w="14678668" h="7392711">
                <a:moveTo>
                  <a:pt x="0" y="0"/>
                </a:moveTo>
                <a:lnTo>
                  <a:pt x="14678668" y="0"/>
                </a:lnTo>
                <a:lnTo>
                  <a:pt x="14678668" y="7392711"/>
                </a:lnTo>
                <a:lnTo>
                  <a:pt x="0" y="73927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 rot="2172845">
            <a:off x="-3843661" y="7384212"/>
            <a:ext cx="14678668" cy="7392711"/>
          </a:xfrm>
          <a:custGeom>
            <a:avLst/>
            <a:gdLst/>
            <a:ahLst/>
            <a:cxnLst/>
            <a:rect l="l" t="t" r="r" b="b"/>
            <a:pathLst>
              <a:path w="14678668" h="7392711">
                <a:moveTo>
                  <a:pt x="0" y="0"/>
                </a:moveTo>
                <a:lnTo>
                  <a:pt x="14678668" y="0"/>
                </a:lnTo>
                <a:lnTo>
                  <a:pt x="14678668" y="7392711"/>
                </a:lnTo>
                <a:lnTo>
                  <a:pt x="0" y="73927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464579" y="3025482"/>
            <a:ext cx="10026969" cy="3024019"/>
          </a:xfrm>
          <a:custGeom>
            <a:avLst/>
            <a:gdLst/>
            <a:ahLst/>
            <a:cxnLst/>
            <a:rect l="l" t="t" r="r" b="b"/>
            <a:pathLst>
              <a:path w="10026969" h="3024019">
                <a:moveTo>
                  <a:pt x="0" y="0"/>
                </a:moveTo>
                <a:lnTo>
                  <a:pt x="10026968" y="0"/>
                </a:lnTo>
                <a:lnTo>
                  <a:pt x="10026968" y="3024020"/>
                </a:lnTo>
                <a:lnTo>
                  <a:pt x="0" y="30240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751" b="-114706"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6" name="Group 6"/>
          <p:cNvGrpSpPr/>
          <p:nvPr/>
        </p:nvGrpSpPr>
        <p:grpSpPr>
          <a:xfrm>
            <a:off x="-1249281" y="1521724"/>
            <a:ext cx="6548559" cy="1122379"/>
            <a:chOff x="0" y="0"/>
            <a:chExt cx="1563031" cy="267893"/>
          </a:xfrm>
        </p:grpSpPr>
        <p:sp>
          <p:nvSpPr>
            <p:cNvPr id="7" name="Freeform 7"/>
            <p:cNvSpPr/>
            <p:nvPr/>
          </p:nvSpPr>
          <p:spPr>
            <a:xfrm>
              <a:off x="9850" y="0"/>
              <a:ext cx="1543331" cy="267893"/>
            </a:xfrm>
            <a:custGeom>
              <a:avLst/>
              <a:gdLst/>
              <a:ahLst/>
              <a:cxnLst/>
              <a:rect l="l" t="t" r="r" b="b"/>
              <a:pathLst>
                <a:path w="1543331" h="267893">
                  <a:moveTo>
                    <a:pt x="238551" y="0"/>
                  </a:moveTo>
                  <a:lnTo>
                    <a:pt x="1534967" y="0"/>
                  </a:lnTo>
                  <a:cubicBezTo>
                    <a:pt x="1538235" y="0"/>
                    <a:pt x="1541204" y="1904"/>
                    <a:pt x="1542567" y="4874"/>
                  </a:cubicBezTo>
                  <a:cubicBezTo>
                    <a:pt x="1543931" y="7843"/>
                    <a:pt x="1543440" y="11336"/>
                    <a:pt x="1541310" y="13815"/>
                  </a:cubicBezTo>
                  <a:lnTo>
                    <a:pt x="1334863" y="254078"/>
                  </a:lnTo>
                  <a:cubicBezTo>
                    <a:pt x="1327328" y="262848"/>
                    <a:pt x="1316341" y="267893"/>
                    <a:pt x="1304779" y="267893"/>
                  </a:cubicBezTo>
                  <a:lnTo>
                    <a:pt x="8364" y="267893"/>
                  </a:lnTo>
                  <a:cubicBezTo>
                    <a:pt x="5096" y="267893"/>
                    <a:pt x="2127" y="265989"/>
                    <a:pt x="763" y="263019"/>
                  </a:cubicBezTo>
                  <a:cubicBezTo>
                    <a:pt x="-601" y="260049"/>
                    <a:pt x="-110" y="256557"/>
                    <a:pt x="2020" y="254078"/>
                  </a:cubicBezTo>
                  <a:lnTo>
                    <a:pt x="208467" y="13815"/>
                  </a:lnTo>
                  <a:cubicBezTo>
                    <a:pt x="216003" y="5045"/>
                    <a:pt x="226989" y="0"/>
                    <a:pt x="238551" y="0"/>
                  </a:cubicBezTo>
                  <a:close/>
                </a:path>
              </a:pathLst>
            </a:custGeom>
            <a:solidFill>
              <a:srgbClr val="4A7FF7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54000" y="-57150"/>
              <a:ext cx="1055031" cy="325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80"/>
                </a:lnSpc>
              </a:pPr>
              <a:r>
                <a:rPr lang="en-US" sz="3200">
                  <a:solidFill>
                    <a:srgbClr val="000000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VESSEL 1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275622" y="1477236"/>
            <a:ext cx="13012377" cy="17259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33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</a:t>
            </a:r>
            <a:r>
              <a:rPr lang="en-US" sz="3300" b="1">
                <a:solidFill>
                  <a:srgbClr val="36E9F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Heavy Fuel Oil (HFO) </a:t>
            </a:r>
            <a:r>
              <a:rPr lang="en-US" sz="33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consumption figures for main engine 1 and main engine 2 have been estimated for ships fitted with scrubbers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465150" y="279635"/>
            <a:ext cx="11357700" cy="563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3300" b="1">
                <a:solidFill>
                  <a:srgbClr val="36E9FD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CASE STUDY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312489" y="150666"/>
            <a:ext cx="1732152" cy="62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15"/>
              </a:lnSpc>
            </a:pPr>
            <a:r>
              <a:rPr lang="en-US" sz="1225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CANDIDATA </a:t>
            </a:r>
          </a:p>
          <a:p>
            <a:pPr algn="ctr">
              <a:lnSpc>
                <a:spcPts val="1715"/>
              </a:lnSpc>
            </a:pPr>
            <a:r>
              <a:rPr lang="en-US" sz="12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Vincenza Siani</a:t>
            </a:r>
          </a:p>
          <a:p>
            <a:pPr algn="ctr">
              <a:lnSpc>
                <a:spcPts val="1715"/>
              </a:lnSpc>
            </a:pPr>
            <a:r>
              <a:rPr lang="en-US" sz="12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M62003043</a:t>
            </a:r>
          </a:p>
        </p:txBody>
      </p:sp>
      <p:sp>
        <p:nvSpPr>
          <p:cNvPr id="12" name="Freeform 12"/>
          <p:cNvSpPr/>
          <p:nvPr/>
        </p:nvSpPr>
        <p:spPr>
          <a:xfrm>
            <a:off x="175914" y="169716"/>
            <a:ext cx="2626631" cy="850372"/>
          </a:xfrm>
          <a:custGeom>
            <a:avLst/>
            <a:gdLst/>
            <a:ahLst/>
            <a:cxnLst/>
            <a:rect l="l" t="t" r="r" b="b"/>
            <a:pathLst>
              <a:path w="2626631" h="850372">
                <a:moveTo>
                  <a:pt x="0" y="0"/>
                </a:moveTo>
                <a:lnTo>
                  <a:pt x="2626631" y="0"/>
                </a:lnTo>
                <a:lnTo>
                  <a:pt x="2626631" y="850372"/>
                </a:lnTo>
                <a:lnTo>
                  <a:pt x="0" y="8503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3" name="Freeform 13"/>
          <p:cNvSpPr/>
          <p:nvPr/>
        </p:nvSpPr>
        <p:spPr>
          <a:xfrm>
            <a:off x="464579" y="6471635"/>
            <a:ext cx="10026969" cy="3311003"/>
          </a:xfrm>
          <a:custGeom>
            <a:avLst/>
            <a:gdLst/>
            <a:ahLst/>
            <a:cxnLst/>
            <a:rect l="l" t="t" r="r" b="b"/>
            <a:pathLst>
              <a:path w="10026969" h="3311003">
                <a:moveTo>
                  <a:pt x="0" y="0"/>
                </a:moveTo>
                <a:lnTo>
                  <a:pt x="10026968" y="0"/>
                </a:lnTo>
                <a:lnTo>
                  <a:pt x="10026968" y="3311003"/>
                </a:lnTo>
                <a:lnTo>
                  <a:pt x="0" y="33110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01624" r="-136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C06BCF16-C1C3-BA1D-D18C-4D93F0825C42}"/>
              </a:ext>
            </a:extLst>
          </p:cNvPr>
          <p:cNvSpPr txBox="1"/>
          <p:nvPr/>
        </p:nvSpPr>
        <p:spPr>
          <a:xfrm>
            <a:off x="3465150" y="824963"/>
            <a:ext cx="11357700" cy="538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3300">
                <a:solidFill>
                  <a:schemeClr val="bg1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Results:</a:t>
            </a:r>
          </a:p>
        </p:txBody>
      </p:sp>
      <p:graphicFrame>
        <p:nvGraphicFramePr>
          <p:cNvPr id="14" name="Tabella 13">
            <a:extLst>
              <a:ext uri="{FF2B5EF4-FFF2-40B4-BE49-F238E27FC236}">
                <a16:creationId xmlns:a16="http://schemas.microsoft.com/office/drawing/2014/main" id="{775E7717-B5C6-9546-53C0-B90C7E6086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53967"/>
              </p:ext>
            </p:extLst>
          </p:nvPr>
        </p:nvGraphicFramePr>
        <p:xfrm>
          <a:off x="11171485" y="4975757"/>
          <a:ext cx="6506024" cy="29917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6506">
                  <a:extLst>
                    <a:ext uri="{9D8B030D-6E8A-4147-A177-3AD203B41FA5}">
                      <a16:colId xmlns:a16="http://schemas.microsoft.com/office/drawing/2014/main" val="4291435909"/>
                    </a:ext>
                  </a:extLst>
                </a:gridCol>
                <a:gridCol w="1626506">
                  <a:extLst>
                    <a:ext uri="{9D8B030D-6E8A-4147-A177-3AD203B41FA5}">
                      <a16:colId xmlns:a16="http://schemas.microsoft.com/office/drawing/2014/main" val="2099605863"/>
                    </a:ext>
                  </a:extLst>
                </a:gridCol>
                <a:gridCol w="1626506">
                  <a:extLst>
                    <a:ext uri="{9D8B030D-6E8A-4147-A177-3AD203B41FA5}">
                      <a16:colId xmlns:a16="http://schemas.microsoft.com/office/drawing/2014/main" val="173054957"/>
                    </a:ext>
                  </a:extLst>
                </a:gridCol>
                <a:gridCol w="1626506">
                  <a:extLst>
                    <a:ext uri="{9D8B030D-6E8A-4147-A177-3AD203B41FA5}">
                      <a16:colId xmlns:a16="http://schemas.microsoft.com/office/drawing/2014/main" val="2590466382"/>
                    </a:ext>
                  </a:extLst>
                </a:gridCol>
              </a:tblGrid>
              <a:tr h="997252">
                <a:tc>
                  <a:txBody>
                    <a:bodyPr/>
                    <a:lstStyle/>
                    <a:p>
                      <a:r>
                        <a:rPr lang="it-IT"/>
                        <a:t>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MAPE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4117744"/>
                  </a:ext>
                </a:extLst>
              </a:tr>
              <a:tr h="997252">
                <a:tc>
                  <a:txBody>
                    <a:bodyPr/>
                    <a:lstStyle/>
                    <a:p>
                      <a:r>
                        <a:rPr lang="it-IT"/>
                        <a:t>ME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96%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0,031</a:t>
                      </a:r>
                    </a:p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2,51%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432153"/>
                  </a:ext>
                </a:extLst>
              </a:tr>
              <a:tr h="997252">
                <a:tc>
                  <a:txBody>
                    <a:bodyPr/>
                    <a:lstStyle/>
                    <a:p>
                      <a:r>
                        <a:rPr lang="it-IT"/>
                        <a:t>ME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0,041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3,41%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0266315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172845">
            <a:off x="6368285" y="-727739"/>
            <a:ext cx="14678668" cy="7392711"/>
          </a:xfrm>
          <a:custGeom>
            <a:avLst/>
            <a:gdLst/>
            <a:ahLst/>
            <a:cxnLst/>
            <a:rect l="l" t="t" r="r" b="b"/>
            <a:pathLst>
              <a:path w="14678668" h="7392711">
                <a:moveTo>
                  <a:pt x="0" y="0"/>
                </a:moveTo>
                <a:lnTo>
                  <a:pt x="14678668" y="0"/>
                </a:lnTo>
                <a:lnTo>
                  <a:pt x="14678668" y="7392711"/>
                </a:lnTo>
                <a:lnTo>
                  <a:pt x="0" y="73927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 rot="2172845">
            <a:off x="-3843661" y="7384212"/>
            <a:ext cx="14678668" cy="7392711"/>
          </a:xfrm>
          <a:custGeom>
            <a:avLst/>
            <a:gdLst/>
            <a:ahLst/>
            <a:cxnLst/>
            <a:rect l="l" t="t" r="r" b="b"/>
            <a:pathLst>
              <a:path w="14678668" h="7392711">
                <a:moveTo>
                  <a:pt x="0" y="0"/>
                </a:moveTo>
                <a:lnTo>
                  <a:pt x="14678668" y="0"/>
                </a:lnTo>
                <a:lnTo>
                  <a:pt x="14678668" y="7392711"/>
                </a:lnTo>
                <a:lnTo>
                  <a:pt x="0" y="73927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5" name="Group 5"/>
          <p:cNvGrpSpPr/>
          <p:nvPr/>
        </p:nvGrpSpPr>
        <p:grpSpPr>
          <a:xfrm>
            <a:off x="-1249281" y="1521724"/>
            <a:ext cx="6548559" cy="1122379"/>
            <a:chOff x="0" y="0"/>
            <a:chExt cx="1563031" cy="267893"/>
          </a:xfrm>
        </p:grpSpPr>
        <p:sp>
          <p:nvSpPr>
            <p:cNvPr id="6" name="Freeform 6"/>
            <p:cNvSpPr/>
            <p:nvPr/>
          </p:nvSpPr>
          <p:spPr>
            <a:xfrm>
              <a:off x="9850" y="0"/>
              <a:ext cx="1543331" cy="267893"/>
            </a:xfrm>
            <a:custGeom>
              <a:avLst/>
              <a:gdLst/>
              <a:ahLst/>
              <a:cxnLst/>
              <a:rect l="l" t="t" r="r" b="b"/>
              <a:pathLst>
                <a:path w="1543331" h="267893">
                  <a:moveTo>
                    <a:pt x="238551" y="0"/>
                  </a:moveTo>
                  <a:lnTo>
                    <a:pt x="1534967" y="0"/>
                  </a:lnTo>
                  <a:cubicBezTo>
                    <a:pt x="1538235" y="0"/>
                    <a:pt x="1541204" y="1904"/>
                    <a:pt x="1542567" y="4874"/>
                  </a:cubicBezTo>
                  <a:cubicBezTo>
                    <a:pt x="1543931" y="7843"/>
                    <a:pt x="1543440" y="11336"/>
                    <a:pt x="1541310" y="13815"/>
                  </a:cubicBezTo>
                  <a:lnTo>
                    <a:pt x="1334863" y="254078"/>
                  </a:lnTo>
                  <a:cubicBezTo>
                    <a:pt x="1327328" y="262848"/>
                    <a:pt x="1316341" y="267893"/>
                    <a:pt x="1304779" y="267893"/>
                  </a:cubicBezTo>
                  <a:lnTo>
                    <a:pt x="8364" y="267893"/>
                  </a:lnTo>
                  <a:cubicBezTo>
                    <a:pt x="5096" y="267893"/>
                    <a:pt x="2127" y="265989"/>
                    <a:pt x="763" y="263019"/>
                  </a:cubicBezTo>
                  <a:cubicBezTo>
                    <a:pt x="-601" y="260049"/>
                    <a:pt x="-110" y="256557"/>
                    <a:pt x="2020" y="254078"/>
                  </a:cubicBezTo>
                  <a:lnTo>
                    <a:pt x="208467" y="13815"/>
                  </a:lnTo>
                  <a:cubicBezTo>
                    <a:pt x="216003" y="5045"/>
                    <a:pt x="226989" y="0"/>
                    <a:pt x="238551" y="0"/>
                  </a:cubicBezTo>
                  <a:close/>
                </a:path>
              </a:pathLst>
            </a:custGeom>
            <a:solidFill>
              <a:srgbClr val="4A7FF7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54000" y="-57150"/>
              <a:ext cx="1055031" cy="325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80"/>
                </a:lnSpc>
              </a:pPr>
              <a:r>
                <a:rPr lang="en-US" sz="3200">
                  <a:solidFill>
                    <a:srgbClr val="000000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VESSEL 1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226535" y="3320378"/>
            <a:ext cx="10026969" cy="3012014"/>
          </a:xfrm>
          <a:custGeom>
            <a:avLst/>
            <a:gdLst/>
            <a:ahLst/>
            <a:cxnLst/>
            <a:rect l="l" t="t" r="r" b="b"/>
            <a:pathLst>
              <a:path w="10026969" h="3012014">
                <a:moveTo>
                  <a:pt x="0" y="0"/>
                </a:moveTo>
                <a:lnTo>
                  <a:pt x="10026969" y="0"/>
                </a:lnTo>
                <a:lnTo>
                  <a:pt x="10026969" y="3012015"/>
                </a:lnTo>
                <a:lnTo>
                  <a:pt x="0" y="30120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392" b="-115944"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9" name="TextBox 9"/>
          <p:cNvSpPr txBox="1"/>
          <p:nvPr/>
        </p:nvSpPr>
        <p:spPr>
          <a:xfrm>
            <a:off x="3465150" y="824963"/>
            <a:ext cx="11357700" cy="538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3300">
                <a:solidFill>
                  <a:schemeClr val="bg1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Results: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465150" y="279635"/>
            <a:ext cx="11357700" cy="563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3300" b="1">
                <a:solidFill>
                  <a:srgbClr val="36E9FD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CASE STUDY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312489" y="150666"/>
            <a:ext cx="1732152" cy="62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15"/>
              </a:lnSpc>
            </a:pPr>
            <a:r>
              <a:rPr lang="en-US" sz="1225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CANDIDATA </a:t>
            </a:r>
          </a:p>
          <a:p>
            <a:pPr algn="ctr">
              <a:lnSpc>
                <a:spcPts val="1715"/>
              </a:lnSpc>
            </a:pPr>
            <a:r>
              <a:rPr lang="en-US" sz="12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Vincenza Siani</a:t>
            </a:r>
          </a:p>
          <a:p>
            <a:pPr algn="ctr">
              <a:lnSpc>
                <a:spcPts val="1715"/>
              </a:lnSpc>
            </a:pPr>
            <a:r>
              <a:rPr lang="en-US" sz="12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M62003043</a:t>
            </a:r>
          </a:p>
        </p:txBody>
      </p:sp>
      <p:sp>
        <p:nvSpPr>
          <p:cNvPr id="12" name="Freeform 12"/>
          <p:cNvSpPr/>
          <p:nvPr/>
        </p:nvSpPr>
        <p:spPr>
          <a:xfrm>
            <a:off x="175914" y="169716"/>
            <a:ext cx="2626631" cy="850372"/>
          </a:xfrm>
          <a:custGeom>
            <a:avLst/>
            <a:gdLst/>
            <a:ahLst/>
            <a:cxnLst/>
            <a:rect l="l" t="t" r="r" b="b"/>
            <a:pathLst>
              <a:path w="2626631" h="850372">
                <a:moveTo>
                  <a:pt x="0" y="0"/>
                </a:moveTo>
                <a:lnTo>
                  <a:pt x="2626631" y="0"/>
                </a:lnTo>
                <a:lnTo>
                  <a:pt x="2626631" y="850372"/>
                </a:lnTo>
                <a:lnTo>
                  <a:pt x="0" y="8503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3" name="Freeform 13"/>
          <p:cNvSpPr/>
          <p:nvPr/>
        </p:nvSpPr>
        <p:spPr>
          <a:xfrm>
            <a:off x="226535" y="6646535"/>
            <a:ext cx="10026969" cy="3291493"/>
          </a:xfrm>
          <a:custGeom>
            <a:avLst/>
            <a:gdLst/>
            <a:ahLst/>
            <a:cxnLst/>
            <a:rect l="l" t="t" r="r" b="b"/>
            <a:pathLst>
              <a:path w="10026969" h="3291493">
                <a:moveTo>
                  <a:pt x="0" y="0"/>
                </a:moveTo>
                <a:lnTo>
                  <a:pt x="10026969" y="0"/>
                </a:lnTo>
                <a:lnTo>
                  <a:pt x="10026969" y="3291492"/>
                </a:lnTo>
                <a:lnTo>
                  <a:pt x="0" y="32914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02543"/>
            </a:stretch>
          </a:blipFill>
        </p:spPr>
        <p:txBody>
          <a:bodyPr/>
          <a:lstStyle/>
          <a:p>
            <a:endParaRPr lang="it-IT"/>
          </a:p>
        </p:txBody>
      </p:sp>
      <p:graphicFrame>
        <p:nvGraphicFramePr>
          <p:cNvPr id="15" name="Tabella 14">
            <a:extLst>
              <a:ext uri="{FF2B5EF4-FFF2-40B4-BE49-F238E27FC236}">
                <a16:creationId xmlns:a16="http://schemas.microsoft.com/office/drawing/2014/main" id="{42965F7C-EFAC-1D18-67BE-61293D6B2B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4608841"/>
              </p:ext>
            </p:extLst>
          </p:nvPr>
        </p:nvGraphicFramePr>
        <p:xfrm>
          <a:off x="11171485" y="4975757"/>
          <a:ext cx="6506024" cy="29917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6506">
                  <a:extLst>
                    <a:ext uri="{9D8B030D-6E8A-4147-A177-3AD203B41FA5}">
                      <a16:colId xmlns:a16="http://schemas.microsoft.com/office/drawing/2014/main" val="4291435909"/>
                    </a:ext>
                  </a:extLst>
                </a:gridCol>
                <a:gridCol w="1626506">
                  <a:extLst>
                    <a:ext uri="{9D8B030D-6E8A-4147-A177-3AD203B41FA5}">
                      <a16:colId xmlns:a16="http://schemas.microsoft.com/office/drawing/2014/main" val="2099605863"/>
                    </a:ext>
                  </a:extLst>
                </a:gridCol>
                <a:gridCol w="1626506">
                  <a:extLst>
                    <a:ext uri="{9D8B030D-6E8A-4147-A177-3AD203B41FA5}">
                      <a16:colId xmlns:a16="http://schemas.microsoft.com/office/drawing/2014/main" val="173054957"/>
                    </a:ext>
                  </a:extLst>
                </a:gridCol>
                <a:gridCol w="1626506">
                  <a:extLst>
                    <a:ext uri="{9D8B030D-6E8A-4147-A177-3AD203B41FA5}">
                      <a16:colId xmlns:a16="http://schemas.microsoft.com/office/drawing/2014/main" val="2590466382"/>
                    </a:ext>
                  </a:extLst>
                </a:gridCol>
              </a:tblGrid>
              <a:tr h="997252">
                <a:tc>
                  <a:txBody>
                    <a:bodyPr/>
                    <a:lstStyle/>
                    <a:p>
                      <a:r>
                        <a:rPr lang="it-IT"/>
                        <a:t>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MAPE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4117744"/>
                  </a:ext>
                </a:extLst>
              </a:tr>
              <a:tr h="997252">
                <a:tc>
                  <a:txBody>
                    <a:bodyPr/>
                    <a:lstStyle/>
                    <a:p>
                      <a:r>
                        <a:rPr lang="it-IT"/>
                        <a:t>ME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0,053</a:t>
                      </a:r>
                    </a:p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4,20%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432153"/>
                  </a:ext>
                </a:extLst>
              </a:tr>
              <a:tr h="997252">
                <a:tc>
                  <a:txBody>
                    <a:bodyPr/>
                    <a:lstStyle/>
                    <a:p>
                      <a:r>
                        <a:rPr lang="it-IT"/>
                        <a:t>ME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0,073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/>
                        <a:t>5,39%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0266315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172845">
            <a:off x="6368285" y="-727739"/>
            <a:ext cx="14678668" cy="7392711"/>
          </a:xfrm>
          <a:custGeom>
            <a:avLst/>
            <a:gdLst/>
            <a:ahLst/>
            <a:cxnLst/>
            <a:rect l="l" t="t" r="r" b="b"/>
            <a:pathLst>
              <a:path w="14678668" h="7392711">
                <a:moveTo>
                  <a:pt x="0" y="0"/>
                </a:moveTo>
                <a:lnTo>
                  <a:pt x="14678668" y="0"/>
                </a:lnTo>
                <a:lnTo>
                  <a:pt x="14678668" y="7392711"/>
                </a:lnTo>
                <a:lnTo>
                  <a:pt x="0" y="73927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 rot="2172845">
            <a:off x="-3843661" y="7384212"/>
            <a:ext cx="14678668" cy="7392711"/>
          </a:xfrm>
          <a:custGeom>
            <a:avLst/>
            <a:gdLst/>
            <a:ahLst/>
            <a:cxnLst/>
            <a:rect l="l" t="t" r="r" b="b"/>
            <a:pathLst>
              <a:path w="14678668" h="7392711">
                <a:moveTo>
                  <a:pt x="0" y="0"/>
                </a:moveTo>
                <a:lnTo>
                  <a:pt x="14678668" y="0"/>
                </a:lnTo>
                <a:lnTo>
                  <a:pt x="14678668" y="7392711"/>
                </a:lnTo>
                <a:lnTo>
                  <a:pt x="0" y="73927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aphicFrame>
        <p:nvGraphicFramePr>
          <p:cNvPr id="4" name="Object 4"/>
          <p:cNvGraphicFramePr/>
          <p:nvPr/>
        </p:nvGraphicFramePr>
        <p:xfrm>
          <a:off x="620657" y="3025103"/>
          <a:ext cx="7586157" cy="427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9105900" imgH="5791200" progId="Excel.Sheet.12">
                  <p:embed/>
                </p:oleObj>
              </mc:Choice>
              <mc:Fallback>
                <p:oleObj name="Worksheet" r:id="rId3" imgW="9105900" imgH="5791200" progId="Excel.Sheet.12">
                  <p:embed/>
                  <p:pic>
                    <p:nvPicPr>
                      <p:cNvPr id="4" name="Object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0657" y="3025103"/>
                        <a:ext cx="7586157" cy="4274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5"/>
          <p:cNvGrpSpPr/>
          <p:nvPr/>
        </p:nvGrpSpPr>
        <p:grpSpPr>
          <a:xfrm>
            <a:off x="-1249281" y="1521724"/>
            <a:ext cx="6548559" cy="1122379"/>
            <a:chOff x="0" y="0"/>
            <a:chExt cx="1563031" cy="267893"/>
          </a:xfrm>
        </p:grpSpPr>
        <p:sp>
          <p:nvSpPr>
            <p:cNvPr id="6" name="Freeform 6"/>
            <p:cNvSpPr/>
            <p:nvPr/>
          </p:nvSpPr>
          <p:spPr>
            <a:xfrm>
              <a:off x="9850" y="0"/>
              <a:ext cx="1543331" cy="267893"/>
            </a:xfrm>
            <a:custGeom>
              <a:avLst/>
              <a:gdLst/>
              <a:ahLst/>
              <a:cxnLst/>
              <a:rect l="l" t="t" r="r" b="b"/>
              <a:pathLst>
                <a:path w="1543331" h="267893">
                  <a:moveTo>
                    <a:pt x="238551" y="0"/>
                  </a:moveTo>
                  <a:lnTo>
                    <a:pt x="1534967" y="0"/>
                  </a:lnTo>
                  <a:cubicBezTo>
                    <a:pt x="1538235" y="0"/>
                    <a:pt x="1541204" y="1904"/>
                    <a:pt x="1542567" y="4874"/>
                  </a:cubicBezTo>
                  <a:cubicBezTo>
                    <a:pt x="1543931" y="7843"/>
                    <a:pt x="1543440" y="11336"/>
                    <a:pt x="1541310" y="13815"/>
                  </a:cubicBezTo>
                  <a:lnTo>
                    <a:pt x="1334863" y="254078"/>
                  </a:lnTo>
                  <a:cubicBezTo>
                    <a:pt x="1327328" y="262848"/>
                    <a:pt x="1316341" y="267893"/>
                    <a:pt x="1304779" y="267893"/>
                  </a:cubicBezTo>
                  <a:lnTo>
                    <a:pt x="8364" y="267893"/>
                  </a:lnTo>
                  <a:cubicBezTo>
                    <a:pt x="5096" y="267893"/>
                    <a:pt x="2127" y="265989"/>
                    <a:pt x="763" y="263019"/>
                  </a:cubicBezTo>
                  <a:cubicBezTo>
                    <a:pt x="-601" y="260049"/>
                    <a:pt x="-110" y="256557"/>
                    <a:pt x="2020" y="254078"/>
                  </a:cubicBezTo>
                  <a:lnTo>
                    <a:pt x="208467" y="13815"/>
                  </a:lnTo>
                  <a:cubicBezTo>
                    <a:pt x="216003" y="5045"/>
                    <a:pt x="226989" y="0"/>
                    <a:pt x="238551" y="0"/>
                  </a:cubicBezTo>
                  <a:close/>
                </a:path>
              </a:pathLst>
            </a:custGeom>
            <a:solidFill>
              <a:srgbClr val="4A7FF7"/>
            </a:solidFill>
          </p:spPr>
          <p:txBody>
            <a:bodyPr/>
            <a:lstStyle/>
            <a:p>
              <a:endParaRPr lang="it-I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54000" y="-57150"/>
              <a:ext cx="1055031" cy="325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80"/>
                </a:lnSpc>
              </a:pPr>
              <a:r>
                <a:rPr lang="en-US" sz="3200">
                  <a:solidFill>
                    <a:srgbClr val="000000"/>
                  </a:solidFill>
                  <a:latin typeface="Playfair Display"/>
                  <a:ea typeface="Playfair Display"/>
                  <a:cs typeface="Playfair Display"/>
                  <a:sym typeface="Playfair Display"/>
                </a:rPr>
                <a:t>SCHEDULE</a:t>
              </a:r>
            </a:p>
          </p:txBody>
        </p:sp>
      </p:grpSp>
      <p:graphicFrame>
        <p:nvGraphicFramePr>
          <p:cNvPr id="8" name="Object 8"/>
          <p:cNvGraphicFramePr/>
          <p:nvPr/>
        </p:nvGraphicFramePr>
        <p:xfrm>
          <a:off x="9339522" y="3086649"/>
          <a:ext cx="7586157" cy="427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9105900" imgH="5791200" progId="Excel.Sheet.12">
                  <p:embed/>
                </p:oleObj>
              </mc:Choice>
              <mc:Fallback>
                <p:oleObj name="Worksheet" r:id="rId5" imgW="9105900" imgH="5791200" progId="Excel.Sheet.12">
                  <p:embed/>
                  <p:pic>
                    <p:nvPicPr>
                      <p:cNvPr id="8" name="Object 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339522" y="3086649"/>
                        <a:ext cx="7586157" cy="4274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9"/>
          <p:cNvSpPr txBox="1"/>
          <p:nvPr/>
        </p:nvSpPr>
        <p:spPr>
          <a:xfrm>
            <a:off x="3987922" y="2328837"/>
            <a:ext cx="4783574" cy="563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33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LSTM: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095137" y="2328837"/>
            <a:ext cx="2217352" cy="563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33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LS-PLS: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465150" y="279635"/>
            <a:ext cx="11357700" cy="563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3300" b="1">
                <a:solidFill>
                  <a:srgbClr val="36E9FD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CASE STUDY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312489" y="150666"/>
            <a:ext cx="1732152" cy="62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15"/>
              </a:lnSpc>
            </a:pPr>
            <a:r>
              <a:rPr lang="en-US" sz="1225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CANDIDATA </a:t>
            </a:r>
          </a:p>
          <a:p>
            <a:pPr algn="ctr">
              <a:lnSpc>
                <a:spcPts val="1715"/>
              </a:lnSpc>
            </a:pPr>
            <a:r>
              <a:rPr lang="en-US" sz="12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Vincenza Siani</a:t>
            </a:r>
          </a:p>
          <a:p>
            <a:pPr algn="ctr">
              <a:lnSpc>
                <a:spcPts val="1715"/>
              </a:lnSpc>
            </a:pPr>
            <a:r>
              <a:rPr lang="en-US" sz="12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M62003043</a:t>
            </a:r>
          </a:p>
        </p:txBody>
      </p:sp>
      <p:sp>
        <p:nvSpPr>
          <p:cNvPr id="13" name="Freeform 13"/>
          <p:cNvSpPr/>
          <p:nvPr/>
        </p:nvSpPr>
        <p:spPr>
          <a:xfrm>
            <a:off x="175914" y="169716"/>
            <a:ext cx="2626631" cy="850372"/>
          </a:xfrm>
          <a:custGeom>
            <a:avLst/>
            <a:gdLst/>
            <a:ahLst/>
            <a:cxnLst/>
            <a:rect l="l" t="t" r="r" b="b"/>
            <a:pathLst>
              <a:path w="2626631" h="850372">
                <a:moveTo>
                  <a:pt x="0" y="0"/>
                </a:moveTo>
                <a:lnTo>
                  <a:pt x="2626631" y="0"/>
                </a:lnTo>
                <a:lnTo>
                  <a:pt x="2626631" y="850372"/>
                </a:lnTo>
                <a:lnTo>
                  <a:pt x="0" y="8503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4" name="TextBox 14"/>
          <p:cNvSpPr txBox="1"/>
          <p:nvPr/>
        </p:nvSpPr>
        <p:spPr>
          <a:xfrm>
            <a:off x="3465150" y="867342"/>
            <a:ext cx="11357700" cy="563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3300" b="1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Results</a:t>
            </a:r>
          </a:p>
        </p:txBody>
      </p:sp>
      <p:graphicFrame>
        <p:nvGraphicFramePr>
          <p:cNvPr id="15" name="Tabella 14">
            <a:extLst>
              <a:ext uri="{FF2B5EF4-FFF2-40B4-BE49-F238E27FC236}">
                <a16:creationId xmlns:a16="http://schemas.microsoft.com/office/drawing/2014/main" id="{22FF069A-02B8-0806-4444-49F033BE35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8497880"/>
              </p:ext>
            </p:extLst>
          </p:nvPr>
        </p:nvGraphicFramePr>
        <p:xfrm>
          <a:off x="1219200" y="7493645"/>
          <a:ext cx="6934200" cy="411615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325661187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3315465208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3282531419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708454409"/>
                    </a:ext>
                  </a:extLst>
                </a:gridCol>
              </a:tblGrid>
              <a:tr h="411615">
                <a:tc>
                  <a:txBody>
                    <a:bodyPr/>
                    <a:lstStyle/>
                    <a:p>
                      <a:r>
                        <a:rPr lang="it-IT"/>
                        <a:t>TOT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/>
                        <a:t>378,70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/>
                        <a:t>378,00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/>
                        <a:t>-0,70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94973"/>
                  </a:ext>
                </a:extLst>
              </a:tr>
            </a:tbl>
          </a:graphicData>
        </a:graphic>
      </p:graphicFrame>
      <p:graphicFrame>
        <p:nvGraphicFramePr>
          <p:cNvPr id="16" name="Tabella 15">
            <a:extLst>
              <a:ext uri="{FF2B5EF4-FFF2-40B4-BE49-F238E27FC236}">
                <a16:creationId xmlns:a16="http://schemas.microsoft.com/office/drawing/2014/main" id="{5608145B-8BBF-C900-1528-64B78F7431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0999615"/>
              </p:ext>
            </p:extLst>
          </p:nvPr>
        </p:nvGraphicFramePr>
        <p:xfrm>
          <a:off x="9976239" y="7501265"/>
          <a:ext cx="6934200" cy="411615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3256611872"/>
                    </a:ext>
                  </a:extLst>
                </a:gridCol>
                <a:gridCol w="2596761">
                  <a:extLst>
                    <a:ext uri="{9D8B030D-6E8A-4147-A177-3AD203B41FA5}">
                      <a16:colId xmlns:a16="http://schemas.microsoft.com/office/drawing/2014/main" val="3315465208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3282531419"/>
                    </a:ext>
                  </a:extLst>
                </a:gridCol>
                <a:gridCol w="984639">
                  <a:extLst>
                    <a:ext uri="{9D8B030D-6E8A-4147-A177-3AD203B41FA5}">
                      <a16:colId xmlns:a16="http://schemas.microsoft.com/office/drawing/2014/main" val="1708454409"/>
                    </a:ext>
                  </a:extLst>
                </a:gridCol>
              </a:tblGrid>
              <a:tr h="411615">
                <a:tc>
                  <a:txBody>
                    <a:bodyPr/>
                    <a:lstStyle/>
                    <a:p>
                      <a:r>
                        <a:rPr lang="it-IT"/>
                        <a:t>TOT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/>
                        <a:t>378,70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/>
                        <a:t>395,90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/>
                        <a:t>+12,70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394973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172845">
            <a:off x="6368285" y="-727739"/>
            <a:ext cx="14678668" cy="7392711"/>
          </a:xfrm>
          <a:custGeom>
            <a:avLst/>
            <a:gdLst/>
            <a:ahLst/>
            <a:cxnLst/>
            <a:rect l="l" t="t" r="r" b="b"/>
            <a:pathLst>
              <a:path w="14678668" h="7392711">
                <a:moveTo>
                  <a:pt x="0" y="0"/>
                </a:moveTo>
                <a:lnTo>
                  <a:pt x="14678668" y="0"/>
                </a:lnTo>
                <a:lnTo>
                  <a:pt x="14678668" y="7392711"/>
                </a:lnTo>
                <a:lnTo>
                  <a:pt x="0" y="73927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 rot="2172845">
            <a:off x="-3843661" y="7384212"/>
            <a:ext cx="14678668" cy="7392711"/>
          </a:xfrm>
          <a:custGeom>
            <a:avLst/>
            <a:gdLst/>
            <a:ahLst/>
            <a:cxnLst/>
            <a:rect l="l" t="t" r="r" b="b"/>
            <a:pathLst>
              <a:path w="14678668" h="7392711">
                <a:moveTo>
                  <a:pt x="0" y="0"/>
                </a:moveTo>
                <a:lnTo>
                  <a:pt x="14678668" y="0"/>
                </a:lnTo>
                <a:lnTo>
                  <a:pt x="14678668" y="7392711"/>
                </a:lnTo>
                <a:lnTo>
                  <a:pt x="0" y="73927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2052822" y="3071015"/>
            <a:ext cx="3970782" cy="8229600"/>
          </a:xfrm>
          <a:custGeom>
            <a:avLst/>
            <a:gdLst/>
            <a:ahLst/>
            <a:cxnLst/>
            <a:rect l="l" t="t" r="r" b="b"/>
            <a:pathLst>
              <a:path w="3970782" h="8229600">
                <a:moveTo>
                  <a:pt x="0" y="0"/>
                </a:moveTo>
                <a:lnTo>
                  <a:pt x="3970782" y="0"/>
                </a:lnTo>
                <a:lnTo>
                  <a:pt x="397078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Freeform 5"/>
          <p:cNvSpPr/>
          <p:nvPr/>
        </p:nvSpPr>
        <p:spPr>
          <a:xfrm>
            <a:off x="3775575" y="2080415"/>
            <a:ext cx="2691369" cy="2691369"/>
          </a:xfrm>
          <a:custGeom>
            <a:avLst/>
            <a:gdLst/>
            <a:ahLst/>
            <a:cxnLst/>
            <a:rect l="l" t="t" r="r" b="b"/>
            <a:pathLst>
              <a:path w="2691369" h="2691369">
                <a:moveTo>
                  <a:pt x="0" y="0"/>
                </a:moveTo>
                <a:lnTo>
                  <a:pt x="2691368" y="0"/>
                </a:lnTo>
                <a:lnTo>
                  <a:pt x="2691368" y="2691368"/>
                </a:lnTo>
                <a:lnTo>
                  <a:pt x="0" y="26913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6" name="Group 6"/>
          <p:cNvGrpSpPr/>
          <p:nvPr/>
        </p:nvGrpSpPr>
        <p:grpSpPr>
          <a:xfrm>
            <a:off x="8027435" y="3728424"/>
            <a:ext cx="2722116" cy="625662"/>
            <a:chOff x="0" y="0"/>
            <a:chExt cx="1768157" cy="406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68157" cy="406400"/>
            </a:xfrm>
            <a:custGeom>
              <a:avLst/>
              <a:gdLst/>
              <a:ahLst/>
              <a:cxnLst/>
              <a:rect l="l" t="t" r="r" b="b"/>
              <a:pathLst>
                <a:path w="1768157" h="406400">
                  <a:moveTo>
                    <a:pt x="1564957" y="0"/>
                  </a:moveTo>
                  <a:cubicBezTo>
                    <a:pt x="1677182" y="0"/>
                    <a:pt x="1768157" y="90976"/>
                    <a:pt x="1768157" y="203200"/>
                  </a:cubicBezTo>
                  <a:cubicBezTo>
                    <a:pt x="1768157" y="315424"/>
                    <a:pt x="1677182" y="406400"/>
                    <a:pt x="156495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768157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3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721926" y="3728424"/>
            <a:ext cx="2722116" cy="625662"/>
            <a:chOff x="0" y="0"/>
            <a:chExt cx="1768157" cy="406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68157" cy="406400"/>
            </a:xfrm>
            <a:custGeom>
              <a:avLst/>
              <a:gdLst/>
              <a:ahLst/>
              <a:cxnLst/>
              <a:rect l="l" t="t" r="r" b="b"/>
              <a:pathLst>
                <a:path w="1768157" h="406400">
                  <a:moveTo>
                    <a:pt x="1564957" y="0"/>
                  </a:moveTo>
                  <a:cubicBezTo>
                    <a:pt x="1677182" y="0"/>
                    <a:pt x="1768157" y="90976"/>
                    <a:pt x="1768157" y="203200"/>
                  </a:cubicBezTo>
                  <a:cubicBezTo>
                    <a:pt x="1768157" y="315424"/>
                    <a:pt x="1677182" y="406400"/>
                    <a:pt x="156495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768157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3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091735" y="7615496"/>
            <a:ext cx="4021771" cy="625662"/>
            <a:chOff x="0" y="0"/>
            <a:chExt cx="2612351" cy="406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612351" cy="406400"/>
            </a:xfrm>
            <a:custGeom>
              <a:avLst/>
              <a:gdLst/>
              <a:ahLst/>
              <a:cxnLst/>
              <a:rect l="l" t="t" r="r" b="b"/>
              <a:pathLst>
                <a:path w="2612351" h="406400">
                  <a:moveTo>
                    <a:pt x="2409151" y="0"/>
                  </a:moveTo>
                  <a:cubicBezTo>
                    <a:pt x="2521375" y="0"/>
                    <a:pt x="2612351" y="90976"/>
                    <a:pt x="2612351" y="203200"/>
                  </a:cubicBezTo>
                  <a:cubicBezTo>
                    <a:pt x="2612351" y="315424"/>
                    <a:pt x="2521375" y="406400"/>
                    <a:pt x="240915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2A64">
                    <a:alpha val="100000"/>
                  </a:srgbClr>
                </a:gs>
                <a:gs pos="100000">
                  <a:srgbClr val="414C94">
                    <a:alpha val="100000"/>
                  </a:srgbClr>
                </a:gs>
              </a:gsLst>
              <a:lin ang="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612351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83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3573036" y="2448813"/>
            <a:ext cx="1019896" cy="1175981"/>
          </a:xfrm>
          <a:custGeom>
            <a:avLst/>
            <a:gdLst/>
            <a:ahLst/>
            <a:cxnLst/>
            <a:rect l="l" t="t" r="r" b="b"/>
            <a:pathLst>
              <a:path w="1019896" h="1175981">
                <a:moveTo>
                  <a:pt x="0" y="0"/>
                </a:moveTo>
                <a:lnTo>
                  <a:pt x="1019896" y="0"/>
                </a:lnTo>
                <a:lnTo>
                  <a:pt x="1019896" y="1175980"/>
                </a:lnTo>
                <a:lnTo>
                  <a:pt x="0" y="11759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6" name="Freeform 16"/>
          <p:cNvSpPr/>
          <p:nvPr/>
        </p:nvSpPr>
        <p:spPr>
          <a:xfrm>
            <a:off x="11617839" y="5996788"/>
            <a:ext cx="969564" cy="1399633"/>
          </a:xfrm>
          <a:custGeom>
            <a:avLst/>
            <a:gdLst/>
            <a:ahLst/>
            <a:cxnLst/>
            <a:rect l="l" t="t" r="r" b="b"/>
            <a:pathLst>
              <a:path w="969564" h="1399633">
                <a:moveTo>
                  <a:pt x="0" y="0"/>
                </a:moveTo>
                <a:lnTo>
                  <a:pt x="969563" y="0"/>
                </a:lnTo>
                <a:lnTo>
                  <a:pt x="969563" y="1399633"/>
                </a:lnTo>
                <a:lnTo>
                  <a:pt x="0" y="13996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7" name="Freeform 17"/>
          <p:cNvSpPr/>
          <p:nvPr/>
        </p:nvSpPr>
        <p:spPr>
          <a:xfrm>
            <a:off x="8703340" y="2348058"/>
            <a:ext cx="1273535" cy="1241118"/>
          </a:xfrm>
          <a:custGeom>
            <a:avLst/>
            <a:gdLst/>
            <a:ahLst/>
            <a:cxnLst/>
            <a:rect l="l" t="t" r="r" b="b"/>
            <a:pathLst>
              <a:path w="1273535" h="1241118">
                <a:moveTo>
                  <a:pt x="0" y="0"/>
                </a:moveTo>
                <a:lnTo>
                  <a:pt x="1273535" y="0"/>
                </a:lnTo>
                <a:lnTo>
                  <a:pt x="1273535" y="1241118"/>
                </a:lnTo>
                <a:lnTo>
                  <a:pt x="0" y="124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18" name="TextBox 18"/>
          <p:cNvSpPr txBox="1"/>
          <p:nvPr/>
        </p:nvSpPr>
        <p:spPr>
          <a:xfrm>
            <a:off x="3787742" y="279635"/>
            <a:ext cx="11357700" cy="563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1"/>
              </a:lnSpc>
            </a:pPr>
            <a:r>
              <a:rPr lang="en-US" sz="3300" b="1">
                <a:solidFill>
                  <a:srgbClr val="36E9FD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CONCLUSION AND FUTURE WORK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49469" y="3918839"/>
            <a:ext cx="2478048" cy="291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8"/>
              </a:lnSpc>
            </a:pPr>
            <a:r>
              <a:rPr lang="en-US" sz="2272" b="1">
                <a:solidFill>
                  <a:srgbClr val="36E9FD"/>
                </a:solidFill>
                <a:latin typeface="Playfair Display Semi-Bold"/>
                <a:ea typeface="Playfair Display Semi-Bold"/>
                <a:cs typeface="Playfair Display Semi-Bold"/>
                <a:sym typeface="Playfair Display Semi-Bold"/>
              </a:rPr>
              <a:t>DSS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978680" y="4582686"/>
            <a:ext cx="2819626" cy="911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2"/>
              </a:lnSpc>
            </a:pPr>
            <a:r>
              <a:rPr lang="en-GB" sz="1885">
                <a:solidFill>
                  <a:srgbClr val="FFFFFF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Integration within a Business Decision Support System</a:t>
            </a:r>
            <a:endParaRPr lang="en-US" sz="1885">
              <a:solidFill>
                <a:srgbClr val="FFFFFF"/>
              </a:solidFill>
              <a:latin typeface="Playfair Display Italics"/>
              <a:ea typeface="Playfair Display Italics"/>
              <a:cs typeface="Playfair Display Italics"/>
              <a:sym typeface="Playfair Display Italics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2843960" y="3918839"/>
            <a:ext cx="2478048" cy="291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8"/>
              </a:lnSpc>
            </a:pPr>
            <a:r>
              <a:rPr lang="en-US" sz="2272" b="1">
                <a:solidFill>
                  <a:srgbClr val="36E9FD"/>
                </a:solidFill>
                <a:latin typeface="Playfair Display Semi-Bold"/>
                <a:ea typeface="Playfair Display Semi-Bold"/>
                <a:cs typeface="Playfair Display Semi-Bold"/>
                <a:sym typeface="Playfair Display Semi-Bold"/>
              </a:rPr>
              <a:t>OPTIMIZATION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673171" y="4582686"/>
            <a:ext cx="2819626" cy="607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2"/>
              </a:lnSpc>
            </a:pPr>
            <a:r>
              <a:rPr lang="en-GB" sz="1885">
                <a:solidFill>
                  <a:srgbClr val="FFFFFF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Dramatically optimize your bunkering strategy</a:t>
            </a:r>
            <a:endParaRPr lang="en-US" sz="1885">
              <a:solidFill>
                <a:srgbClr val="FFFFFF"/>
              </a:solidFill>
              <a:latin typeface="Playfair Display Italics"/>
              <a:ea typeface="Playfair Display Italics"/>
              <a:cs typeface="Playfair Display Italics"/>
              <a:sym typeface="Playfair Display Italic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0240887" y="7805910"/>
            <a:ext cx="3684870" cy="291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8"/>
              </a:lnSpc>
            </a:pPr>
            <a:r>
              <a:rPr lang="en-US" sz="2272" b="1">
                <a:solidFill>
                  <a:srgbClr val="36E9FD"/>
                </a:solidFill>
                <a:latin typeface="Playfair Display Semi-Bold"/>
                <a:ea typeface="Playfair Display Semi-Bold"/>
                <a:cs typeface="Playfair Display Semi-Bold"/>
                <a:sym typeface="Playfair Display Semi-Bold"/>
              </a:rPr>
              <a:t>SUPERINTELLIGENT AI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976875" y="8441182"/>
            <a:ext cx="4470635" cy="1208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32"/>
              </a:lnSpc>
            </a:pPr>
            <a:r>
              <a:rPr lang="en-GB" sz="1885">
                <a:solidFill>
                  <a:srgbClr val="FFFFFF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Future developments may focus on the use of this instrument for multi-fuel scenarios (Methanol, Bio-LNG) and monitoring of hull degradation over time</a:t>
            </a:r>
            <a:endParaRPr lang="en-US" sz="1885">
              <a:solidFill>
                <a:srgbClr val="FFFFFF"/>
              </a:solidFill>
              <a:latin typeface="Playfair Display Italics"/>
              <a:ea typeface="Playfair Display Italics"/>
              <a:cs typeface="Playfair Display Italics"/>
              <a:sym typeface="Playfair Display Italics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6312489" y="150666"/>
            <a:ext cx="1732152" cy="62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15"/>
              </a:lnSpc>
            </a:pPr>
            <a:r>
              <a:rPr lang="en-US" sz="1225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CANDIDATA </a:t>
            </a:r>
          </a:p>
          <a:p>
            <a:pPr algn="ctr">
              <a:lnSpc>
                <a:spcPts val="1715"/>
              </a:lnSpc>
            </a:pPr>
            <a:r>
              <a:rPr lang="en-US" sz="12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Vincenza Siani</a:t>
            </a:r>
          </a:p>
          <a:p>
            <a:pPr algn="ctr">
              <a:lnSpc>
                <a:spcPts val="1715"/>
              </a:lnSpc>
            </a:pPr>
            <a:r>
              <a:rPr lang="en-US" sz="12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M62003043</a:t>
            </a:r>
          </a:p>
        </p:txBody>
      </p:sp>
      <p:sp>
        <p:nvSpPr>
          <p:cNvPr id="26" name="Freeform 26"/>
          <p:cNvSpPr/>
          <p:nvPr/>
        </p:nvSpPr>
        <p:spPr>
          <a:xfrm>
            <a:off x="175914" y="169716"/>
            <a:ext cx="2626631" cy="850372"/>
          </a:xfrm>
          <a:custGeom>
            <a:avLst/>
            <a:gdLst/>
            <a:ahLst/>
            <a:cxnLst/>
            <a:rect l="l" t="t" r="r" b="b"/>
            <a:pathLst>
              <a:path w="2626631" h="850372">
                <a:moveTo>
                  <a:pt x="0" y="0"/>
                </a:moveTo>
                <a:lnTo>
                  <a:pt x="2626631" y="0"/>
                </a:lnTo>
                <a:lnTo>
                  <a:pt x="2626631" y="850372"/>
                </a:lnTo>
                <a:lnTo>
                  <a:pt x="0" y="85037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grpSp>
        <p:nvGrpSpPr>
          <p:cNvPr id="27" name="Group 2">
            <a:extLst>
              <a:ext uri="{FF2B5EF4-FFF2-40B4-BE49-F238E27FC236}">
                <a16:creationId xmlns:a16="http://schemas.microsoft.com/office/drawing/2014/main" id="{2A331340-EC4F-A799-0F23-F8A8A8C0A49B}"/>
              </a:ext>
            </a:extLst>
          </p:cNvPr>
          <p:cNvGrpSpPr/>
          <p:nvPr/>
        </p:nvGrpSpPr>
        <p:grpSpPr>
          <a:xfrm>
            <a:off x="-22333823" y="2968616"/>
            <a:ext cx="19278600" cy="5185914"/>
            <a:chOff x="0" y="0"/>
            <a:chExt cx="2655670" cy="1106716"/>
          </a:xfrm>
        </p:grpSpPr>
        <p:sp>
          <p:nvSpPr>
            <p:cNvPr id="28" name="Freeform 3">
              <a:extLst>
                <a:ext uri="{FF2B5EF4-FFF2-40B4-BE49-F238E27FC236}">
                  <a16:creationId xmlns:a16="http://schemas.microsoft.com/office/drawing/2014/main" id="{28AE378F-D705-9DD2-00B2-78719589D3DD}"/>
                </a:ext>
              </a:extLst>
            </p:cNvPr>
            <p:cNvSpPr/>
            <p:nvPr/>
          </p:nvSpPr>
          <p:spPr>
            <a:xfrm>
              <a:off x="0" y="0"/>
              <a:ext cx="2655670" cy="1106716"/>
            </a:xfrm>
            <a:custGeom>
              <a:avLst/>
              <a:gdLst/>
              <a:ahLst/>
              <a:cxnLst/>
              <a:rect l="l" t="t" r="r" b="b"/>
              <a:pathLst>
                <a:path w="2655670" h="1106716">
                  <a:moveTo>
                    <a:pt x="0" y="0"/>
                  </a:moveTo>
                  <a:lnTo>
                    <a:pt x="2655670" y="0"/>
                  </a:lnTo>
                  <a:lnTo>
                    <a:pt x="2655670" y="1106716"/>
                  </a:lnTo>
                  <a:lnTo>
                    <a:pt x="0" y="1106716"/>
                  </a:lnTo>
                  <a:close/>
                </a:path>
              </a:pathLst>
            </a:custGeom>
            <a:solidFill>
              <a:srgbClr val="FFFFFF">
                <a:alpha val="46667"/>
              </a:srgbClr>
            </a:solidFill>
            <a:ln w="57150" cap="sq">
              <a:gradFill>
                <a:gsLst>
                  <a:gs pos="0">
                    <a:srgbClr val="083062">
                      <a:alpha val="30550"/>
                    </a:srgbClr>
                  </a:gs>
                  <a:gs pos="100000">
                    <a:srgbClr val="0E0E0E">
                      <a:alpha val="1316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9" name="TextBox 4">
              <a:extLst>
                <a:ext uri="{FF2B5EF4-FFF2-40B4-BE49-F238E27FC236}">
                  <a16:creationId xmlns:a16="http://schemas.microsoft.com/office/drawing/2014/main" id="{40D5C8A2-9C56-9304-FD23-B09F6DFC2CA7}"/>
                </a:ext>
              </a:extLst>
            </p:cNvPr>
            <p:cNvSpPr txBox="1"/>
            <p:nvPr/>
          </p:nvSpPr>
          <p:spPr>
            <a:xfrm>
              <a:off x="0" y="28575"/>
              <a:ext cx="2655670" cy="10781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32A64">
                <a:alpha val="100000"/>
              </a:srgbClr>
            </a:gs>
            <a:gs pos="100000">
              <a:srgbClr val="414C94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172845">
            <a:off x="6368285" y="-727739"/>
            <a:ext cx="14678668" cy="7392711"/>
          </a:xfrm>
          <a:custGeom>
            <a:avLst/>
            <a:gdLst/>
            <a:ahLst/>
            <a:cxnLst/>
            <a:rect l="l" t="t" r="r" b="b"/>
            <a:pathLst>
              <a:path w="14678668" h="7392711">
                <a:moveTo>
                  <a:pt x="0" y="0"/>
                </a:moveTo>
                <a:lnTo>
                  <a:pt x="14678668" y="0"/>
                </a:lnTo>
                <a:lnTo>
                  <a:pt x="14678668" y="7392711"/>
                </a:lnTo>
                <a:lnTo>
                  <a:pt x="0" y="73927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3" name="Freeform 3"/>
          <p:cNvSpPr/>
          <p:nvPr/>
        </p:nvSpPr>
        <p:spPr>
          <a:xfrm rot="2172845">
            <a:off x="-3843661" y="7384212"/>
            <a:ext cx="14678668" cy="7392711"/>
          </a:xfrm>
          <a:custGeom>
            <a:avLst/>
            <a:gdLst/>
            <a:ahLst/>
            <a:cxnLst/>
            <a:rect l="l" t="t" r="r" b="b"/>
            <a:pathLst>
              <a:path w="14678668" h="7392711">
                <a:moveTo>
                  <a:pt x="0" y="0"/>
                </a:moveTo>
                <a:lnTo>
                  <a:pt x="14678668" y="0"/>
                </a:lnTo>
                <a:lnTo>
                  <a:pt x="14678668" y="7392711"/>
                </a:lnTo>
                <a:lnTo>
                  <a:pt x="0" y="73927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4" name="Freeform 4"/>
          <p:cNvSpPr/>
          <p:nvPr/>
        </p:nvSpPr>
        <p:spPr>
          <a:xfrm>
            <a:off x="175914" y="169716"/>
            <a:ext cx="2626631" cy="850372"/>
          </a:xfrm>
          <a:custGeom>
            <a:avLst/>
            <a:gdLst/>
            <a:ahLst/>
            <a:cxnLst/>
            <a:rect l="l" t="t" r="r" b="b"/>
            <a:pathLst>
              <a:path w="2626631" h="850372">
                <a:moveTo>
                  <a:pt x="0" y="0"/>
                </a:moveTo>
                <a:lnTo>
                  <a:pt x="2626631" y="0"/>
                </a:lnTo>
                <a:lnTo>
                  <a:pt x="2626631" y="850372"/>
                </a:lnTo>
                <a:lnTo>
                  <a:pt x="0" y="8503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t-IT"/>
          </a:p>
        </p:txBody>
      </p:sp>
      <p:sp>
        <p:nvSpPr>
          <p:cNvPr id="5" name="TextBox 5"/>
          <p:cNvSpPr txBox="1"/>
          <p:nvPr/>
        </p:nvSpPr>
        <p:spPr>
          <a:xfrm>
            <a:off x="16393224" y="150666"/>
            <a:ext cx="1732152" cy="62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15"/>
              </a:lnSpc>
            </a:pPr>
            <a:r>
              <a:rPr lang="en-US" sz="1225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CANDIDATA </a:t>
            </a:r>
          </a:p>
          <a:p>
            <a:pPr algn="ctr">
              <a:lnSpc>
                <a:spcPts val="1715"/>
              </a:lnSpc>
            </a:pPr>
            <a:r>
              <a:rPr lang="en-US" sz="12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Vincenza Siani</a:t>
            </a:r>
          </a:p>
          <a:p>
            <a:pPr algn="ctr">
              <a:lnSpc>
                <a:spcPts val="1715"/>
              </a:lnSpc>
            </a:pPr>
            <a:r>
              <a:rPr lang="en-US" sz="122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M62003043</a:t>
            </a:r>
          </a:p>
        </p:txBody>
      </p:sp>
      <p:grpSp>
        <p:nvGrpSpPr>
          <p:cNvPr id="8" name="Group 2">
            <a:extLst>
              <a:ext uri="{FF2B5EF4-FFF2-40B4-BE49-F238E27FC236}">
                <a16:creationId xmlns:a16="http://schemas.microsoft.com/office/drawing/2014/main" id="{74EA0D0C-7892-C600-5996-CF019CD7F666}"/>
              </a:ext>
            </a:extLst>
          </p:cNvPr>
          <p:cNvGrpSpPr/>
          <p:nvPr/>
        </p:nvGrpSpPr>
        <p:grpSpPr>
          <a:xfrm>
            <a:off x="-647700" y="-1896419"/>
            <a:ext cx="19278600" cy="10046259"/>
            <a:chOff x="0" y="28575"/>
            <a:chExt cx="2655670" cy="2143953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2D469580-5E7C-0444-2462-3F1F8BFB2120}"/>
                </a:ext>
              </a:extLst>
            </p:cNvPr>
            <p:cNvSpPr/>
            <p:nvPr/>
          </p:nvSpPr>
          <p:spPr>
            <a:xfrm>
              <a:off x="0" y="1065812"/>
              <a:ext cx="2655670" cy="1106716"/>
            </a:xfrm>
            <a:custGeom>
              <a:avLst/>
              <a:gdLst/>
              <a:ahLst/>
              <a:cxnLst/>
              <a:rect l="l" t="t" r="r" b="b"/>
              <a:pathLst>
                <a:path w="2655670" h="1106716">
                  <a:moveTo>
                    <a:pt x="0" y="0"/>
                  </a:moveTo>
                  <a:lnTo>
                    <a:pt x="2655670" y="0"/>
                  </a:lnTo>
                  <a:lnTo>
                    <a:pt x="2655670" y="1106716"/>
                  </a:lnTo>
                  <a:lnTo>
                    <a:pt x="0" y="1106716"/>
                  </a:lnTo>
                  <a:close/>
                </a:path>
              </a:pathLst>
            </a:custGeom>
            <a:solidFill>
              <a:srgbClr val="FFFFFF">
                <a:alpha val="46667"/>
              </a:srgbClr>
            </a:solidFill>
            <a:ln w="57150" cap="sq">
              <a:gradFill>
                <a:gsLst>
                  <a:gs pos="0">
                    <a:srgbClr val="083062">
                      <a:alpha val="30550"/>
                    </a:srgbClr>
                  </a:gs>
                  <a:gs pos="100000">
                    <a:srgbClr val="0E0E0E">
                      <a:alpha val="1316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F6455D28-D264-1149-7680-07584163F466}"/>
                </a:ext>
              </a:extLst>
            </p:cNvPr>
            <p:cNvSpPr txBox="1"/>
            <p:nvPr/>
          </p:nvSpPr>
          <p:spPr>
            <a:xfrm>
              <a:off x="0" y="28575"/>
              <a:ext cx="2655670" cy="10781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312750" y="3009934"/>
            <a:ext cx="11357700" cy="2503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 b="1">
                <a:solidFill>
                  <a:schemeClr val="bg1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THANK YOU FOR </a:t>
            </a:r>
          </a:p>
          <a:p>
            <a:pPr algn="ctr">
              <a:lnSpc>
                <a:spcPts val="10080"/>
              </a:lnSpc>
            </a:pPr>
            <a:r>
              <a:rPr lang="en-US" sz="7200" b="1">
                <a:solidFill>
                  <a:schemeClr val="bg1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YOUR ATTENTION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5F62A21-0243-1E48-F370-35B3A7E4FDF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37" t="22870" r="12380" b="21999"/>
          <a:stretch>
            <a:fillRect/>
          </a:stretch>
        </p:blipFill>
        <p:spPr>
          <a:xfrm>
            <a:off x="7086600" y="6516512"/>
            <a:ext cx="3810000" cy="1633328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7734187" y="5779540"/>
            <a:ext cx="2819626" cy="470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70"/>
              </a:lnSpc>
            </a:pPr>
            <a:r>
              <a:rPr lang="en-US" sz="3000" i="1">
                <a:solidFill>
                  <a:srgbClr val="FFFFFF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and Thanks to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5FC2ACE02407340925D496535A2FDAA" ma:contentTypeVersion="3" ma:contentTypeDescription="Create a new document." ma:contentTypeScope="" ma:versionID="2b7630478c2007b06efb15ae4209fa39">
  <xsd:schema xmlns:xsd="http://www.w3.org/2001/XMLSchema" xmlns:xs="http://www.w3.org/2001/XMLSchema" xmlns:p="http://schemas.microsoft.com/office/2006/metadata/properties" xmlns:ns2="dfb9720a-41c5-4a5a-9510-acbe325be239" targetNamespace="http://schemas.microsoft.com/office/2006/metadata/properties" ma:root="true" ma:fieldsID="85a616c8f0811e29e4c84f2663ae138b" ns2:_="">
    <xsd:import namespace="dfb9720a-41c5-4a5a-9510-acbe325be23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b9720a-41c5-4a5a-9510-acbe325be2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88C0606-CAF8-427D-A1ED-44E02CC4EE9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265D64B-1A3E-4EE7-A02A-AFC8D11209E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2377369-ED30-41AC-B557-B2E9EC245EFD}">
  <ds:schemaRefs>
    <ds:schemaRef ds:uri="dfb9720a-41c5-4a5a-9510-acbe325be23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25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UNIVERSITÀ DEGLI STUDI DI NAPOLI FEDERICO II DIPARTIMENTO DI INGEGNERIA INDUSTRIALE</dc:title>
  <cp:revision>39</cp:revision>
  <dcterms:created xsi:type="dcterms:W3CDTF">2006-08-16T00:00:00Z</dcterms:created>
  <dcterms:modified xsi:type="dcterms:W3CDTF">2026-07-19T21:06:03Z</dcterms:modified>
  <dc:identifier>DAHNSghktt8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d0b24d-6422-44b0-b3de-abb3a9e8c81a_Enabled">
    <vt:lpwstr>true</vt:lpwstr>
  </property>
  <property fmtid="{D5CDD505-2E9C-101B-9397-08002B2CF9AE}" pid="3" name="MSIP_Label_2ad0b24d-6422-44b0-b3de-abb3a9e8c81a_SetDate">
    <vt:lpwstr>2026-07-19T06:38:19Z</vt:lpwstr>
  </property>
  <property fmtid="{D5CDD505-2E9C-101B-9397-08002B2CF9AE}" pid="4" name="MSIP_Label_2ad0b24d-6422-44b0-b3de-abb3a9e8c81a_Method">
    <vt:lpwstr>Standard</vt:lpwstr>
  </property>
  <property fmtid="{D5CDD505-2E9C-101B-9397-08002B2CF9AE}" pid="5" name="MSIP_Label_2ad0b24d-6422-44b0-b3de-abb3a9e8c81a_Name">
    <vt:lpwstr>defa4170-0d19-0005-0004-bc88714345d2</vt:lpwstr>
  </property>
  <property fmtid="{D5CDD505-2E9C-101B-9397-08002B2CF9AE}" pid="6" name="MSIP_Label_2ad0b24d-6422-44b0-b3de-abb3a9e8c81a_SiteId">
    <vt:lpwstr>2fcfe26a-bb62-46b0-b1e3-28f9da0c45fd</vt:lpwstr>
  </property>
  <property fmtid="{D5CDD505-2E9C-101B-9397-08002B2CF9AE}" pid="7" name="MSIP_Label_2ad0b24d-6422-44b0-b3de-abb3a9e8c81a_ActionId">
    <vt:lpwstr>7f3c629e-6ea0-4020-8236-4b8e4478f2f4</vt:lpwstr>
  </property>
  <property fmtid="{D5CDD505-2E9C-101B-9397-08002B2CF9AE}" pid="8" name="MSIP_Label_2ad0b24d-6422-44b0-b3de-abb3a9e8c81a_ContentBits">
    <vt:lpwstr>0</vt:lpwstr>
  </property>
  <property fmtid="{D5CDD505-2E9C-101B-9397-08002B2CF9AE}" pid="9" name="MSIP_Label_2ad0b24d-6422-44b0-b3de-abb3a9e8c81a_Tag">
    <vt:lpwstr>10, 3, 0, 1</vt:lpwstr>
  </property>
  <property fmtid="{D5CDD505-2E9C-101B-9397-08002B2CF9AE}" pid="10" name="ContentTypeId">
    <vt:lpwstr>0x01010025FC2ACE02407340925D496535A2FDAA</vt:lpwstr>
  </property>
</Properties>
</file>